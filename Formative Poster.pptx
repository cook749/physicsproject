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02_BE4C3B3B.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03_FE37F291.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1"/>
  </p:notesMasterIdLst>
  <p:sldIdLst>
    <p:sldId id="256" r:id="rId2"/>
    <p:sldId id="257" r:id="rId3"/>
    <p:sldId id="258" r:id="rId4"/>
    <p:sldId id="260" r:id="rId5"/>
    <p:sldId id="259" r:id="rId6"/>
    <p:sldId id="261" r:id="rId7"/>
    <p:sldId id="262" r:id="rId8"/>
    <p:sldId id="263" r:id="rId9"/>
    <p:sldId id="264" r:id="rId10"/>
  </p:sldIdLst>
  <p:sldSz cx="21383625"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AC6D80-8F5D-6893-C60E-5414CF9EB4CF}" name="COOK, CHARLIE J. (Student)" initials="CC" userId="S::mngz79@durham.ac.uk::12157dca-288b-437c-8f36-eddfd9d0a75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AF9F6"/>
    <a:srgbClr val="86D6F6"/>
    <a:srgbClr val="4551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44" autoAdjust="0"/>
    <p:restoredTop sz="94660"/>
  </p:normalViewPr>
  <p:slideViewPr>
    <p:cSldViewPr snapToGrid="0">
      <p:cViewPr>
        <p:scale>
          <a:sx n="33" d="100"/>
          <a:sy n="33" d="100"/>
        </p:scale>
        <p:origin x="1458"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omments/modernComment_102_BE4C3B3B.xml><?xml version="1.0" encoding="utf-8"?>
<p188:cmLst xmlns:a="http://schemas.openxmlformats.org/drawingml/2006/main" xmlns:r="http://schemas.openxmlformats.org/officeDocument/2006/relationships" xmlns:p188="http://schemas.microsoft.com/office/powerpoint/2018/8/main">
  <p188:cm id="{DCEBA4FC-AC70-4A04-A78A-50719660721B}" authorId="{95AC6D80-8F5D-6893-C60E-5414CF9EB4CF}" created="2025-11-29T12:36:43.809">
    <ac:txMkLst xmlns:ac="http://schemas.microsoft.com/office/drawing/2013/main/command">
      <pc:docMk xmlns:pc="http://schemas.microsoft.com/office/powerpoint/2013/main/command"/>
      <pc:sldMk xmlns:pc="http://schemas.microsoft.com/office/powerpoint/2013/main/command" cId="3192666939" sldId="258"/>
      <ac:spMk id="11" creationId="{7AD2541E-DF2F-3612-E300-1362FB43EA71}"/>
      <ac:txMk cp="0" len="569">
        <ac:context len="681" hash="103952455"/>
      </ac:txMk>
    </ac:txMkLst>
    <p188:pos x="6893327" y="271157"/>
    <p188:txBody>
      <a:bodyPr/>
      <a:lstStyle/>
      <a:p>
        <a:r>
          <a:rPr lang="en-GB"/>
          <a:t>Needs re-wording, maybe also add something about ferromagnetism </a:t>
        </a:r>
      </a:p>
    </p188:txBody>
  </p188:cm>
  <p188:cm id="{635FD298-0D74-4D84-9E78-5183744D8552}" authorId="{95AC6D80-8F5D-6893-C60E-5414CF9EB4CF}" created="2025-11-30T15:28:09.650">
    <ac:deMkLst xmlns:ac="http://schemas.microsoft.com/office/drawing/2013/main/command">
      <pc:docMk xmlns:pc="http://schemas.microsoft.com/office/powerpoint/2013/main/command"/>
      <pc:sldMk xmlns:pc="http://schemas.microsoft.com/office/powerpoint/2013/main/command" cId="3192666939" sldId="258"/>
      <ac:picMk id="22" creationId="{B4275F30-B430-7FAB-EAC1-FCB9548AABEB}"/>
    </ac:deMkLst>
    <p188:txBody>
      <a:bodyPr/>
      <a:lstStyle/>
      <a:p>
        <a:r>
          <a:rPr lang="en-GB"/>
          <a:t>Add a line of steady state region. Explain how found steady state value. Inset of more runs</a:t>
        </a:r>
      </a:p>
    </p188:txBody>
  </p188:cm>
</p188:cmLst>
</file>

<file path=ppt/comments/modernComment_103_FE37F291.xml><?xml version="1.0" encoding="utf-8"?>
<p188:cmLst xmlns:a="http://schemas.openxmlformats.org/drawingml/2006/main" xmlns:r="http://schemas.openxmlformats.org/officeDocument/2006/relationships" xmlns:p188="http://schemas.microsoft.com/office/powerpoint/2018/8/main">
  <p188:cm id="{6C5C6414-F1FA-4EB3-AC9D-FA330DF67795}" authorId="{95AC6D80-8F5D-6893-C60E-5414CF9EB4CF}" created="2025-12-02T10:22:11.833">
    <pc:sldMkLst xmlns:pc="http://schemas.microsoft.com/office/powerpoint/2013/main/command">
      <pc:docMk/>
      <pc:sldMk cId="4265079441" sldId="259"/>
    </pc:sldMkLst>
    <p188:txBody>
      <a:bodyPr/>
      <a:lstStyle/>
      <a:p>
        <a:r>
          <a:rPr lang="en-GB"/>
          <a:t>Give chatgpt marking proforma and then be like ‘you are a harsh examiner marking this poster to this proforma. Give detailed feedback on the good and bad, and explain clearly where improvements can be made to align with this proforma, and suggests ways to do this to ensure the best possible poster.’</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C1E76C-ACD1-4C23-8CA6-AC26CC31924B}" type="datetimeFigureOut">
              <a:rPr lang="en-GB" smtClean="0"/>
              <a:t>01/12/2025</a:t>
            </a:fld>
            <a:endParaRPr lang="en-GB"/>
          </a:p>
        </p:txBody>
      </p:sp>
      <p:sp>
        <p:nvSpPr>
          <p:cNvPr id="4" name="Slide Image Placehold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4F1830-83DD-4DBA-A674-1A787AF1FB79}" type="slidenum">
              <a:rPr lang="en-GB" smtClean="0"/>
              <a:t>‹#›</a:t>
            </a:fld>
            <a:endParaRPr lang="en-GB"/>
          </a:p>
        </p:txBody>
      </p:sp>
    </p:spTree>
    <p:extLst>
      <p:ext uri="{BB962C8B-B14F-4D97-AF65-F5344CB8AC3E}">
        <p14:creationId xmlns:p14="http://schemas.microsoft.com/office/powerpoint/2010/main" val="4025880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664F1830-83DD-4DBA-A674-1A787AF1FB79}" type="slidenum">
              <a:rPr lang="en-GB" smtClean="0"/>
              <a:t>1</a:t>
            </a:fld>
            <a:endParaRPr lang="en-GB"/>
          </a:p>
        </p:txBody>
      </p:sp>
    </p:spTree>
    <p:extLst>
      <p:ext uri="{BB962C8B-B14F-4D97-AF65-F5344CB8AC3E}">
        <p14:creationId xmlns:p14="http://schemas.microsoft.com/office/powerpoint/2010/main" val="26713883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5B0B8-0A28-7E6F-21DA-6612A87C47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7F040-DB3B-D9E3-63BD-38E1ADE551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B9FD2-A712-D1A4-D53D-BF24FAE20B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6CC8360-9744-7184-2DD3-04FE4A67C6D6}"/>
              </a:ext>
            </a:extLst>
          </p:cNvPr>
          <p:cNvSpPr>
            <a:spLocks noGrp="1"/>
          </p:cNvSpPr>
          <p:nvPr>
            <p:ph type="sldNum" sz="quarter" idx="5"/>
          </p:nvPr>
        </p:nvSpPr>
        <p:spPr/>
        <p:txBody>
          <a:bodyPr/>
          <a:lstStyle/>
          <a:p>
            <a:fld id="{664F1830-83DD-4DBA-A674-1A787AF1FB79}" type="slidenum">
              <a:rPr lang="en-GB" smtClean="0"/>
              <a:t>2</a:t>
            </a:fld>
            <a:endParaRPr lang="en-GB"/>
          </a:p>
        </p:txBody>
      </p:sp>
    </p:spTree>
    <p:extLst>
      <p:ext uri="{BB962C8B-B14F-4D97-AF65-F5344CB8AC3E}">
        <p14:creationId xmlns:p14="http://schemas.microsoft.com/office/powerpoint/2010/main" val="6517008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DB0AA-FBDB-1986-1FCD-565CCBC43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10ADB3-7658-D9B4-5FB4-AA6533F20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DEE75C-1849-D8ED-228B-043AE66C94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6ECC8B0-D4B2-8BFF-1D1A-91E2FA902DCD}"/>
              </a:ext>
            </a:extLst>
          </p:cNvPr>
          <p:cNvSpPr>
            <a:spLocks noGrp="1"/>
          </p:cNvSpPr>
          <p:nvPr>
            <p:ph type="sldNum" sz="quarter" idx="5"/>
          </p:nvPr>
        </p:nvSpPr>
        <p:spPr/>
        <p:txBody>
          <a:bodyPr/>
          <a:lstStyle/>
          <a:p>
            <a:fld id="{664F1830-83DD-4DBA-A674-1A787AF1FB79}" type="slidenum">
              <a:rPr lang="en-GB" smtClean="0"/>
              <a:t>3</a:t>
            </a:fld>
            <a:endParaRPr lang="en-GB"/>
          </a:p>
        </p:txBody>
      </p:sp>
    </p:spTree>
    <p:extLst>
      <p:ext uri="{BB962C8B-B14F-4D97-AF65-F5344CB8AC3E}">
        <p14:creationId xmlns:p14="http://schemas.microsoft.com/office/powerpoint/2010/main" val="3047358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7BC65-C472-65B8-481E-CB8BA729C8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3198AF-5F23-15EC-B3AE-4ACED88586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54B760-504D-2145-9867-72DBA973CC4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143B0BA-9B92-78DC-F199-CA1065BFDAF6}"/>
              </a:ext>
            </a:extLst>
          </p:cNvPr>
          <p:cNvSpPr>
            <a:spLocks noGrp="1"/>
          </p:cNvSpPr>
          <p:nvPr>
            <p:ph type="sldNum" sz="quarter" idx="5"/>
          </p:nvPr>
        </p:nvSpPr>
        <p:spPr/>
        <p:txBody>
          <a:bodyPr/>
          <a:lstStyle/>
          <a:p>
            <a:fld id="{664F1830-83DD-4DBA-A674-1A787AF1FB79}" type="slidenum">
              <a:rPr lang="en-GB" smtClean="0"/>
              <a:t>4</a:t>
            </a:fld>
            <a:endParaRPr lang="en-GB"/>
          </a:p>
        </p:txBody>
      </p:sp>
    </p:spTree>
    <p:extLst>
      <p:ext uri="{BB962C8B-B14F-4D97-AF65-F5344CB8AC3E}">
        <p14:creationId xmlns:p14="http://schemas.microsoft.com/office/powerpoint/2010/main" val="1747131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89CA6-9934-23EB-B5CD-C1BE35E262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479D8E-AC67-7E83-DCAC-CA84AC6F15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8B4D11-ED4F-C80A-9C40-7D19965EF8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B4AC283-9CAC-0865-3FE3-8DE486D9BE02}"/>
              </a:ext>
            </a:extLst>
          </p:cNvPr>
          <p:cNvSpPr>
            <a:spLocks noGrp="1"/>
          </p:cNvSpPr>
          <p:nvPr>
            <p:ph type="sldNum" sz="quarter" idx="5"/>
          </p:nvPr>
        </p:nvSpPr>
        <p:spPr/>
        <p:txBody>
          <a:bodyPr/>
          <a:lstStyle/>
          <a:p>
            <a:fld id="{664F1830-83DD-4DBA-A674-1A787AF1FB79}" type="slidenum">
              <a:rPr lang="en-GB" smtClean="0"/>
              <a:t>5</a:t>
            </a:fld>
            <a:endParaRPr lang="en-GB"/>
          </a:p>
        </p:txBody>
      </p:sp>
    </p:spTree>
    <p:extLst>
      <p:ext uri="{BB962C8B-B14F-4D97-AF65-F5344CB8AC3E}">
        <p14:creationId xmlns:p14="http://schemas.microsoft.com/office/powerpoint/2010/main" val="31782273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0FF46-73DB-67E9-4E0A-E2D76293E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54278C-6748-E73E-4201-3BD6E0F60E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295516-FC37-9090-9D6D-A560D60328D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96625C8-7F77-1677-7D40-7E5E654A6485}"/>
              </a:ext>
            </a:extLst>
          </p:cNvPr>
          <p:cNvSpPr>
            <a:spLocks noGrp="1"/>
          </p:cNvSpPr>
          <p:nvPr>
            <p:ph type="sldNum" sz="quarter" idx="5"/>
          </p:nvPr>
        </p:nvSpPr>
        <p:spPr/>
        <p:txBody>
          <a:bodyPr/>
          <a:lstStyle/>
          <a:p>
            <a:fld id="{664F1830-83DD-4DBA-A674-1A787AF1FB79}" type="slidenum">
              <a:rPr lang="en-GB" smtClean="0"/>
              <a:t>6</a:t>
            </a:fld>
            <a:endParaRPr lang="en-GB"/>
          </a:p>
        </p:txBody>
      </p:sp>
    </p:spTree>
    <p:extLst>
      <p:ext uri="{BB962C8B-B14F-4D97-AF65-F5344CB8AC3E}">
        <p14:creationId xmlns:p14="http://schemas.microsoft.com/office/powerpoint/2010/main" val="1892397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2D97-5A14-A86D-52D2-6DE7AF61A5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E91601-2365-0FB4-787E-4D32BFE3EB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B546F8-8396-03D8-5795-52378D0C131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E9F277-5896-DC70-3563-19C38F75BE23}"/>
              </a:ext>
            </a:extLst>
          </p:cNvPr>
          <p:cNvSpPr>
            <a:spLocks noGrp="1"/>
          </p:cNvSpPr>
          <p:nvPr>
            <p:ph type="sldNum" sz="quarter" idx="5"/>
          </p:nvPr>
        </p:nvSpPr>
        <p:spPr/>
        <p:txBody>
          <a:bodyPr/>
          <a:lstStyle/>
          <a:p>
            <a:fld id="{664F1830-83DD-4DBA-A674-1A787AF1FB79}" type="slidenum">
              <a:rPr lang="en-GB" smtClean="0"/>
              <a:t>7</a:t>
            </a:fld>
            <a:endParaRPr lang="en-GB"/>
          </a:p>
        </p:txBody>
      </p:sp>
    </p:spTree>
    <p:extLst>
      <p:ext uri="{BB962C8B-B14F-4D97-AF65-F5344CB8AC3E}">
        <p14:creationId xmlns:p14="http://schemas.microsoft.com/office/powerpoint/2010/main" val="3153630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18F05-A18C-DE60-1416-0918B47A14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13804-23EC-B099-28DF-041CE2AFB4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FC045F-4AF8-CC41-18D0-586B5236A4A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0E684A9-F9B1-71EE-4C72-3B37CD88885B}"/>
              </a:ext>
            </a:extLst>
          </p:cNvPr>
          <p:cNvSpPr>
            <a:spLocks noGrp="1"/>
          </p:cNvSpPr>
          <p:nvPr>
            <p:ph type="sldNum" sz="quarter" idx="5"/>
          </p:nvPr>
        </p:nvSpPr>
        <p:spPr/>
        <p:txBody>
          <a:bodyPr/>
          <a:lstStyle/>
          <a:p>
            <a:fld id="{664F1830-83DD-4DBA-A674-1A787AF1FB79}" type="slidenum">
              <a:rPr lang="en-GB" smtClean="0"/>
              <a:t>8</a:t>
            </a:fld>
            <a:endParaRPr lang="en-GB"/>
          </a:p>
        </p:txBody>
      </p:sp>
    </p:spTree>
    <p:extLst>
      <p:ext uri="{BB962C8B-B14F-4D97-AF65-F5344CB8AC3E}">
        <p14:creationId xmlns:p14="http://schemas.microsoft.com/office/powerpoint/2010/main" val="36750928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0134F-0703-54C9-ADB2-21729108A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268D2-7A34-04E2-5908-B8CC1F7BAB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5E6FE-6FA4-A0D2-F7A5-E1EA208BB00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FC479DA-E255-B512-1BC4-B41327DAFE1F}"/>
              </a:ext>
            </a:extLst>
          </p:cNvPr>
          <p:cNvSpPr>
            <a:spLocks noGrp="1"/>
          </p:cNvSpPr>
          <p:nvPr>
            <p:ph type="sldNum" sz="quarter" idx="5"/>
          </p:nvPr>
        </p:nvSpPr>
        <p:spPr/>
        <p:txBody>
          <a:bodyPr/>
          <a:lstStyle/>
          <a:p>
            <a:fld id="{664F1830-83DD-4DBA-A674-1A787AF1FB79}" type="slidenum">
              <a:rPr lang="en-GB" smtClean="0"/>
              <a:t>9</a:t>
            </a:fld>
            <a:endParaRPr lang="en-GB"/>
          </a:p>
        </p:txBody>
      </p:sp>
    </p:spTree>
    <p:extLst>
      <p:ext uri="{BB962C8B-B14F-4D97-AF65-F5344CB8AC3E}">
        <p14:creationId xmlns:p14="http://schemas.microsoft.com/office/powerpoint/2010/main" val="38150234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2474395"/>
            <a:ext cx="18176081" cy="5263774"/>
          </a:xfrm>
        </p:spPr>
        <p:txBody>
          <a:bodyPr anchor="b"/>
          <a:lstStyle>
            <a:lvl1pPr algn="ctr">
              <a:defRPr sz="13228"/>
            </a:lvl1pPr>
          </a:lstStyle>
          <a:p>
            <a:r>
              <a:rPr lang="en-GB"/>
              <a:t>Click to edit Master title style</a:t>
            </a:r>
            <a:endParaRPr lang="en-US" dirty="0"/>
          </a:p>
        </p:txBody>
      </p:sp>
      <p:sp>
        <p:nvSpPr>
          <p:cNvPr id="3" name="Subtitle 2"/>
          <p:cNvSpPr>
            <a:spLocks noGrp="1"/>
          </p:cNvSpPr>
          <p:nvPr>
            <p:ph type="subTitle" idx="1"/>
          </p:nvPr>
        </p:nvSpPr>
        <p:spPr>
          <a:xfrm>
            <a:off x="2672953" y="7941160"/>
            <a:ext cx="16037719" cy="3650342"/>
          </a:xfrm>
        </p:spPr>
        <p:txBody>
          <a:bodyPr/>
          <a:lstStyle>
            <a:lvl1pPr marL="0" indent="0" algn="ctr">
              <a:buNone/>
              <a:defRPr sz="5291"/>
            </a:lvl1pPr>
            <a:lvl2pPr marL="1007943" indent="0" algn="ctr">
              <a:buNone/>
              <a:defRPr sz="4409"/>
            </a:lvl2pPr>
            <a:lvl3pPr marL="2015886" indent="0" algn="ctr">
              <a:buNone/>
              <a:defRPr sz="3968"/>
            </a:lvl3pPr>
            <a:lvl4pPr marL="3023829" indent="0" algn="ctr">
              <a:buNone/>
              <a:defRPr sz="3527"/>
            </a:lvl4pPr>
            <a:lvl5pPr marL="4031772" indent="0" algn="ctr">
              <a:buNone/>
              <a:defRPr sz="3527"/>
            </a:lvl5pPr>
            <a:lvl6pPr marL="5039716" indent="0" algn="ctr">
              <a:buNone/>
              <a:defRPr sz="3527"/>
            </a:lvl6pPr>
            <a:lvl7pPr marL="6047659" indent="0" algn="ctr">
              <a:buNone/>
              <a:defRPr sz="3527"/>
            </a:lvl7pPr>
            <a:lvl8pPr marL="7055602" indent="0" algn="ctr">
              <a:buNone/>
              <a:defRPr sz="3527"/>
            </a:lvl8pPr>
            <a:lvl9pPr marL="8063545" indent="0" algn="ctr">
              <a:buNone/>
              <a:defRPr sz="3527"/>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DF2B3A9-50D6-43D2-8A0E-A3084911157F}" type="datetimeFigureOut">
              <a:rPr lang="en-GB" smtClean="0"/>
              <a:t>01/12/2025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1339401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DF2B3A9-50D6-43D2-8A0E-A3084911157F}" type="datetimeFigureOut">
              <a:rPr lang="en-GB" smtClean="0"/>
              <a:t>01/12/2025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3365814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8988" y="3769342"/>
            <a:ext cx="18443377" cy="6289229"/>
          </a:xfrm>
        </p:spPr>
        <p:txBody>
          <a:bodyPr anchor="b"/>
          <a:lstStyle>
            <a:lvl1pPr>
              <a:defRPr sz="13228"/>
            </a:lvl1pPr>
          </a:lstStyle>
          <a:p>
            <a:r>
              <a:rPr lang="en-GB"/>
              <a:t>Click to edit Master title style</a:t>
            </a:r>
            <a:endParaRPr lang="en-US" dirty="0"/>
          </a:p>
        </p:txBody>
      </p:sp>
      <p:sp>
        <p:nvSpPr>
          <p:cNvPr id="3" name="Text Placeholder 2"/>
          <p:cNvSpPr>
            <a:spLocks noGrp="1"/>
          </p:cNvSpPr>
          <p:nvPr>
            <p:ph type="body" idx="1"/>
          </p:nvPr>
        </p:nvSpPr>
        <p:spPr>
          <a:xfrm>
            <a:off x="1458988" y="10118069"/>
            <a:ext cx="18443377" cy="3307357"/>
          </a:xfrm>
        </p:spPr>
        <p:txBody>
          <a:bodyPr/>
          <a:lstStyle>
            <a:lvl1pPr marL="0" indent="0">
              <a:buNone/>
              <a:defRPr sz="5291">
                <a:solidFill>
                  <a:schemeClr val="tx1">
                    <a:tint val="82000"/>
                  </a:schemeClr>
                </a:solidFill>
              </a:defRPr>
            </a:lvl1pPr>
            <a:lvl2pPr marL="1007943" indent="0">
              <a:buNone/>
              <a:defRPr sz="4409">
                <a:solidFill>
                  <a:schemeClr val="tx1">
                    <a:tint val="82000"/>
                  </a:schemeClr>
                </a:solidFill>
              </a:defRPr>
            </a:lvl2pPr>
            <a:lvl3pPr marL="2015886" indent="0">
              <a:buNone/>
              <a:defRPr sz="3968">
                <a:solidFill>
                  <a:schemeClr val="tx1">
                    <a:tint val="82000"/>
                  </a:schemeClr>
                </a:solidFill>
              </a:defRPr>
            </a:lvl3pPr>
            <a:lvl4pPr marL="3023829" indent="0">
              <a:buNone/>
              <a:defRPr sz="3527">
                <a:solidFill>
                  <a:schemeClr val="tx1">
                    <a:tint val="82000"/>
                  </a:schemeClr>
                </a:solidFill>
              </a:defRPr>
            </a:lvl4pPr>
            <a:lvl5pPr marL="4031772" indent="0">
              <a:buNone/>
              <a:defRPr sz="3527">
                <a:solidFill>
                  <a:schemeClr val="tx1">
                    <a:tint val="82000"/>
                  </a:schemeClr>
                </a:solidFill>
              </a:defRPr>
            </a:lvl5pPr>
            <a:lvl6pPr marL="5039716" indent="0">
              <a:buNone/>
              <a:defRPr sz="3527">
                <a:solidFill>
                  <a:schemeClr val="tx1">
                    <a:tint val="82000"/>
                  </a:schemeClr>
                </a:solidFill>
              </a:defRPr>
            </a:lvl6pPr>
            <a:lvl7pPr marL="6047659" indent="0">
              <a:buNone/>
              <a:defRPr sz="3527">
                <a:solidFill>
                  <a:schemeClr val="tx1">
                    <a:tint val="82000"/>
                  </a:schemeClr>
                </a:solidFill>
              </a:defRPr>
            </a:lvl7pPr>
            <a:lvl8pPr marL="7055602" indent="0">
              <a:buNone/>
              <a:defRPr sz="3527">
                <a:solidFill>
                  <a:schemeClr val="tx1">
                    <a:tint val="82000"/>
                  </a:schemeClr>
                </a:solidFill>
              </a:defRPr>
            </a:lvl8pPr>
            <a:lvl9pPr marL="8063545" indent="0">
              <a:buNone/>
              <a:defRPr sz="3527">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DF2B3A9-50D6-43D2-8A0E-A3084911157F}" type="datetimeFigureOut">
              <a:rPr lang="en-GB" smtClean="0"/>
              <a:t>01/12/2025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2719654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470124" y="4024827"/>
            <a:ext cx="9088041" cy="959308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0825460" y="4024827"/>
            <a:ext cx="9088041" cy="959308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DF2B3A9-50D6-43D2-8A0E-A3084911157F}" type="datetimeFigureOut">
              <a:rPr lang="en-GB" smtClean="0"/>
              <a:t>01/12/2025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591581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2909" y="804969"/>
            <a:ext cx="18443377" cy="2922375"/>
          </a:xfrm>
        </p:spPr>
        <p:txBody>
          <a:bodyPr/>
          <a:lstStyle/>
          <a:p>
            <a:r>
              <a:rPr lang="en-GB"/>
              <a:t>Click to edit Master title style</a:t>
            </a:r>
            <a:endParaRPr lang="en-US" dirty="0"/>
          </a:p>
        </p:txBody>
      </p:sp>
      <p:sp>
        <p:nvSpPr>
          <p:cNvPr id="3" name="Text Placeholder 2"/>
          <p:cNvSpPr>
            <a:spLocks noGrp="1"/>
          </p:cNvSpPr>
          <p:nvPr>
            <p:ph type="body" idx="1"/>
          </p:nvPr>
        </p:nvSpPr>
        <p:spPr>
          <a:xfrm>
            <a:off x="1472912" y="3706342"/>
            <a:ext cx="9046274" cy="1816421"/>
          </a:xfrm>
        </p:spPr>
        <p:txBody>
          <a:bodyPr anchor="b"/>
          <a:lstStyle>
            <a:lvl1pPr marL="0" indent="0">
              <a:buNone/>
              <a:defRPr sz="5291" b="1"/>
            </a:lvl1pPr>
            <a:lvl2pPr marL="1007943" indent="0">
              <a:buNone/>
              <a:defRPr sz="4409" b="1"/>
            </a:lvl2pPr>
            <a:lvl3pPr marL="2015886" indent="0">
              <a:buNone/>
              <a:defRPr sz="3968" b="1"/>
            </a:lvl3pPr>
            <a:lvl4pPr marL="3023829" indent="0">
              <a:buNone/>
              <a:defRPr sz="3527" b="1"/>
            </a:lvl4pPr>
            <a:lvl5pPr marL="4031772" indent="0">
              <a:buNone/>
              <a:defRPr sz="3527" b="1"/>
            </a:lvl5pPr>
            <a:lvl6pPr marL="5039716" indent="0">
              <a:buNone/>
              <a:defRPr sz="3527" b="1"/>
            </a:lvl6pPr>
            <a:lvl7pPr marL="6047659" indent="0">
              <a:buNone/>
              <a:defRPr sz="3527" b="1"/>
            </a:lvl7pPr>
            <a:lvl8pPr marL="7055602" indent="0">
              <a:buNone/>
              <a:defRPr sz="3527" b="1"/>
            </a:lvl8pPr>
            <a:lvl9pPr marL="8063545" indent="0">
              <a:buNone/>
              <a:defRPr sz="3527" b="1"/>
            </a:lvl9pPr>
          </a:lstStyle>
          <a:p>
            <a:pPr lvl="0"/>
            <a:r>
              <a:rPr lang="en-GB"/>
              <a:t>Click to edit Master text styles</a:t>
            </a:r>
          </a:p>
        </p:txBody>
      </p:sp>
      <p:sp>
        <p:nvSpPr>
          <p:cNvPr id="4" name="Content Placeholder 3"/>
          <p:cNvSpPr>
            <a:spLocks noGrp="1"/>
          </p:cNvSpPr>
          <p:nvPr>
            <p:ph sz="half" idx="2"/>
          </p:nvPr>
        </p:nvSpPr>
        <p:spPr>
          <a:xfrm>
            <a:off x="1472912" y="5522763"/>
            <a:ext cx="9046274" cy="8123152"/>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0825461" y="3706342"/>
            <a:ext cx="9090826" cy="1816421"/>
          </a:xfrm>
        </p:spPr>
        <p:txBody>
          <a:bodyPr anchor="b"/>
          <a:lstStyle>
            <a:lvl1pPr marL="0" indent="0">
              <a:buNone/>
              <a:defRPr sz="5291" b="1"/>
            </a:lvl1pPr>
            <a:lvl2pPr marL="1007943" indent="0">
              <a:buNone/>
              <a:defRPr sz="4409" b="1"/>
            </a:lvl2pPr>
            <a:lvl3pPr marL="2015886" indent="0">
              <a:buNone/>
              <a:defRPr sz="3968" b="1"/>
            </a:lvl3pPr>
            <a:lvl4pPr marL="3023829" indent="0">
              <a:buNone/>
              <a:defRPr sz="3527" b="1"/>
            </a:lvl4pPr>
            <a:lvl5pPr marL="4031772" indent="0">
              <a:buNone/>
              <a:defRPr sz="3527" b="1"/>
            </a:lvl5pPr>
            <a:lvl6pPr marL="5039716" indent="0">
              <a:buNone/>
              <a:defRPr sz="3527" b="1"/>
            </a:lvl6pPr>
            <a:lvl7pPr marL="6047659" indent="0">
              <a:buNone/>
              <a:defRPr sz="3527" b="1"/>
            </a:lvl7pPr>
            <a:lvl8pPr marL="7055602" indent="0">
              <a:buNone/>
              <a:defRPr sz="3527" b="1"/>
            </a:lvl8pPr>
            <a:lvl9pPr marL="8063545" indent="0">
              <a:buNone/>
              <a:defRPr sz="3527" b="1"/>
            </a:lvl9pPr>
          </a:lstStyle>
          <a:p>
            <a:pPr lvl="0"/>
            <a:r>
              <a:rPr lang="en-GB"/>
              <a:t>Click to edit Master text styles</a:t>
            </a:r>
          </a:p>
        </p:txBody>
      </p:sp>
      <p:sp>
        <p:nvSpPr>
          <p:cNvPr id="6" name="Content Placeholder 5"/>
          <p:cNvSpPr>
            <a:spLocks noGrp="1"/>
          </p:cNvSpPr>
          <p:nvPr>
            <p:ph sz="quarter" idx="4"/>
          </p:nvPr>
        </p:nvSpPr>
        <p:spPr>
          <a:xfrm>
            <a:off x="10825461" y="5522763"/>
            <a:ext cx="9090826" cy="8123152"/>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DF2B3A9-50D6-43D2-8A0E-A3084911157F}" type="datetimeFigureOut">
              <a:rPr lang="en-GB" smtClean="0"/>
              <a:t>01/12/2025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3640280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DF2B3A9-50D6-43D2-8A0E-A3084911157F}" type="datetimeFigureOut">
              <a:rPr lang="en-GB" smtClean="0"/>
              <a:t>01/12/2025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2613646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DF2B3A9-50D6-43D2-8A0E-A3084911157F}" type="datetimeFigureOut">
              <a:rPr lang="en-GB" smtClean="0"/>
              <a:t>01/12/2025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26588563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1007957"/>
            <a:ext cx="6896776" cy="3527848"/>
          </a:xfrm>
        </p:spPr>
        <p:txBody>
          <a:bodyPr anchor="b"/>
          <a:lstStyle>
            <a:lvl1pPr>
              <a:defRPr sz="7055"/>
            </a:lvl1pPr>
          </a:lstStyle>
          <a:p>
            <a:r>
              <a:rPr lang="en-GB"/>
              <a:t>Click to edit Master title style</a:t>
            </a:r>
            <a:endParaRPr lang="en-US" dirty="0"/>
          </a:p>
        </p:txBody>
      </p:sp>
      <p:sp>
        <p:nvSpPr>
          <p:cNvPr id="3" name="Content Placeholder 2"/>
          <p:cNvSpPr>
            <a:spLocks noGrp="1"/>
          </p:cNvSpPr>
          <p:nvPr>
            <p:ph idx="1"/>
          </p:nvPr>
        </p:nvSpPr>
        <p:spPr>
          <a:xfrm>
            <a:off x="9090826" y="2176910"/>
            <a:ext cx="10825460" cy="10744538"/>
          </a:xfrm>
        </p:spPr>
        <p:txBody>
          <a:bodyPr/>
          <a:lstStyle>
            <a:lvl1pPr>
              <a:defRPr sz="7055"/>
            </a:lvl1pPr>
            <a:lvl2pPr>
              <a:defRPr sz="6173"/>
            </a:lvl2pPr>
            <a:lvl3pPr>
              <a:defRPr sz="5291"/>
            </a:lvl3pPr>
            <a:lvl4pPr>
              <a:defRPr sz="4409"/>
            </a:lvl4pPr>
            <a:lvl5pPr>
              <a:defRPr sz="4409"/>
            </a:lvl5pPr>
            <a:lvl6pPr>
              <a:defRPr sz="4409"/>
            </a:lvl6pPr>
            <a:lvl7pPr>
              <a:defRPr sz="4409"/>
            </a:lvl7pPr>
            <a:lvl8pPr>
              <a:defRPr sz="4409"/>
            </a:lvl8pPr>
            <a:lvl9pPr>
              <a:defRPr sz="4409"/>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472909" y="4535805"/>
            <a:ext cx="6896776" cy="8403140"/>
          </a:xfrm>
        </p:spPr>
        <p:txBody>
          <a:bodyPr/>
          <a:lstStyle>
            <a:lvl1pPr marL="0" indent="0">
              <a:buNone/>
              <a:defRPr sz="3527"/>
            </a:lvl1pPr>
            <a:lvl2pPr marL="1007943" indent="0">
              <a:buNone/>
              <a:defRPr sz="3086"/>
            </a:lvl2pPr>
            <a:lvl3pPr marL="2015886" indent="0">
              <a:buNone/>
              <a:defRPr sz="2646"/>
            </a:lvl3pPr>
            <a:lvl4pPr marL="3023829" indent="0">
              <a:buNone/>
              <a:defRPr sz="2205"/>
            </a:lvl4pPr>
            <a:lvl5pPr marL="4031772" indent="0">
              <a:buNone/>
              <a:defRPr sz="2205"/>
            </a:lvl5pPr>
            <a:lvl6pPr marL="5039716" indent="0">
              <a:buNone/>
              <a:defRPr sz="2205"/>
            </a:lvl6pPr>
            <a:lvl7pPr marL="6047659" indent="0">
              <a:buNone/>
              <a:defRPr sz="2205"/>
            </a:lvl7pPr>
            <a:lvl8pPr marL="7055602" indent="0">
              <a:buNone/>
              <a:defRPr sz="2205"/>
            </a:lvl8pPr>
            <a:lvl9pPr marL="8063545" indent="0">
              <a:buNone/>
              <a:defRPr sz="2205"/>
            </a:lvl9pPr>
          </a:lstStyle>
          <a:p>
            <a:pPr lvl="0"/>
            <a:r>
              <a:rPr lang="en-GB"/>
              <a:t>Click to edit Master text styles</a:t>
            </a:r>
          </a:p>
        </p:txBody>
      </p:sp>
      <p:sp>
        <p:nvSpPr>
          <p:cNvPr id="5" name="Date Placeholder 4"/>
          <p:cNvSpPr>
            <a:spLocks noGrp="1"/>
          </p:cNvSpPr>
          <p:nvPr>
            <p:ph type="dt" sz="half" idx="10"/>
          </p:nvPr>
        </p:nvSpPr>
        <p:spPr/>
        <p:txBody>
          <a:bodyPr/>
          <a:lstStyle/>
          <a:p>
            <a:fld id="{4DF2B3A9-50D6-43D2-8A0E-A3084911157F}" type="datetimeFigureOut">
              <a:rPr lang="en-GB" smtClean="0"/>
              <a:t>01/12/2025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38113272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1007957"/>
            <a:ext cx="6896776" cy="3527848"/>
          </a:xfrm>
        </p:spPr>
        <p:txBody>
          <a:bodyPr anchor="b"/>
          <a:lstStyle>
            <a:lvl1pPr>
              <a:defRPr sz="7055"/>
            </a:lvl1pPr>
          </a:lstStyle>
          <a:p>
            <a:r>
              <a:rPr lang="en-GB"/>
              <a:t>Click to edit Master title style</a:t>
            </a:r>
            <a:endParaRPr lang="en-US" dirty="0"/>
          </a:p>
        </p:txBody>
      </p:sp>
      <p:sp>
        <p:nvSpPr>
          <p:cNvPr id="3" name="Picture Placeholder 2"/>
          <p:cNvSpPr>
            <a:spLocks noGrp="1" noChangeAspect="1"/>
          </p:cNvSpPr>
          <p:nvPr>
            <p:ph type="pic" idx="1"/>
          </p:nvPr>
        </p:nvSpPr>
        <p:spPr>
          <a:xfrm>
            <a:off x="9090826" y="2176910"/>
            <a:ext cx="10825460" cy="10744538"/>
          </a:xfrm>
        </p:spPr>
        <p:txBody>
          <a:bodyPr anchor="t"/>
          <a:lstStyle>
            <a:lvl1pPr marL="0" indent="0">
              <a:buNone/>
              <a:defRPr sz="7055"/>
            </a:lvl1pPr>
            <a:lvl2pPr marL="1007943" indent="0">
              <a:buNone/>
              <a:defRPr sz="6173"/>
            </a:lvl2pPr>
            <a:lvl3pPr marL="2015886" indent="0">
              <a:buNone/>
              <a:defRPr sz="5291"/>
            </a:lvl3pPr>
            <a:lvl4pPr marL="3023829" indent="0">
              <a:buNone/>
              <a:defRPr sz="4409"/>
            </a:lvl4pPr>
            <a:lvl5pPr marL="4031772" indent="0">
              <a:buNone/>
              <a:defRPr sz="4409"/>
            </a:lvl5pPr>
            <a:lvl6pPr marL="5039716" indent="0">
              <a:buNone/>
              <a:defRPr sz="4409"/>
            </a:lvl6pPr>
            <a:lvl7pPr marL="6047659" indent="0">
              <a:buNone/>
              <a:defRPr sz="4409"/>
            </a:lvl7pPr>
            <a:lvl8pPr marL="7055602" indent="0">
              <a:buNone/>
              <a:defRPr sz="4409"/>
            </a:lvl8pPr>
            <a:lvl9pPr marL="8063545" indent="0">
              <a:buNone/>
              <a:defRPr sz="4409"/>
            </a:lvl9pPr>
          </a:lstStyle>
          <a:p>
            <a:r>
              <a:rPr lang="en-GB"/>
              <a:t>Click icon to add picture</a:t>
            </a:r>
            <a:endParaRPr lang="en-US" dirty="0"/>
          </a:p>
        </p:txBody>
      </p:sp>
      <p:sp>
        <p:nvSpPr>
          <p:cNvPr id="4" name="Text Placeholder 3"/>
          <p:cNvSpPr>
            <a:spLocks noGrp="1"/>
          </p:cNvSpPr>
          <p:nvPr>
            <p:ph type="body" sz="half" idx="2"/>
          </p:nvPr>
        </p:nvSpPr>
        <p:spPr>
          <a:xfrm>
            <a:off x="1472909" y="4535805"/>
            <a:ext cx="6896776" cy="8403140"/>
          </a:xfrm>
        </p:spPr>
        <p:txBody>
          <a:bodyPr/>
          <a:lstStyle>
            <a:lvl1pPr marL="0" indent="0">
              <a:buNone/>
              <a:defRPr sz="3527"/>
            </a:lvl1pPr>
            <a:lvl2pPr marL="1007943" indent="0">
              <a:buNone/>
              <a:defRPr sz="3086"/>
            </a:lvl2pPr>
            <a:lvl3pPr marL="2015886" indent="0">
              <a:buNone/>
              <a:defRPr sz="2646"/>
            </a:lvl3pPr>
            <a:lvl4pPr marL="3023829" indent="0">
              <a:buNone/>
              <a:defRPr sz="2205"/>
            </a:lvl4pPr>
            <a:lvl5pPr marL="4031772" indent="0">
              <a:buNone/>
              <a:defRPr sz="2205"/>
            </a:lvl5pPr>
            <a:lvl6pPr marL="5039716" indent="0">
              <a:buNone/>
              <a:defRPr sz="2205"/>
            </a:lvl6pPr>
            <a:lvl7pPr marL="6047659" indent="0">
              <a:buNone/>
              <a:defRPr sz="2205"/>
            </a:lvl7pPr>
            <a:lvl8pPr marL="7055602" indent="0">
              <a:buNone/>
              <a:defRPr sz="2205"/>
            </a:lvl8pPr>
            <a:lvl9pPr marL="8063545" indent="0">
              <a:buNone/>
              <a:defRPr sz="2205"/>
            </a:lvl9pPr>
          </a:lstStyle>
          <a:p>
            <a:pPr lvl="0"/>
            <a:r>
              <a:rPr lang="en-GB"/>
              <a:t>Click to edit Master text styles</a:t>
            </a:r>
          </a:p>
        </p:txBody>
      </p:sp>
      <p:sp>
        <p:nvSpPr>
          <p:cNvPr id="5" name="Date Placeholder 4"/>
          <p:cNvSpPr>
            <a:spLocks noGrp="1"/>
          </p:cNvSpPr>
          <p:nvPr>
            <p:ph type="dt" sz="half" idx="10"/>
          </p:nvPr>
        </p:nvSpPr>
        <p:spPr/>
        <p:txBody>
          <a:bodyPr/>
          <a:lstStyle/>
          <a:p>
            <a:fld id="{4DF2B3A9-50D6-43D2-8A0E-A3084911157F}" type="datetimeFigureOut">
              <a:rPr lang="en-GB" smtClean="0"/>
              <a:t>01/12/2025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2930014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DF2B3A9-50D6-43D2-8A0E-A3084911157F}" type="datetimeFigureOut">
              <a:rPr lang="en-GB" smtClean="0"/>
              <a:t>01/12/2025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1722276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804966"/>
            <a:ext cx="4610844" cy="1281295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470125" y="804966"/>
            <a:ext cx="13565237" cy="12812950"/>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DF2B3A9-50D6-43D2-8A0E-A3084911157F}" type="datetimeFigureOut">
              <a:rPr lang="en-GB" smtClean="0"/>
              <a:t>01/12/2025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E49BAEB-C6A4-4FC9-84F2-CB1F451B6A93}" type="slidenum">
              <a:rPr lang="en-GB" smtClean="0"/>
              <a:t>‹#›</a:t>
            </a:fld>
            <a:endParaRPr lang="en-GB"/>
          </a:p>
        </p:txBody>
      </p:sp>
    </p:spTree>
    <p:extLst>
      <p:ext uri="{BB962C8B-B14F-4D97-AF65-F5344CB8AC3E}">
        <p14:creationId xmlns:p14="http://schemas.microsoft.com/office/powerpoint/2010/main" val="8260976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804969"/>
            <a:ext cx="18443377" cy="292237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470124" y="4024827"/>
            <a:ext cx="18443377" cy="9593089"/>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470124" y="14013401"/>
            <a:ext cx="4811316" cy="804965"/>
          </a:xfrm>
          <a:prstGeom prst="rect">
            <a:avLst/>
          </a:prstGeom>
        </p:spPr>
        <p:txBody>
          <a:bodyPr vert="horz" lIns="91440" tIns="45720" rIns="91440" bIns="45720" rtlCol="0" anchor="ctr"/>
          <a:lstStyle>
            <a:lvl1pPr algn="l">
              <a:defRPr sz="2646">
                <a:solidFill>
                  <a:schemeClr val="tx1">
                    <a:tint val="82000"/>
                  </a:schemeClr>
                </a:solidFill>
              </a:defRPr>
            </a:lvl1pPr>
          </a:lstStyle>
          <a:p>
            <a:fld id="{4DF2B3A9-50D6-43D2-8A0E-A3084911157F}" type="datetimeFigureOut">
              <a:rPr lang="en-GB" smtClean="0"/>
              <a:t>01/12/2025</a:t>
            </a:fld>
            <a:endParaRPr lang="en-GB"/>
          </a:p>
        </p:txBody>
      </p:sp>
      <p:sp>
        <p:nvSpPr>
          <p:cNvPr id="5" name="Footer Placeholder 4"/>
          <p:cNvSpPr>
            <a:spLocks noGrp="1"/>
          </p:cNvSpPr>
          <p:nvPr>
            <p:ph type="ftr" sz="quarter" idx="3"/>
          </p:nvPr>
        </p:nvSpPr>
        <p:spPr>
          <a:xfrm>
            <a:off x="7083326" y="14013401"/>
            <a:ext cx="7216973" cy="804965"/>
          </a:xfrm>
          <a:prstGeom prst="rect">
            <a:avLst/>
          </a:prstGeom>
        </p:spPr>
        <p:txBody>
          <a:bodyPr vert="horz" lIns="91440" tIns="45720" rIns="91440" bIns="45720" rtlCol="0" anchor="ctr"/>
          <a:lstStyle>
            <a:lvl1pPr algn="ctr">
              <a:defRPr sz="2646">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5102185" y="14013401"/>
            <a:ext cx="4811316" cy="804965"/>
          </a:xfrm>
          <a:prstGeom prst="rect">
            <a:avLst/>
          </a:prstGeom>
        </p:spPr>
        <p:txBody>
          <a:bodyPr vert="horz" lIns="91440" tIns="45720" rIns="91440" bIns="45720" rtlCol="0" anchor="ctr"/>
          <a:lstStyle>
            <a:lvl1pPr algn="r">
              <a:defRPr sz="2646">
                <a:solidFill>
                  <a:schemeClr val="tx1">
                    <a:tint val="82000"/>
                  </a:schemeClr>
                </a:solidFill>
              </a:defRPr>
            </a:lvl1pPr>
          </a:lstStyle>
          <a:p>
            <a:fld id="{2E49BAEB-C6A4-4FC9-84F2-CB1F451B6A93}" type="slidenum">
              <a:rPr lang="en-GB" smtClean="0"/>
              <a:t>‹#›</a:t>
            </a:fld>
            <a:endParaRPr lang="en-GB"/>
          </a:p>
        </p:txBody>
      </p:sp>
    </p:spTree>
    <p:extLst>
      <p:ext uri="{BB962C8B-B14F-4D97-AF65-F5344CB8AC3E}">
        <p14:creationId xmlns:p14="http://schemas.microsoft.com/office/powerpoint/2010/main" val="327743129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015886" rtl="0" eaLnBrk="1" latinLnBrk="0" hangingPunct="1">
        <a:lnSpc>
          <a:spcPct val="90000"/>
        </a:lnSpc>
        <a:spcBef>
          <a:spcPct val="0"/>
        </a:spcBef>
        <a:buNone/>
        <a:defRPr sz="9700" kern="1200">
          <a:solidFill>
            <a:schemeClr val="tx1"/>
          </a:solidFill>
          <a:latin typeface="+mj-lt"/>
          <a:ea typeface="+mj-ea"/>
          <a:cs typeface="+mj-cs"/>
        </a:defRPr>
      </a:lvl1pPr>
    </p:titleStyle>
    <p:bodyStyle>
      <a:lvl1pPr marL="503972" indent="-503972" algn="l" defTabSz="2015886" rtl="0" eaLnBrk="1" latinLnBrk="0" hangingPunct="1">
        <a:lnSpc>
          <a:spcPct val="90000"/>
        </a:lnSpc>
        <a:spcBef>
          <a:spcPts val="2205"/>
        </a:spcBef>
        <a:buFont typeface="Arial" panose="020B0604020202020204" pitchFamily="34" charset="0"/>
        <a:buChar char="•"/>
        <a:defRPr sz="6173" kern="1200">
          <a:solidFill>
            <a:schemeClr val="tx1"/>
          </a:solidFill>
          <a:latin typeface="+mn-lt"/>
          <a:ea typeface="+mn-ea"/>
          <a:cs typeface="+mn-cs"/>
        </a:defRPr>
      </a:lvl1pPr>
      <a:lvl2pPr marL="1511915" indent="-503972" algn="l" defTabSz="2015886" rtl="0" eaLnBrk="1" latinLnBrk="0" hangingPunct="1">
        <a:lnSpc>
          <a:spcPct val="90000"/>
        </a:lnSpc>
        <a:spcBef>
          <a:spcPts val="1102"/>
        </a:spcBef>
        <a:buFont typeface="Arial" panose="020B0604020202020204" pitchFamily="34" charset="0"/>
        <a:buChar char="•"/>
        <a:defRPr sz="5291" kern="1200">
          <a:solidFill>
            <a:schemeClr val="tx1"/>
          </a:solidFill>
          <a:latin typeface="+mn-lt"/>
          <a:ea typeface="+mn-ea"/>
          <a:cs typeface="+mn-cs"/>
        </a:defRPr>
      </a:lvl2pPr>
      <a:lvl3pPr marL="2519858" indent="-503972" algn="l" defTabSz="2015886" rtl="0" eaLnBrk="1" latinLnBrk="0" hangingPunct="1">
        <a:lnSpc>
          <a:spcPct val="90000"/>
        </a:lnSpc>
        <a:spcBef>
          <a:spcPts val="1102"/>
        </a:spcBef>
        <a:buFont typeface="Arial" panose="020B0604020202020204" pitchFamily="34" charset="0"/>
        <a:buChar char="•"/>
        <a:defRPr sz="4409" kern="1200">
          <a:solidFill>
            <a:schemeClr val="tx1"/>
          </a:solidFill>
          <a:latin typeface="+mn-lt"/>
          <a:ea typeface="+mn-ea"/>
          <a:cs typeface="+mn-cs"/>
        </a:defRPr>
      </a:lvl3pPr>
      <a:lvl4pPr marL="3527801" indent="-503972" algn="l" defTabSz="2015886" rtl="0" eaLnBrk="1" latinLnBrk="0" hangingPunct="1">
        <a:lnSpc>
          <a:spcPct val="90000"/>
        </a:lnSpc>
        <a:spcBef>
          <a:spcPts val="1102"/>
        </a:spcBef>
        <a:buFont typeface="Arial" panose="020B0604020202020204" pitchFamily="34" charset="0"/>
        <a:buChar char="•"/>
        <a:defRPr sz="3968" kern="1200">
          <a:solidFill>
            <a:schemeClr val="tx1"/>
          </a:solidFill>
          <a:latin typeface="+mn-lt"/>
          <a:ea typeface="+mn-ea"/>
          <a:cs typeface="+mn-cs"/>
        </a:defRPr>
      </a:lvl4pPr>
      <a:lvl5pPr marL="4535744" indent="-503972" algn="l" defTabSz="2015886" rtl="0" eaLnBrk="1" latinLnBrk="0" hangingPunct="1">
        <a:lnSpc>
          <a:spcPct val="90000"/>
        </a:lnSpc>
        <a:spcBef>
          <a:spcPts val="1102"/>
        </a:spcBef>
        <a:buFont typeface="Arial" panose="020B0604020202020204" pitchFamily="34" charset="0"/>
        <a:buChar char="•"/>
        <a:defRPr sz="3968" kern="1200">
          <a:solidFill>
            <a:schemeClr val="tx1"/>
          </a:solidFill>
          <a:latin typeface="+mn-lt"/>
          <a:ea typeface="+mn-ea"/>
          <a:cs typeface="+mn-cs"/>
        </a:defRPr>
      </a:lvl5pPr>
      <a:lvl6pPr marL="5543687" indent="-503972" algn="l" defTabSz="2015886" rtl="0" eaLnBrk="1" latinLnBrk="0" hangingPunct="1">
        <a:lnSpc>
          <a:spcPct val="90000"/>
        </a:lnSpc>
        <a:spcBef>
          <a:spcPts val="1102"/>
        </a:spcBef>
        <a:buFont typeface="Arial" panose="020B0604020202020204" pitchFamily="34" charset="0"/>
        <a:buChar char="•"/>
        <a:defRPr sz="3968" kern="1200">
          <a:solidFill>
            <a:schemeClr val="tx1"/>
          </a:solidFill>
          <a:latin typeface="+mn-lt"/>
          <a:ea typeface="+mn-ea"/>
          <a:cs typeface="+mn-cs"/>
        </a:defRPr>
      </a:lvl6pPr>
      <a:lvl7pPr marL="6551630" indent="-503972" algn="l" defTabSz="2015886" rtl="0" eaLnBrk="1" latinLnBrk="0" hangingPunct="1">
        <a:lnSpc>
          <a:spcPct val="90000"/>
        </a:lnSpc>
        <a:spcBef>
          <a:spcPts val="1102"/>
        </a:spcBef>
        <a:buFont typeface="Arial" panose="020B0604020202020204" pitchFamily="34" charset="0"/>
        <a:buChar char="•"/>
        <a:defRPr sz="3968" kern="1200">
          <a:solidFill>
            <a:schemeClr val="tx1"/>
          </a:solidFill>
          <a:latin typeface="+mn-lt"/>
          <a:ea typeface="+mn-ea"/>
          <a:cs typeface="+mn-cs"/>
        </a:defRPr>
      </a:lvl7pPr>
      <a:lvl8pPr marL="7559573" indent="-503972" algn="l" defTabSz="2015886" rtl="0" eaLnBrk="1" latinLnBrk="0" hangingPunct="1">
        <a:lnSpc>
          <a:spcPct val="90000"/>
        </a:lnSpc>
        <a:spcBef>
          <a:spcPts val="1102"/>
        </a:spcBef>
        <a:buFont typeface="Arial" panose="020B0604020202020204" pitchFamily="34" charset="0"/>
        <a:buChar char="•"/>
        <a:defRPr sz="3968" kern="1200">
          <a:solidFill>
            <a:schemeClr val="tx1"/>
          </a:solidFill>
          <a:latin typeface="+mn-lt"/>
          <a:ea typeface="+mn-ea"/>
          <a:cs typeface="+mn-cs"/>
        </a:defRPr>
      </a:lvl8pPr>
      <a:lvl9pPr marL="8567517" indent="-503972" algn="l" defTabSz="2015886" rtl="0" eaLnBrk="1" latinLnBrk="0" hangingPunct="1">
        <a:lnSpc>
          <a:spcPct val="90000"/>
        </a:lnSpc>
        <a:spcBef>
          <a:spcPts val="1102"/>
        </a:spcBef>
        <a:buFont typeface="Arial" panose="020B0604020202020204" pitchFamily="34" charset="0"/>
        <a:buChar char="•"/>
        <a:defRPr sz="3968" kern="1200">
          <a:solidFill>
            <a:schemeClr val="tx1"/>
          </a:solidFill>
          <a:latin typeface="+mn-lt"/>
          <a:ea typeface="+mn-ea"/>
          <a:cs typeface="+mn-cs"/>
        </a:defRPr>
      </a:lvl9pPr>
    </p:bodyStyle>
    <p:otherStyle>
      <a:defPPr>
        <a:defRPr lang="en-US"/>
      </a:defPPr>
      <a:lvl1pPr marL="0" algn="l" defTabSz="2015886" rtl="0" eaLnBrk="1" latinLnBrk="0" hangingPunct="1">
        <a:defRPr sz="3968" kern="1200">
          <a:solidFill>
            <a:schemeClr val="tx1"/>
          </a:solidFill>
          <a:latin typeface="+mn-lt"/>
          <a:ea typeface="+mn-ea"/>
          <a:cs typeface="+mn-cs"/>
        </a:defRPr>
      </a:lvl1pPr>
      <a:lvl2pPr marL="1007943" algn="l" defTabSz="2015886" rtl="0" eaLnBrk="1" latinLnBrk="0" hangingPunct="1">
        <a:defRPr sz="3968" kern="1200">
          <a:solidFill>
            <a:schemeClr val="tx1"/>
          </a:solidFill>
          <a:latin typeface="+mn-lt"/>
          <a:ea typeface="+mn-ea"/>
          <a:cs typeface="+mn-cs"/>
        </a:defRPr>
      </a:lvl2pPr>
      <a:lvl3pPr marL="2015886" algn="l" defTabSz="2015886" rtl="0" eaLnBrk="1" latinLnBrk="0" hangingPunct="1">
        <a:defRPr sz="3968" kern="1200">
          <a:solidFill>
            <a:schemeClr val="tx1"/>
          </a:solidFill>
          <a:latin typeface="+mn-lt"/>
          <a:ea typeface="+mn-ea"/>
          <a:cs typeface="+mn-cs"/>
        </a:defRPr>
      </a:lvl3pPr>
      <a:lvl4pPr marL="3023829" algn="l" defTabSz="2015886" rtl="0" eaLnBrk="1" latinLnBrk="0" hangingPunct="1">
        <a:defRPr sz="3968" kern="1200">
          <a:solidFill>
            <a:schemeClr val="tx1"/>
          </a:solidFill>
          <a:latin typeface="+mn-lt"/>
          <a:ea typeface="+mn-ea"/>
          <a:cs typeface="+mn-cs"/>
        </a:defRPr>
      </a:lvl4pPr>
      <a:lvl5pPr marL="4031772" algn="l" defTabSz="2015886" rtl="0" eaLnBrk="1" latinLnBrk="0" hangingPunct="1">
        <a:defRPr sz="3968" kern="1200">
          <a:solidFill>
            <a:schemeClr val="tx1"/>
          </a:solidFill>
          <a:latin typeface="+mn-lt"/>
          <a:ea typeface="+mn-ea"/>
          <a:cs typeface="+mn-cs"/>
        </a:defRPr>
      </a:lvl5pPr>
      <a:lvl6pPr marL="5039716" algn="l" defTabSz="2015886" rtl="0" eaLnBrk="1" latinLnBrk="0" hangingPunct="1">
        <a:defRPr sz="3968" kern="1200">
          <a:solidFill>
            <a:schemeClr val="tx1"/>
          </a:solidFill>
          <a:latin typeface="+mn-lt"/>
          <a:ea typeface="+mn-ea"/>
          <a:cs typeface="+mn-cs"/>
        </a:defRPr>
      </a:lvl6pPr>
      <a:lvl7pPr marL="6047659" algn="l" defTabSz="2015886" rtl="0" eaLnBrk="1" latinLnBrk="0" hangingPunct="1">
        <a:defRPr sz="3968" kern="1200">
          <a:solidFill>
            <a:schemeClr val="tx1"/>
          </a:solidFill>
          <a:latin typeface="+mn-lt"/>
          <a:ea typeface="+mn-ea"/>
          <a:cs typeface="+mn-cs"/>
        </a:defRPr>
      </a:lvl7pPr>
      <a:lvl8pPr marL="7055602" algn="l" defTabSz="2015886" rtl="0" eaLnBrk="1" latinLnBrk="0" hangingPunct="1">
        <a:defRPr sz="3968" kern="1200">
          <a:solidFill>
            <a:schemeClr val="tx1"/>
          </a:solidFill>
          <a:latin typeface="+mn-lt"/>
          <a:ea typeface="+mn-ea"/>
          <a:cs typeface="+mn-cs"/>
        </a:defRPr>
      </a:lvl8pPr>
      <a:lvl9pPr marL="8063545" algn="l" defTabSz="2015886" rtl="0" eaLnBrk="1" latinLnBrk="0" hangingPunct="1">
        <a:defRPr sz="396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jpg"/><Relationship Id="rId10" Type="http://schemas.openxmlformats.org/officeDocument/2006/relationships/hyperlink" Target="https://doi.org/10.1103/PhysRev.65.117" TargetMode="External"/><Relationship Id="rId4" Type="http://schemas.openxmlformats.org/officeDocument/2006/relationships/image" Target="../media/image2.png"/><Relationship Id="rId9" Type="http://schemas.openxmlformats.org/officeDocument/2006/relationships/hyperlink" Target="https://doi.org/10.1007/BF02980577"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7.png"/><Relationship Id="rId5" Type="http://schemas.openxmlformats.org/officeDocument/2006/relationships/image" Target="../media/image3.jpg"/><Relationship Id="rId10" Type="http://schemas.openxmlformats.org/officeDocument/2006/relationships/hyperlink" Target="https://doi.org/10.1103/PhysRev.65.117" TargetMode="External"/><Relationship Id="rId4" Type="http://schemas.openxmlformats.org/officeDocument/2006/relationships/image" Target="../media/image2.png"/><Relationship Id="rId9" Type="http://schemas.openxmlformats.org/officeDocument/2006/relationships/hyperlink" Target="https://doi.org/10.1007/BF02980577"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doi.org/10.1103/PhysRev.65.117" TargetMode="External"/><Relationship Id="rId13" Type="http://schemas.openxmlformats.org/officeDocument/2006/relationships/image" Target="../media/image16.png"/><Relationship Id="rId3" Type="http://schemas.microsoft.com/office/2018/10/relationships/comments" Target="../comments/modernComment_102_BE4C3B3B.xml"/><Relationship Id="rId7" Type="http://schemas.openxmlformats.org/officeDocument/2006/relationships/hyperlink" Target="https://doi.org/10.1007/BF02980577" TargetMode="External"/><Relationship Id="rId12"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3.jpg"/><Relationship Id="rId5" Type="http://schemas.openxmlformats.org/officeDocument/2006/relationships/image" Target="../media/image12.png"/><Relationship Id="rId15" Type="http://schemas.openxmlformats.org/officeDocument/2006/relationships/image" Target="../media/image18.png"/><Relationship Id="rId10" Type="http://schemas.openxmlformats.org/officeDocument/2006/relationships/image" Target="../media/image14.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7.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5.png"/><Relationship Id="rId3" Type="http://schemas.openxmlformats.org/officeDocument/2006/relationships/image" Target="../media/image2.png"/><Relationship Id="rId7" Type="http://schemas.openxmlformats.org/officeDocument/2006/relationships/hyperlink" Target="https://doi.org/10.1103/PhysRev.65.117" TargetMode="External"/><Relationship Id="rId12"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doi.org/10.1007/BF02980577" TargetMode="External"/><Relationship Id="rId11" Type="http://schemas.openxmlformats.org/officeDocument/2006/relationships/image" Target="../media/image23.png"/><Relationship Id="rId5" Type="http://schemas.openxmlformats.org/officeDocument/2006/relationships/image" Target="../media/image20.png"/><Relationship Id="rId10" Type="http://schemas.openxmlformats.org/officeDocument/2006/relationships/image" Target="../media/image22.png"/><Relationship Id="rId4" Type="http://schemas.openxmlformats.org/officeDocument/2006/relationships/image" Target="../media/image19.png"/><Relationship Id="rId9" Type="http://schemas.openxmlformats.org/officeDocument/2006/relationships/image" Target="../media/image3.jpg"/><Relationship Id="rId14" Type="http://schemas.openxmlformats.org/officeDocument/2006/relationships/image" Target="../media/image26.png"/></Relationships>
</file>

<file path=ppt/slides/_rels/slide5.xml.rels><?xml version="1.0" encoding="UTF-8" standalone="yes"?>
<Relationships xmlns="http://schemas.openxmlformats.org/package/2006/relationships"><Relationship Id="rId8" Type="http://schemas.openxmlformats.org/officeDocument/2006/relationships/hyperlink" Target="https://doi.org/10.1103/PhysRev.65.117" TargetMode="External"/><Relationship Id="rId13" Type="http://schemas.openxmlformats.org/officeDocument/2006/relationships/image" Target="../media/image29.png"/><Relationship Id="rId3" Type="http://schemas.microsoft.com/office/2018/10/relationships/comments" Target="../comments/modernComment_103_FE37F291.xml"/><Relationship Id="rId7" Type="http://schemas.openxmlformats.org/officeDocument/2006/relationships/hyperlink" Target="https://doi.org/10.1007/BF02980577" TargetMode="External"/><Relationship Id="rId12"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23.png"/><Relationship Id="rId5" Type="http://schemas.openxmlformats.org/officeDocument/2006/relationships/image" Target="../media/image19.png"/><Relationship Id="rId10" Type="http://schemas.openxmlformats.org/officeDocument/2006/relationships/image" Target="../media/image22.png"/><Relationship Id="rId4" Type="http://schemas.openxmlformats.org/officeDocument/2006/relationships/image" Target="../media/image2.png"/><Relationship Id="rId9"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hyperlink" Target="https://doi.org/10.1103/PhysRev.65.117" TargetMode="External"/><Relationship Id="rId13" Type="http://schemas.openxmlformats.org/officeDocument/2006/relationships/image" Target="../media/image36.png"/><Relationship Id="rId3" Type="http://schemas.openxmlformats.org/officeDocument/2006/relationships/notesSlide" Target="../notesSlides/notesSlide6.xml"/><Relationship Id="rId7" Type="http://schemas.openxmlformats.org/officeDocument/2006/relationships/hyperlink" Target="https://doi.org/10.1007/BF02980577" TargetMode="External"/><Relationship Id="rId12" Type="http://schemas.openxmlformats.org/officeDocument/2006/relationships/image" Target="../media/image35.png"/><Relationship Id="rId2" Type="http://schemas.openxmlformats.org/officeDocument/2006/relationships/slideLayout" Target="../slideLayouts/slideLayout1.xml"/><Relationship Id="rId16" Type="http://schemas.openxmlformats.org/officeDocument/2006/relationships/image" Target="../media/image39.png"/><Relationship Id="rId1" Type="http://schemas.openxmlformats.org/officeDocument/2006/relationships/vmlDrawing" Target="../drawings/vmlDrawing1.vml"/><Relationship Id="rId6" Type="http://schemas.openxmlformats.org/officeDocument/2006/relationships/image" Target="../media/image31.png"/><Relationship Id="rId11" Type="http://schemas.openxmlformats.org/officeDocument/2006/relationships/image" Target="../media/image34.png"/><Relationship Id="rId5" Type="http://schemas.openxmlformats.org/officeDocument/2006/relationships/image" Target="../media/image2.png"/><Relationship Id="rId15" Type="http://schemas.openxmlformats.org/officeDocument/2006/relationships/image" Target="../media/image38.png"/><Relationship Id="rId10" Type="http://schemas.openxmlformats.org/officeDocument/2006/relationships/image" Target="../media/image33.png"/><Relationship Id="rId4" Type="http://schemas.openxmlformats.org/officeDocument/2006/relationships/image" Target="../media/image30.png"/><Relationship Id="rId9" Type="http://schemas.openxmlformats.org/officeDocument/2006/relationships/image" Target="../media/image32.png"/><Relationship Id="rId14" Type="http://schemas.openxmlformats.org/officeDocument/2006/relationships/image" Target="../media/image37.png"/></Relationships>
</file>

<file path=ppt/slides/_rels/slide7.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38.png"/><Relationship Id="rId3" Type="http://schemas.openxmlformats.org/officeDocument/2006/relationships/image" Target="../media/image40.png"/><Relationship Id="rId7" Type="http://schemas.openxmlformats.org/officeDocument/2006/relationships/image" Target="../media/image42.png"/><Relationship Id="rId12"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doi.org/10.1103/PhysRev.65.117" TargetMode="External"/><Relationship Id="rId11" Type="http://schemas.openxmlformats.org/officeDocument/2006/relationships/image" Target="../media/image36.png"/><Relationship Id="rId5" Type="http://schemas.openxmlformats.org/officeDocument/2006/relationships/hyperlink" Target="https://doi.org/10.1007/BF02980577" TargetMode="External"/><Relationship Id="rId10" Type="http://schemas.openxmlformats.org/officeDocument/2006/relationships/image" Target="../media/image35.png"/><Relationship Id="rId4" Type="http://schemas.openxmlformats.org/officeDocument/2006/relationships/image" Target="../media/image41.png"/><Relationship Id="rId9" Type="http://schemas.openxmlformats.org/officeDocument/2006/relationships/image" Target="../media/image44.png"/><Relationship Id="rId14" Type="http://schemas.openxmlformats.org/officeDocument/2006/relationships/image" Target="../media/image39.png"/></Relationships>
</file>

<file path=ppt/slides/_rels/slide8.xml.rels><?xml version="1.0" encoding="UTF-8" standalone="yes"?>
<Relationships xmlns="http://schemas.openxmlformats.org/package/2006/relationships"><Relationship Id="rId8" Type="http://schemas.openxmlformats.org/officeDocument/2006/relationships/hyperlink" Target="https://doi.org/10.1103/PhysRev.65.117" TargetMode="External"/><Relationship Id="rId13" Type="http://schemas.openxmlformats.org/officeDocument/2006/relationships/image" Target="../media/image36.png"/><Relationship Id="rId3" Type="http://schemas.openxmlformats.org/officeDocument/2006/relationships/image" Target="../media/image40.png"/><Relationship Id="rId7" Type="http://schemas.openxmlformats.org/officeDocument/2006/relationships/hyperlink" Target="https://doi.org/10.1007/BF02980577" TargetMode="External"/><Relationship Id="rId12" Type="http://schemas.openxmlformats.org/officeDocument/2006/relationships/image" Target="../media/image35.png"/><Relationship Id="rId17" Type="http://schemas.openxmlformats.org/officeDocument/2006/relationships/image" Target="../media/image48.png"/><Relationship Id="rId2" Type="http://schemas.openxmlformats.org/officeDocument/2006/relationships/notesSlide" Target="../notesSlides/notesSlide8.xml"/><Relationship Id="rId16" Type="http://schemas.openxmlformats.org/officeDocument/2006/relationships/image" Target="../media/image39.png"/><Relationship Id="rId1" Type="http://schemas.openxmlformats.org/officeDocument/2006/relationships/slideLayout" Target="../slideLayouts/slideLayout1.xml"/><Relationship Id="rId6" Type="http://schemas.openxmlformats.org/officeDocument/2006/relationships/image" Target="../media/image46.png"/><Relationship Id="rId11" Type="http://schemas.openxmlformats.org/officeDocument/2006/relationships/image" Target="../media/image44.png"/><Relationship Id="rId5" Type="http://schemas.openxmlformats.org/officeDocument/2006/relationships/image" Target="../media/image45.png"/><Relationship Id="rId15" Type="http://schemas.openxmlformats.org/officeDocument/2006/relationships/image" Target="../media/image38.png"/><Relationship Id="rId10" Type="http://schemas.openxmlformats.org/officeDocument/2006/relationships/image" Target="../media/image43.png"/><Relationship Id="rId4" Type="http://schemas.openxmlformats.org/officeDocument/2006/relationships/image" Target="../media/image41.png"/><Relationship Id="rId9" Type="http://schemas.openxmlformats.org/officeDocument/2006/relationships/image" Target="../media/image47.png"/><Relationship Id="rId14" Type="http://schemas.openxmlformats.org/officeDocument/2006/relationships/image" Target="../media/image37.png"/></Relationships>
</file>

<file path=ppt/slides/_rels/slide9.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38.png"/><Relationship Id="rId3" Type="http://schemas.openxmlformats.org/officeDocument/2006/relationships/image" Target="../media/image40.png"/><Relationship Id="rId7" Type="http://schemas.openxmlformats.org/officeDocument/2006/relationships/image" Target="../media/image42.png"/><Relationship Id="rId12"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doi.org/10.1103/PhysRev.65.117" TargetMode="External"/><Relationship Id="rId11" Type="http://schemas.openxmlformats.org/officeDocument/2006/relationships/image" Target="../media/image36.png"/><Relationship Id="rId5" Type="http://schemas.openxmlformats.org/officeDocument/2006/relationships/hyperlink" Target="https://doi.org/10.1007/BF02980577" TargetMode="External"/><Relationship Id="rId10" Type="http://schemas.openxmlformats.org/officeDocument/2006/relationships/image" Target="../media/image35.png"/><Relationship Id="rId4" Type="http://schemas.openxmlformats.org/officeDocument/2006/relationships/image" Target="../media/image41.png"/><Relationship Id="rId9" Type="http://schemas.openxmlformats.org/officeDocument/2006/relationships/image" Target="../media/image44.png"/><Relationship Id="rId1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49803FA0-B9EC-F78F-5EC5-53F69C8FFFAE}"/>
              </a:ext>
            </a:extLst>
          </p:cNvPr>
          <p:cNvSpPr/>
          <p:nvPr/>
        </p:nvSpPr>
        <p:spPr>
          <a:xfrm>
            <a:off x="317501" y="2087230"/>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1. The Ising Model</a:t>
            </a:r>
          </a:p>
        </p:txBody>
      </p:sp>
      <p:sp>
        <p:nvSpPr>
          <p:cNvPr id="4" name="Rectangle 3">
            <a:extLst>
              <a:ext uri="{FF2B5EF4-FFF2-40B4-BE49-F238E27FC236}">
                <a16:creationId xmlns:a16="http://schemas.microsoft.com/office/drawing/2014/main" id="{85535D0B-631E-30B9-A060-379602924BDA}"/>
              </a:ext>
            </a:extLst>
          </p:cNvPr>
          <p:cNvSpPr/>
          <p:nvPr/>
        </p:nvSpPr>
        <p:spPr>
          <a:xfrm>
            <a:off x="-1" y="0"/>
            <a:ext cx="21383625" cy="1415933"/>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ferromagnet transitions using the Ising model</a:t>
            </a:r>
          </a:p>
          <a:p>
            <a:pPr algn="ctr"/>
            <a:endParaRPr lang="en-GB" dirty="0"/>
          </a:p>
        </p:txBody>
      </p:sp>
      <p:sp>
        <p:nvSpPr>
          <p:cNvPr id="10" name="Rectangle 9">
            <a:extLst>
              <a:ext uri="{FF2B5EF4-FFF2-40B4-BE49-F238E27FC236}">
                <a16:creationId xmlns:a16="http://schemas.microsoft.com/office/drawing/2014/main" id="{681868A3-3029-9541-C170-EC26EDBB1B02}"/>
              </a:ext>
            </a:extLst>
          </p:cNvPr>
          <p:cNvSpPr/>
          <p:nvPr/>
        </p:nvSpPr>
        <p:spPr>
          <a:xfrm>
            <a:off x="8014287" y="3434792"/>
            <a:ext cx="6594474" cy="782943"/>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34120AE-C9A0-50B7-9158-E1D51653CD0F}"/>
                  </a:ext>
                </a:extLst>
              </p:cNvPr>
              <p:cNvSpPr txBox="1"/>
              <p:nvPr/>
            </p:nvSpPr>
            <p:spPr>
              <a:xfrm>
                <a:off x="346869" y="3056582"/>
                <a:ext cx="7125835" cy="13882262"/>
              </a:xfrm>
              <a:prstGeom prst="rect">
                <a:avLst/>
              </a:prstGeom>
              <a:noFill/>
            </p:spPr>
            <p:txBody>
              <a:bodyPr wrap="square" rtlCol="0">
                <a:spAutoFit/>
              </a:bodyPr>
              <a:lstStyle/>
              <a:p>
                <a:r>
                  <a:rPr lang="en-GB" sz="2200" dirty="0"/>
                  <a:t>The Ising model is a simple model used to describe ferromagnetism using statistical mechanics [1]. For the 2D case, we create a periodic lattice of dimensions </a:t>
                </a:r>
                <a14:m>
                  <m:oMath xmlns:m="http://schemas.openxmlformats.org/officeDocument/2006/math">
                    <m:sSub>
                      <m:sSubPr>
                        <m:ctrlPr>
                          <a:rPr lang="en-GB" sz="2200" b="0" i="1" dirty="0" smtClean="0">
                            <a:latin typeface="Cambria Math" panose="02040503050406030204" pitchFamily="18" charset="0"/>
                          </a:rPr>
                        </m:ctrlPr>
                      </m:sSubPr>
                      <m:e>
                        <m:r>
                          <a:rPr lang="en-GB" sz="2200" i="1" dirty="0" smtClean="0">
                            <a:latin typeface="Cambria Math" panose="02040503050406030204" pitchFamily="18" charset="0"/>
                          </a:rPr>
                          <m:t>𝑁</m:t>
                        </m:r>
                      </m:e>
                      <m:sub>
                        <m:r>
                          <a:rPr lang="en-GB" sz="2200" i="1" dirty="0" smtClean="0">
                            <a:latin typeface="Cambria Math" panose="02040503050406030204" pitchFamily="18" charset="0"/>
                          </a:rPr>
                          <m:t>𝑥</m:t>
                        </m:r>
                      </m:sub>
                    </m:sSub>
                  </m:oMath>
                </a14:m>
                <a:r>
                  <a:rPr lang="en-GB" sz="2200" dirty="0"/>
                  <a:t> by </a:t>
                </a:r>
                <a14:m>
                  <m:oMath xmlns:m="http://schemas.openxmlformats.org/officeDocument/2006/math">
                    <m:sSub>
                      <m:sSubPr>
                        <m:ctrlPr>
                          <a:rPr lang="en-GB" sz="2200" b="0" i="1" dirty="0" smtClean="0">
                            <a:latin typeface="Cambria Math" panose="02040503050406030204" pitchFamily="18" charset="0"/>
                          </a:rPr>
                        </m:ctrlPr>
                      </m:sSubPr>
                      <m:e>
                        <m:r>
                          <a:rPr lang="en-GB" sz="2200" i="1" dirty="0" smtClean="0">
                            <a:latin typeface="Cambria Math" panose="02040503050406030204" pitchFamily="18" charset="0"/>
                          </a:rPr>
                          <m:t>𝑁</m:t>
                        </m:r>
                      </m:e>
                      <m:sub>
                        <m:r>
                          <a:rPr lang="en-GB" sz="2200" i="1" dirty="0" smtClean="0">
                            <a:latin typeface="Cambria Math" panose="02040503050406030204" pitchFamily="18" charset="0"/>
                          </a:rPr>
                          <m:t>𝑦</m:t>
                        </m:r>
                      </m:sub>
                    </m:sSub>
                  </m:oMath>
                </a14:m>
                <a:r>
                  <a:rPr lang="en-GB" sz="2200" dirty="0"/>
                  <a:t>, where each point is randomly assigned a spin value of either +1 (red) or -1 (blue), representing spin-up and spin-down states respectively (see fig.1 for a visual).</a:t>
                </a:r>
              </a:p>
              <a:p>
                <a:endParaRPr lang="en-GB" sz="2800" dirty="0"/>
              </a:p>
              <a:p>
                <a:endParaRPr lang="en-GB" sz="2800" dirty="0"/>
              </a:p>
              <a:p>
                <a:endParaRPr lang="en-GB" sz="2800" dirty="0"/>
              </a:p>
              <a:p>
                <a:endParaRPr lang="en-GB" sz="2800" dirty="0"/>
              </a:p>
              <a:p>
                <a:endParaRPr lang="en-GB" sz="2800" dirty="0"/>
              </a:p>
              <a:p>
                <a:endParaRPr lang="en-GB" sz="2800" dirty="0"/>
              </a:p>
              <a:p>
                <a:endParaRPr lang="en-GB" sz="2800" dirty="0"/>
              </a:p>
              <a:p>
                <a:endParaRPr lang="en-GB" sz="2800" dirty="0"/>
              </a:p>
              <a:p>
                <a:endParaRPr lang="en-GB" sz="2800" dirty="0"/>
              </a:p>
              <a:p>
                <a:endParaRPr lang="en-GB" sz="2400" dirty="0"/>
              </a:p>
              <a:p>
                <a:r>
                  <a:rPr lang="en-GB" sz="2200" dirty="0"/>
                  <a:t>The Ising model tells us the total energy of the lattice comes from two sources: the interaction between the spins and an external magnetic field </a:t>
                </a:r>
                <a14:m>
                  <m:oMath xmlns:m="http://schemas.openxmlformats.org/officeDocument/2006/math">
                    <m:r>
                      <a:rPr lang="en-GB" sz="2200" i="1" dirty="0" smtClean="0">
                        <a:latin typeface="Cambria Math" panose="02040503050406030204" pitchFamily="18" charset="0"/>
                      </a:rPr>
                      <m:t>𝐵</m:t>
                    </m:r>
                  </m:oMath>
                </a14:m>
                <a:r>
                  <a:rPr lang="en-GB" sz="2200" dirty="0"/>
                  <a:t>, and the interaction between neighbouring spins[1,2]. For simplicity, the 2D Ising model only considers interactions between the four nearest neighbours, highlighted in white in Fig 1.</a:t>
                </a:r>
              </a:p>
              <a:p>
                <a:r>
                  <a:rPr lang="en-GB" sz="2200" dirty="0"/>
                  <a:t>Mathematically this energy </a:t>
                </a:r>
                <a14:m>
                  <m:oMath xmlns:m="http://schemas.openxmlformats.org/officeDocument/2006/math">
                    <m:r>
                      <a:rPr lang="en-GB" sz="2200" b="0" i="1" smtClean="0">
                        <a:latin typeface="Cambria Math" panose="02040503050406030204" pitchFamily="18" charset="0"/>
                      </a:rPr>
                      <m:t>𝐸</m:t>
                    </m:r>
                  </m:oMath>
                </a14:m>
                <a:r>
                  <a:rPr lang="en-GB" sz="2200" dirty="0"/>
                  <a:t>, can be written as: </a:t>
                </a:r>
              </a:p>
              <a:p>
                <a:endParaRPr lang="en-GB" sz="2200" dirty="0"/>
              </a:p>
              <a:p>
                <a:pPr/>
                <a14:m>
                  <m:oMathPara xmlns:m="http://schemas.openxmlformats.org/officeDocument/2006/math">
                    <m:oMathParaPr>
                      <m:jc m:val="centerGroup"/>
                    </m:oMathParaPr>
                    <m:oMath xmlns:m="http://schemas.openxmlformats.org/officeDocument/2006/math">
                      <m:r>
                        <a:rPr lang="en-GB" sz="2200" i="1">
                          <a:latin typeface="Cambria Math" panose="02040503050406030204" pitchFamily="18" charset="0"/>
                        </a:rPr>
                        <m:t>𝐸</m:t>
                      </m:r>
                      <m:r>
                        <a:rPr lang="en-GB" sz="2200" i="1">
                          <a:latin typeface="Cambria Math" panose="02040503050406030204" pitchFamily="18" charset="0"/>
                        </a:rPr>
                        <m:t>=−</m:t>
                      </m:r>
                      <m:r>
                        <a:rPr lang="en-GB" sz="2200" i="1">
                          <a:latin typeface="Cambria Math" panose="02040503050406030204" pitchFamily="18" charset="0"/>
                        </a:rPr>
                        <m:t>𝐵</m:t>
                      </m:r>
                      <m:nary>
                        <m:naryPr>
                          <m:chr m:val="∑"/>
                          <m:supHide m:val="on"/>
                          <m:ctrlPr>
                            <a:rPr lang="en-GB" sz="2200" i="1">
                              <a:latin typeface="Cambria Math" panose="02040503050406030204" pitchFamily="18" charset="0"/>
                            </a:rPr>
                          </m:ctrlPr>
                        </m:naryPr>
                        <m:sub>
                          <m:r>
                            <m:rPr>
                              <m:sty m:val="p"/>
                              <m:brk m:alnAt="7"/>
                            </m:rPr>
                            <a:rPr lang="el-GR" sz="2200" i="1">
                              <a:latin typeface="Cambria Math" panose="02040503050406030204" pitchFamily="18" charset="0"/>
                            </a:rPr>
                            <m:t>α</m:t>
                          </m:r>
                        </m:sub>
                        <m:sup/>
                        <m:e>
                          <m:sSub>
                            <m:sSubPr>
                              <m:ctrlPr>
                                <a:rPr lang="en-GB" sz="2200" i="1">
                                  <a:latin typeface="Cambria Math" panose="02040503050406030204" pitchFamily="18" charset="0"/>
                                </a:rPr>
                              </m:ctrlPr>
                            </m:sSubPr>
                            <m:e>
                              <m:r>
                                <a:rPr lang="en-GB" sz="2200" i="1">
                                  <a:latin typeface="Cambria Math" panose="02040503050406030204" pitchFamily="18" charset="0"/>
                                </a:rPr>
                                <m:t>𝑆</m:t>
                              </m:r>
                            </m:e>
                            <m:sub>
                              <m:r>
                                <m:rPr>
                                  <m:sty m:val="p"/>
                                  <m:brk m:alnAt="7"/>
                                </m:rPr>
                                <a:rPr lang="el-GR" sz="2200" i="1">
                                  <a:latin typeface="Cambria Math" panose="02040503050406030204" pitchFamily="18" charset="0"/>
                                </a:rPr>
                                <m:t>α</m:t>
                              </m:r>
                            </m:sub>
                          </m:sSub>
                        </m:e>
                      </m:nary>
                      <m:r>
                        <a:rPr lang="en-GB" sz="2200">
                          <a:latin typeface="Cambria Math" panose="02040503050406030204" pitchFamily="18" charset="0"/>
                        </a:rPr>
                        <m:t> −</m:t>
                      </m:r>
                      <m:r>
                        <m:rPr>
                          <m:sty m:val="p"/>
                        </m:rPr>
                        <a:rPr lang="en-GB" sz="2200">
                          <a:latin typeface="Cambria Math" panose="02040503050406030204" pitchFamily="18" charset="0"/>
                        </a:rPr>
                        <m:t>J</m:t>
                      </m:r>
                      <m:nary>
                        <m:naryPr>
                          <m:chr m:val="∑"/>
                          <m:supHide m:val="on"/>
                          <m:ctrlPr>
                            <a:rPr lang="en-GB" sz="2200" i="1">
                              <a:latin typeface="Cambria Math" panose="02040503050406030204" pitchFamily="18" charset="0"/>
                            </a:rPr>
                          </m:ctrlPr>
                        </m:naryPr>
                        <m:sub>
                          <m:r>
                            <m:rPr>
                              <m:brk m:alnAt="7"/>
                            </m:rPr>
                            <a:rPr lang="en-GB" sz="2200" i="1">
                              <a:latin typeface="Cambria Math" panose="02040503050406030204" pitchFamily="18" charset="0"/>
                            </a:rPr>
                            <m:t>&lt;</m:t>
                          </m:r>
                          <m:r>
                            <m:rPr>
                              <m:sty m:val="p"/>
                            </m:rPr>
                            <a:rPr lang="el-GR" sz="2200" i="1">
                              <a:latin typeface="Cambria Math" panose="02040503050406030204" pitchFamily="18" charset="0"/>
                            </a:rPr>
                            <m:t>αβ</m:t>
                          </m:r>
                          <m:r>
                            <a:rPr lang="en-GB" sz="2200" i="1">
                              <a:latin typeface="Cambria Math" panose="02040503050406030204" pitchFamily="18" charset="0"/>
                            </a:rPr>
                            <m:t>&gt;</m:t>
                          </m:r>
                        </m:sub>
                        <m:sup/>
                        <m:e>
                          <m:sSub>
                            <m:sSubPr>
                              <m:ctrlPr>
                                <a:rPr lang="en-GB" sz="2200" i="1">
                                  <a:latin typeface="Cambria Math" panose="02040503050406030204" pitchFamily="18" charset="0"/>
                                </a:rPr>
                              </m:ctrlPr>
                            </m:sSubPr>
                            <m:e>
                              <m:r>
                                <a:rPr lang="en-GB" sz="2200" i="1">
                                  <a:latin typeface="Cambria Math" panose="02040503050406030204" pitchFamily="18" charset="0"/>
                                </a:rPr>
                                <m:t>𝑆</m:t>
                              </m:r>
                            </m:e>
                            <m:sub>
                              <m:r>
                                <m:rPr>
                                  <m:sty m:val="p"/>
                                  <m:brk m:alnAt="7"/>
                                </m:rPr>
                                <a:rPr lang="el-GR" sz="2200" i="1">
                                  <a:latin typeface="Cambria Math" panose="02040503050406030204" pitchFamily="18" charset="0"/>
                                </a:rPr>
                                <m:t>α</m:t>
                              </m:r>
                            </m:sub>
                          </m:sSub>
                          <m:sSub>
                            <m:sSubPr>
                              <m:ctrlPr>
                                <a:rPr lang="en-GB" sz="2200" i="1">
                                  <a:latin typeface="Cambria Math" panose="02040503050406030204" pitchFamily="18" charset="0"/>
                                </a:rPr>
                              </m:ctrlPr>
                            </m:sSubPr>
                            <m:e>
                              <m:r>
                                <a:rPr lang="en-GB" sz="2200" i="1">
                                  <a:latin typeface="Cambria Math" panose="02040503050406030204" pitchFamily="18" charset="0"/>
                                </a:rPr>
                                <m:t>𝑆</m:t>
                              </m:r>
                            </m:e>
                            <m:sub>
                              <m:r>
                                <m:rPr>
                                  <m:sty m:val="p"/>
                                </m:rPr>
                                <a:rPr lang="el-GR" sz="2200" i="1">
                                  <a:latin typeface="Cambria Math" panose="02040503050406030204" pitchFamily="18" charset="0"/>
                                </a:rPr>
                                <m:t>β</m:t>
                              </m:r>
                            </m:sub>
                          </m:sSub>
                        </m:e>
                      </m:nary>
                      <m:r>
                        <a:rPr lang="en-GB" sz="2200" b="0" i="0" smtClean="0">
                          <a:latin typeface="Cambria Math" panose="02040503050406030204" pitchFamily="18" charset="0"/>
                        </a:rPr>
                        <m:t>, </m:t>
                      </m:r>
                    </m:oMath>
                  </m:oMathPara>
                </a14:m>
                <a:endParaRPr lang="en-GB" sz="2200" dirty="0"/>
              </a:p>
              <a:p>
                <a:endParaRPr lang="en-GB" sz="2400" dirty="0"/>
              </a:p>
              <a:p>
                <a:endParaRPr lang="en-GB" sz="2400" dirty="0"/>
              </a:p>
              <a:p>
                <a:r>
                  <a:rPr lang="en-GB" sz="2200" dirty="0"/>
                  <a:t>where </a:t>
                </a:r>
                <a14:m>
                  <m:oMath xmlns:m="http://schemas.openxmlformats.org/officeDocument/2006/math">
                    <m:r>
                      <a:rPr lang="el-GR" sz="2200" i="1" dirty="0" smtClean="0">
                        <a:latin typeface="Cambria Math" panose="02040503050406030204" pitchFamily="18" charset="0"/>
                        <a:ea typeface="Cambria Math" panose="02040503050406030204" pitchFamily="18" charset="0"/>
                      </a:rPr>
                      <m:t>𝛼</m:t>
                    </m:r>
                  </m:oMath>
                </a14:m>
                <a:r>
                  <a:rPr lang="en-GB" sz="2200" dirty="0"/>
                  <a:t> is the summation over each lattice point (i.e. over all </a:t>
                </a:r>
                <a14:m>
                  <m:oMath xmlns:m="http://schemas.openxmlformats.org/officeDocument/2006/math">
                    <m:r>
                      <a:rPr lang="en-GB" sz="2200" i="1" dirty="0">
                        <a:latin typeface="Cambria Math" panose="02040503050406030204" pitchFamily="18" charset="0"/>
                      </a:rPr>
                      <m:t>𝑖</m:t>
                    </m:r>
                  </m:oMath>
                </a14:m>
                <a:r>
                  <a:rPr lang="en-GB" sz="2200" dirty="0"/>
                  <a:t> and </a:t>
                </a:r>
                <a14:m>
                  <m:oMath xmlns:m="http://schemas.openxmlformats.org/officeDocument/2006/math">
                    <m:r>
                      <a:rPr lang="en-GB" sz="2200" i="1" dirty="0">
                        <a:latin typeface="Cambria Math" panose="02040503050406030204" pitchFamily="18" charset="0"/>
                      </a:rPr>
                      <m:t>𝑗</m:t>
                    </m:r>
                  </m:oMath>
                </a14:m>
                <a:r>
                  <a:rPr lang="en-GB" sz="2200" dirty="0"/>
                  <a:t>), and</a:t>
                </a:r>
                <a14:m>
                  <m:oMath xmlns:m="http://schemas.openxmlformats.org/officeDocument/2006/math">
                    <m:r>
                      <a:rPr lang="en-GB" sz="2200" i="1" dirty="0" smtClean="0">
                        <a:latin typeface="Cambria Math" panose="02040503050406030204" pitchFamily="18" charset="0"/>
                      </a:rPr>
                      <m:t> </m:t>
                    </m:r>
                    <m:r>
                      <a:rPr lang="el-GR" sz="2200" i="1" dirty="0">
                        <a:latin typeface="Cambria Math" panose="02040503050406030204" pitchFamily="18" charset="0"/>
                      </a:rPr>
                      <m:t>𝛽</m:t>
                    </m:r>
                    <m:r>
                      <a:rPr lang="en-GB" sz="2200" i="1" dirty="0">
                        <a:latin typeface="Cambria Math" panose="02040503050406030204" pitchFamily="18" charset="0"/>
                      </a:rPr>
                      <m:t> </m:t>
                    </m:r>
                  </m:oMath>
                </a14:m>
                <a:r>
                  <a:rPr lang="en-GB" sz="2200" dirty="0"/>
                  <a:t>is the summation of the four nearest neighbours: </a:t>
                </a:r>
                <a14:m>
                  <m:oMath xmlns:m="http://schemas.openxmlformats.org/officeDocument/2006/math">
                    <m:d>
                      <m:dPr>
                        <m:ctrlPr>
                          <a:rPr lang="en-GB" sz="2200" i="1" dirty="0">
                            <a:latin typeface="Cambria Math" panose="02040503050406030204" pitchFamily="18" charset="0"/>
                          </a:rPr>
                        </m:ctrlPr>
                      </m:dPr>
                      <m:e>
                        <m:r>
                          <a:rPr lang="en-GB" sz="2200" i="1" dirty="0">
                            <a:latin typeface="Cambria Math" panose="02040503050406030204" pitchFamily="18" charset="0"/>
                          </a:rPr>
                          <m:t>𝑖</m:t>
                        </m:r>
                        <m:r>
                          <a:rPr lang="en-GB" sz="2200" i="1" dirty="0">
                            <a:latin typeface="Cambria Math" panose="02040503050406030204" pitchFamily="18" charset="0"/>
                          </a:rPr>
                          <m:t>−1,</m:t>
                        </m:r>
                        <m:r>
                          <a:rPr lang="en-GB" sz="2200" i="1" dirty="0">
                            <a:latin typeface="Cambria Math" panose="02040503050406030204" pitchFamily="18" charset="0"/>
                          </a:rPr>
                          <m:t>𝑗</m:t>
                        </m:r>
                      </m:e>
                    </m:d>
                  </m:oMath>
                </a14:m>
                <a:r>
                  <a:rPr lang="en-GB" sz="2200" dirty="0"/>
                  <a:t>, </a:t>
                </a:r>
                <a14:m>
                  <m:oMath xmlns:m="http://schemas.openxmlformats.org/officeDocument/2006/math">
                    <m:d>
                      <m:dPr>
                        <m:ctrlPr>
                          <a:rPr lang="en-GB" sz="2200" i="1" dirty="0">
                            <a:latin typeface="Cambria Math" panose="02040503050406030204" pitchFamily="18" charset="0"/>
                          </a:rPr>
                        </m:ctrlPr>
                      </m:dPr>
                      <m:e>
                        <m:r>
                          <a:rPr lang="en-GB" sz="2200" i="1" dirty="0">
                            <a:latin typeface="Cambria Math" panose="02040503050406030204" pitchFamily="18" charset="0"/>
                          </a:rPr>
                          <m:t>𝑖</m:t>
                        </m:r>
                        <m:r>
                          <a:rPr lang="en-GB" sz="2200" i="1" dirty="0">
                            <a:latin typeface="Cambria Math" panose="02040503050406030204" pitchFamily="18" charset="0"/>
                          </a:rPr>
                          <m:t>+1,</m:t>
                        </m:r>
                        <m:r>
                          <a:rPr lang="en-GB" sz="2200" i="1" dirty="0">
                            <a:latin typeface="Cambria Math" panose="02040503050406030204" pitchFamily="18" charset="0"/>
                          </a:rPr>
                          <m:t>𝑗</m:t>
                        </m:r>
                      </m:e>
                    </m:d>
                    <m:r>
                      <a:rPr lang="en-GB" sz="2200" dirty="0">
                        <a:latin typeface="Cambria Math" panose="02040503050406030204" pitchFamily="18" charset="0"/>
                      </a:rPr>
                      <m:t>, </m:t>
                    </m:r>
                    <m:r>
                      <a:rPr lang="en-GB" sz="2200" i="1" dirty="0">
                        <a:latin typeface="Cambria Math" panose="02040503050406030204" pitchFamily="18" charset="0"/>
                      </a:rPr>
                      <m:t>(</m:t>
                    </m:r>
                    <m:r>
                      <a:rPr lang="en-GB" sz="2200" i="1" dirty="0" err="1">
                        <a:latin typeface="Cambria Math" panose="02040503050406030204" pitchFamily="18" charset="0"/>
                      </a:rPr>
                      <m:t>𝑖</m:t>
                    </m:r>
                    <m:r>
                      <a:rPr lang="en-GB" sz="2200" i="1" dirty="0">
                        <a:latin typeface="Cambria Math" panose="02040503050406030204" pitchFamily="18" charset="0"/>
                      </a:rPr>
                      <m:t> ,</m:t>
                    </m:r>
                    <m:r>
                      <a:rPr lang="en-GB" sz="2200" i="1" dirty="0">
                        <a:latin typeface="Cambria Math" panose="02040503050406030204" pitchFamily="18" charset="0"/>
                      </a:rPr>
                      <m:t>𝑗</m:t>
                    </m:r>
                    <m:r>
                      <a:rPr lang="en-GB" sz="2200" i="1" dirty="0">
                        <a:latin typeface="Cambria Math" panose="02040503050406030204" pitchFamily="18" charset="0"/>
                      </a:rPr>
                      <m:t>−1) </m:t>
                    </m:r>
                  </m:oMath>
                </a14:m>
                <a:r>
                  <a:rPr lang="en-GB" sz="2200" dirty="0"/>
                  <a:t>and </a:t>
                </a:r>
                <a14:m>
                  <m:oMath xmlns:m="http://schemas.openxmlformats.org/officeDocument/2006/math">
                    <m:d>
                      <m:dPr>
                        <m:ctrlPr>
                          <a:rPr lang="en-GB" sz="2200" i="1" dirty="0" err="1">
                            <a:latin typeface="Cambria Math" panose="02040503050406030204" pitchFamily="18" charset="0"/>
                          </a:rPr>
                        </m:ctrlPr>
                      </m:dPr>
                      <m:e>
                        <m:r>
                          <a:rPr lang="en-GB" sz="2200" i="1" dirty="0" err="1">
                            <a:latin typeface="Cambria Math" panose="02040503050406030204" pitchFamily="18" charset="0"/>
                          </a:rPr>
                          <m:t>𝑖</m:t>
                        </m:r>
                        <m:r>
                          <a:rPr lang="en-GB" sz="2200" i="1" dirty="0">
                            <a:latin typeface="Cambria Math" panose="02040503050406030204" pitchFamily="18" charset="0"/>
                          </a:rPr>
                          <m:t>, </m:t>
                        </m:r>
                        <m:r>
                          <a:rPr lang="en-GB" sz="2200" i="1" dirty="0">
                            <a:latin typeface="Cambria Math" panose="02040503050406030204" pitchFamily="18" charset="0"/>
                          </a:rPr>
                          <m:t>𝑗</m:t>
                        </m:r>
                        <m:r>
                          <a:rPr lang="en-GB" sz="2200" i="1" dirty="0">
                            <a:latin typeface="Cambria Math" panose="02040503050406030204" pitchFamily="18" charset="0"/>
                          </a:rPr>
                          <m:t>+1</m:t>
                        </m:r>
                      </m:e>
                    </m:d>
                  </m:oMath>
                </a14:m>
                <a:r>
                  <a:rPr lang="en-GB" sz="2200" dirty="0"/>
                  <a:t>[2].</a:t>
                </a:r>
              </a:p>
              <a:p>
                <a:endParaRPr lang="en-GB" sz="3200" dirty="0"/>
              </a:p>
              <a:p>
                <a:pPr marL="457200" indent="-457200">
                  <a:buFont typeface="Arial" panose="020B0604020202020204" pitchFamily="34" charset="0"/>
                  <a:buChar char="•"/>
                </a:pPr>
                <a:endParaRPr lang="en-GB" sz="3200" dirty="0"/>
              </a:p>
              <a:p>
                <a:pPr marL="457200" indent="-457200">
                  <a:buFont typeface="Arial" panose="020B0604020202020204" pitchFamily="34" charset="0"/>
                  <a:buChar char="•"/>
                </a:pPr>
                <a:endParaRPr lang="en-GB" sz="3200" dirty="0"/>
              </a:p>
            </p:txBody>
          </p:sp>
        </mc:Choice>
        <mc:Fallback xmlns="">
          <p:sp>
            <p:nvSpPr>
              <p:cNvPr id="12" name="TextBox 11">
                <a:extLst>
                  <a:ext uri="{FF2B5EF4-FFF2-40B4-BE49-F238E27FC236}">
                    <a16:creationId xmlns:a16="http://schemas.microsoft.com/office/drawing/2014/main" id="{934120AE-C9A0-50B7-9158-E1D51653CD0F}"/>
                  </a:ext>
                </a:extLst>
              </p:cNvPr>
              <p:cNvSpPr txBox="1">
                <a:spLocks noRot="1" noChangeAspect="1" noMove="1" noResize="1" noEditPoints="1" noAdjustHandles="1" noChangeArrowheads="1" noChangeShapeType="1" noTextEdit="1"/>
              </p:cNvSpPr>
              <p:nvPr/>
            </p:nvSpPr>
            <p:spPr>
              <a:xfrm>
                <a:off x="346869" y="3056582"/>
                <a:ext cx="7125835" cy="13882262"/>
              </a:xfrm>
              <a:prstGeom prst="rect">
                <a:avLst/>
              </a:prstGeom>
              <a:blipFill>
                <a:blip r:embed="rId3"/>
                <a:stretch>
                  <a:fillRect l="-1112" t="-263" r="-1540"/>
                </a:stretch>
              </a:blipFill>
            </p:spPr>
            <p:txBody>
              <a:bodyPr/>
              <a:lstStyle/>
              <a:p>
                <a:r>
                  <a:rPr lang="en-GB">
                    <a:noFill/>
                  </a:rPr>
                  <a:t> </a:t>
                </a:r>
              </a:p>
            </p:txBody>
          </p:sp>
        </mc:Fallback>
      </mc:AlternateContent>
      <p:sp>
        <p:nvSpPr>
          <p:cNvPr id="15" name="Rectangle 14">
            <a:extLst>
              <a:ext uri="{FF2B5EF4-FFF2-40B4-BE49-F238E27FC236}">
                <a16:creationId xmlns:a16="http://schemas.microsoft.com/office/drawing/2014/main" id="{3B988E04-5A6F-A033-C5DA-580267F3E306}"/>
              </a:ext>
            </a:extLst>
          </p:cNvPr>
          <p:cNvSpPr/>
          <p:nvPr/>
        </p:nvSpPr>
        <p:spPr>
          <a:xfrm>
            <a:off x="8057150" y="8692014"/>
            <a:ext cx="6594474" cy="7334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16" name="Rectangle 15">
            <a:extLst>
              <a:ext uri="{FF2B5EF4-FFF2-40B4-BE49-F238E27FC236}">
                <a16:creationId xmlns:a16="http://schemas.microsoft.com/office/drawing/2014/main" id="{F68EB148-53A1-DB76-4558-50F32F00F47D}"/>
              </a:ext>
            </a:extLst>
          </p:cNvPr>
          <p:cNvSpPr/>
          <p:nvPr/>
        </p:nvSpPr>
        <p:spPr>
          <a:xfrm>
            <a:off x="15094989" y="4085091"/>
            <a:ext cx="5956300" cy="60405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18" name="Rectangle 17">
            <a:extLst>
              <a:ext uri="{FF2B5EF4-FFF2-40B4-BE49-F238E27FC236}">
                <a16:creationId xmlns:a16="http://schemas.microsoft.com/office/drawing/2014/main" id="{E7A57ABA-3D08-2D50-A064-7FC53A59E7EA}"/>
              </a:ext>
            </a:extLst>
          </p:cNvPr>
          <p:cNvSpPr/>
          <p:nvPr/>
        </p:nvSpPr>
        <p:spPr>
          <a:xfrm>
            <a:off x="15274922" y="13725793"/>
            <a:ext cx="5956300" cy="41339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pic>
        <p:nvPicPr>
          <p:cNvPr id="22" name="Picture 21" descr="A graph with a line&#10;&#10;AI-generated content may be incorrect.">
            <a:extLst>
              <a:ext uri="{FF2B5EF4-FFF2-40B4-BE49-F238E27FC236}">
                <a16:creationId xmlns:a16="http://schemas.microsoft.com/office/drawing/2014/main" id="{797B79FB-8770-D32C-C6E7-BA87D887229F}"/>
              </a:ext>
            </a:extLst>
          </p:cNvPr>
          <p:cNvPicPr>
            <a:picLocks noChangeAspect="1"/>
          </p:cNvPicPr>
          <p:nvPr/>
        </p:nvPicPr>
        <p:blipFill>
          <a:blip r:embed="rId4">
            <a:extLst>
              <a:ext uri="{28A0092B-C50C-407E-A947-70E740481C1C}">
                <a14:useLocalDpi xmlns:a14="http://schemas.microsoft.com/office/drawing/2010/main" val="0"/>
              </a:ext>
            </a:extLst>
          </a:blip>
          <a:srcRect l="1802" t="6597" r="8775" b="1459"/>
          <a:stretch>
            <a:fillRect/>
          </a:stretch>
        </p:blipFill>
        <p:spPr>
          <a:xfrm>
            <a:off x="15094989" y="7119264"/>
            <a:ext cx="6034153" cy="4653325"/>
          </a:xfrm>
          <a:prstGeom prst="rect">
            <a:avLst/>
          </a:prstGeom>
        </p:spPr>
      </p:pic>
      <p:pic>
        <p:nvPicPr>
          <p:cNvPr id="25" name="Picture 24" descr="A screenshot of a game&#10;&#10;AI-generated content may be incorrect.">
            <a:extLst>
              <a:ext uri="{FF2B5EF4-FFF2-40B4-BE49-F238E27FC236}">
                <a16:creationId xmlns:a16="http://schemas.microsoft.com/office/drawing/2014/main" id="{0A098208-DECC-ED7A-5EAB-572429DD39E8}"/>
              </a:ext>
            </a:extLst>
          </p:cNvPr>
          <p:cNvPicPr>
            <a:picLocks noChangeAspect="1"/>
          </p:cNvPicPr>
          <p:nvPr/>
        </p:nvPicPr>
        <p:blipFill>
          <a:blip r:embed="rId5">
            <a:extLst>
              <a:ext uri="{28A0092B-C50C-407E-A947-70E740481C1C}">
                <a14:useLocalDpi xmlns:a14="http://schemas.microsoft.com/office/drawing/2010/main" val="0"/>
              </a:ext>
            </a:extLst>
          </a:blip>
          <a:srcRect r="53893" b="67039"/>
          <a:stretch>
            <a:fillRect/>
          </a:stretch>
        </p:blipFill>
        <p:spPr>
          <a:xfrm>
            <a:off x="528903" y="5510284"/>
            <a:ext cx="3369843" cy="3407725"/>
          </a:xfrm>
          <a:prstGeom prst="rect">
            <a:avLst/>
          </a:prstGeom>
        </p:spPr>
      </p:pic>
      <p:sp>
        <p:nvSpPr>
          <p:cNvPr id="26" name="TextBox 25">
            <a:extLst>
              <a:ext uri="{FF2B5EF4-FFF2-40B4-BE49-F238E27FC236}">
                <a16:creationId xmlns:a16="http://schemas.microsoft.com/office/drawing/2014/main" id="{3CAB59E5-F6D0-D71D-13A3-F9D8169E4722}"/>
              </a:ext>
            </a:extLst>
          </p:cNvPr>
          <p:cNvSpPr txBox="1"/>
          <p:nvPr/>
        </p:nvSpPr>
        <p:spPr>
          <a:xfrm>
            <a:off x="7971425" y="2019196"/>
            <a:ext cx="6680199" cy="1446550"/>
          </a:xfrm>
          <a:prstGeom prst="rect">
            <a:avLst/>
          </a:prstGeom>
          <a:noFill/>
        </p:spPr>
        <p:txBody>
          <a:bodyPr wrap="square" rtlCol="0">
            <a:spAutoFit/>
          </a:bodyPr>
          <a:lstStyle/>
          <a:p>
            <a:r>
              <a:rPr lang="en-GB" sz="2200" dirty="0"/>
              <a:t>J is the interaction strength between neighbouring spins, with J &gt; 0 and J &lt; 0 corresponding with the tendency for neighbouring spins to align or anti-align, respectively.</a:t>
            </a:r>
          </a:p>
        </p:txBody>
      </p:sp>
      <p:sp>
        <p:nvSpPr>
          <p:cNvPr id="27" name="Rectangle 26">
            <a:extLst>
              <a:ext uri="{FF2B5EF4-FFF2-40B4-BE49-F238E27FC236}">
                <a16:creationId xmlns:a16="http://schemas.microsoft.com/office/drawing/2014/main" id="{EF01C437-1488-D0E4-F101-B7D418ABCBCD}"/>
              </a:ext>
            </a:extLst>
          </p:cNvPr>
          <p:cNvSpPr/>
          <p:nvPr/>
        </p:nvSpPr>
        <p:spPr>
          <a:xfrm>
            <a:off x="2283435" y="13384555"/>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F2F7DCEE-6F03-731A-42FB-F052112FBBBB}"/>
              </a:ext>
            </a:extLst>
          </p:cNvPr>
          <p:cNvSpPr/>
          <p:nvPr/>
        </p:nvSpPr>
        <p:spPr>
          <a:xfrm>
            <a:off x="4217147" y="13384555"/>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8E7808F-3DDA-04F2-B155-69C37C2B5BC4}"/>
                  </a:ext>
                </a:extLst>
              </p:cNvPr>
              <p:cNvSpPr txBox="1"/>
              <p:nvPr/>
            </p:nvSpPr>
            <p:spPr>
              <a:xfrm>
                <a:off x="7923797" y="4208061"/>
                <a:ext cx="6861180" cy="4653325"/>
              </a:xfrm>
              <a:prstGeom prst="rect">
                <a:avLst/>
              </a:prstGeom>
              <a:noFill/>
            </p:spPr>
            <p:txBody>
              <a:bodyPr wrap="square" rtlCol="0">
                <a:spAutoFit/>
              </a:bodyPr>
              <a:lstStyle/>
              <a:p>
                <a:r>
                  <a:rPr lang="en-GB" sz="2200" dirty="0"/>
                  <a:t>Even using a small lattice, checking each possible state configuration would be impossible. To address this and remove configurations that are extremely unlikely, we consider the partition function, </a:t>
                </a:r>
                <a14:m>
                  <m:oMath xmlns:m="http://schemas.openxmlformats.org/officeDocument/2006/math">
                    <m:r>
                      <a:rPr lang="en-GB" sz="2200" b="0" i="1" smtClean="0">
                        <a:latin typeface="Cambria Math" panose="02040503050406030204" pitchFamily="18" charset="0"/>
                      </a:rPr>
                      <m:t>𝑍</m:t>
                    </m:r>
                  </m:oMath>
                </a14:m>
                <a:r>
                  <a:rPr lang="en-GB" sz="2200" dirty="0"/>
                  <a:t>. This helps us determine which  states are most probable at a given temperature, so we can restrict our consideration to these configurations only. We define the partition function as </a:t>
                </a:r>
              </a:p>
              <a:p>
                <a:pPr/>
                <a14:m>
                  <m:oMathPara xmlns:m="http://schemas.openxmlformats.org/officeDocument/2006/math">
                    <m:oMathParaPr>
                      <m:jc m:val="centerGroup"/>
                    </m:oMathParaPr>
                    <m:oMath xmlns:m="http://schemas.openxmlformats.org/officeDocument/2006/math">
                      <m:r>
                        <a:rPr lang="en-GB" sz="2200" b="0" i="1" smtClean="0">
                          <a:latin typeface="Cambria Math" panose="02040503050406030204" pitchFamily="18" charset="0"/>
                        </a:rPr>
                        <m:t>𝑍</m:t>
                      </m:r>
                      <m:r>
                        <a:rPr lang="en-GB" sz="2200" b="0" i="1" smtClean="0">
                          <a:latin typeface="Cambria Math" panose="02040503050406030204" pitchFamily="18" charset="0"/>
                        </a:rPr>
                        <m:t>= </m:t>
                      </m:r>
                      <m:nary>
                        <m:naryPr>
                          <m:chr m:val="∑"/>
                          <m:supHide m:val="on"/>
                          <m:ctrlPr>
                            <a:rPr lang="en-GB" sz="2200" b="0" i="1" smtClean="0">
                              <a:latin typeface="Cambria Math" panose="02040503050406030204" pitchFamily="18" charset="0"/>
                            </a:rPr>
                          </m:ctrlPr>
                        </m:naryPr>
                        <m:sub>
                          <m:r>
                            <m:rPr>
                              <m:brk m:alnAt="7"/>
                            </m:rPr>
                            <a:rPr lang="en-GB" sz="2200" b="0" i="1" smtClean="0">
                              <a:latin typeface="Cambria Math" panose="02040503050406030204" pitchFamily="18" charset="0"/>
                            </a:rPr>
                            <m:t>𝑖</m:t>
                          </m:r>
                        </m:sub>
                        <m:sup/>
                        <m:e>
                          <m:r>
                            <m:rPr>
                              <m:sty m:val="p"/>
                            </m:rPr>
                            <a:rPr lang="en-GB" sz="2200" b="0" i="0" smtClean="0">
                              <a:latin typeface="Cambria Math" panose="02040503050406030204" pitchFamily="18" charset="0"/>
                            </a:rPr>
                            <m:t>exp</m:t>
                          </m:r>
                          <m:r>
                            <a:rPr lang="en-GB" sz="2200" b="0" i="1" smtClean="0">
                              <a:latin typeface="Cambria Math" panose="02040503050406030204" pitchFamily="18" charset="0"/>
                            </a:rPr>
                            <m:t>⁡</m:t>
                          </m:r>
                          <m:f>
                            <m:fPr>
                              <m:type m:val="skw"/>
                              <m:ctrlPr>
                                <a:rPr lang="en-GB" sz="2200" b="0" i="1" smtClean="0">
                                  <a:latin typeface="Cambria Math" panose="02040503050406030204" pitchFamily="18" charset="0"/>
                                </a:rPr>
                              </m:ctrlPr>
                            </m:fPr>
                            <m:num>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𝐸</m:t>
                                  </m:r>
                                </m:e>
                                <m:sub>
                                  <m:r>
                                    <a:rPr lang="en-GB" sz="2200" b="0" i="1" smtClean="0">
                                      <a:latin typeface="Cambria Math" panose="02040503050406030204" pitchFamily="18" charset="0"/>
                                    </a:rPr>
                                    <m:t>𝑖</m:t>
                                  </m:r>
                                </m:sub>
                              </m:sSub>
                            </m:num>
                            <m:den>
                              <m:r>
                                <a:rPr lang="en-GB" sz="2200" b="0" i="1" smtClean="0">
                                  <a:latin typeface="Cambria Math" panose="02040503050406030204" pitchFamily="18" charset="0"/>
                                </a:rPr>
                                <m:t>𝑘𝑇</m:t>
                              </m:r>
                            </m:den>
                          </m:f>
                        </m:e>
                      </m:nary>
                      <m:r>
                        <a:rPr lang="en-GB" sz="2200" b="0" i="0" smtClean="0">
                          <a:latin typeface="Cambria Math" panose="02040503050406030204" pitchFamily="18" charset="0"/>
                        </a:rPr>
                        <m:t>,</m:t>
                      </m:r>
                    </m:oMath>
                  </m:oMathPara>
                </a14:m>
                <a:endParaRPr lang="en-GB" sz="2200" dirty="0"/>
              </a:p>
              <a:p>
                <a:r>
                  <a:rPr lang="en-GB" sz="2200" dirty="0"/>
                  <a:t>where </a:t>
                </a: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𝐸</m:t>
                        </m:r>
                      </m:e>
                      <m:sub>
                        <m:r>
                          <a:rPr lang="en-GB" sz="2200" b="0" i="1" smtClean="0">
                            <a:latin typeface="Cambria Math" panose="02040503050406030204" pitchFamily="18" charset="0"/>
                          </a:rPr>
                          <m:t>𝑖</m:t>
                        </m:r>
                      </m:sub>
                    </m:sSub>
                  </m:oMath>
                </a14:m>
                <a:r>
                  <a:rPr lang="en-GB" sz="2200" dirty="0"/>
                  <a:t> is the energy of state </a:t>
                </a:r>
                <a14:m>
                  <m:oMath xmlns:m="http://schemas.openxmlformats.org/officeDocument/2006/math">
                    <m:r>
                      <a:rPr lang="en-GB" sz="2200" b="0" i="1" smtClean="0">
                        <a:latin typeface="Cambria Math" panose="02040503050406030204" pitchFamily="18" charset="0"/>
                      </a:rPr>
                      <m:t>𝑖</m:t>
                    </m:r>
                  </m:oMath>
                </a14:m>
                <a:r>
                  <a:rPr lang="en-GB" sz="2200" dirty="0">
                    <a:ea typeface="Cambria Math" panose="02040503050406030204" pitchFamily="18" charset="0"/>
                  </a:rPr>
                  <a:t>, </a:t>
                </a:r>
                <a14:m>
                  <m:oMath xmlns:m="http://schemas.openxmlformats.org/officeDocument/2006/math">
                    <m:r>
                      <a:rPr lang="en-GB" sz="2200" b="0" i="1" smtClean="0">
                        <a:latin typeface="Cambria Math" panose="02040503050406030204" pitchFamily="18" charset="0"/>
                        <a:ea typeface="Cambria Math" panose="02040503050406030204" pitchFamily="18" charset="0"/>
                      </a:rPr>
                      <m:t>𝑘</m:t>
                    </m:r>
                  </m:oMath>
                </a14:m>
                <a:r>
                  <a:rPr lang="en-GB" sz="2200" dirty="0">
                    <a:ea typeface="Cambria Math" panose="02040503050406030204" pitchFamily="18" charset="0"/>
                  </a:rPr>
                  <a:t> is the Boltzmann constant, and T is the temperature of the system.</a:t>
                </a:r>
              </a:p>
              <a:p>
                <a:endParaRPr lang="en-GB" sz="2300" dirty="0">
                  <a:latin typeface="Cambria Math" panose="02040503050406030204" pitchFamily="18" charset="0"/>
                  <a:ea typeface="Cambria Math" panose="02040503050406030204" pitchFamily="18" charset="0"/>
                </a:endParaRPr>
              </a:p>
            </p:txBody>
          </p:sp>
        </mc:Choice>
        <mc:Fallback xmlns="">
          <p:sp>
            <p:nvSpPr>
              <p:cNvPr id="32" name="TextBox 31">
                <a:extLst>
                  <a:ext uri="{FF2B5EF4-FFF2-40B4-BE49-F238E27FC236}">
                    <a16:creationId xmlns:a16="http://schemas.microsoft.com/office/drawing/2014/main" id="{A8E7808F-3DDA-04F2-B155-69C37C2B5BC4}"/>
                  </a:ext>
                </a:extLst>
              </p:cNvPr>
              <p:cNvSpPr txBox="1">
                <a:spLocks noRot="1" noChangeAspect="1" noMove="1" noResize="1" noEditPoints="1" noAdjustHandles="1" noChangeArrowheads="1" noChangeShapeType="1" noTextEdit="1"/>
              </p:cNvSpPr>
              <p:nvPr/>
            </p:nvSpPr>
            <p:spPr>
              <a:xfrm>
                <a:off x="7923797" y="4208061"/>
                <a:ext cx="6861180" cy="4653325"/>
              </a:xfrm>
              <a:prstGeom prst="rect">
                <a:avLst/>
              </a:prstGeom>
              <a:blipFill>
                <a:blip r:embed="rId6"/>
                <a:stretch>
                  <a:fillRect l="-1156" t="-785" r="-1689"/>
                </a:stretch>
              </a:blipFill>
            </p:spPr>
            <p:txBody>
              <a:bodyPr/>
              <a:lstStyle/>
              <a:p>
                <a:r>
                  <a:rPr lang="en-GB">
                    <a:noFill/>
                  </a:rPr>
                  <a:t> </a:t>
                </a:r>
              </a:p>
            </p:txBody>
          </p:sp>
        </mc:Fallback>
      </mc:AlternateContent>
      <p:sp>
        <p:nvSpPr>
          <p:cNvPr id="33" name="TextBox 32">
            <a:extLst>
              <a:ext uri="{FF2B5EF4-FFF2-40B4-BE49-F238E27FC236}">
                <a16:creationId xmlns:a16="http://schemas.microsoft.com/office/drawing/2014/main" id="{3E348A42-F40C-65ED-3EE1-2BDB17C93E44}"/>
              </a:ext>
            </a:extLst>
          </p:cNvPr>
          <p:cNvSpPr txBox="1"/>
          <p:nvPr/>
        </p:nvSpPr>
        <p:spPr>
          <a:xfrm>
            <a:off x="15059853" y="1994753"/>
            <a:ext cx="6255300" cy="2123658"/>
          </a:xfrm>
          <a:prstGeom prst="rect">
            <a:avLst/>
          </a:prstGeom>
          <a:noFill/>
        </p:spPr>
        <p:txBody>
          <a:bodyPr wrap="square" rtlCol="0">
            <a:spAutoFit/>
          </a:bodyPr>
          <a:lstStyle/>
          <a:p>
            <a:r>
              <a:rPr lang="en-GB" sz="2200" dirty="0">
                <a:cs typeface="Times New Roman" panose="02020603050405020304" pitchFamily="18" charset="0"/>
              </a:rPr>
              <a:t>3) If neither condition is met, retain original spin</a:t>
            </a:r>
          </a:p>
          <a:p>
            <a:r>
              <a:rPr lang="en-GB" sz="2200" dirty="0">
                <a:cs typeface="Times New Roman" panose="02020603050405020304" pitchFamily="18" charset="0"/>
              </a:rPr>
              <a:t>We then repeat these steps for every lattice point, applying periodic boundary conditions where necessary. This entire process is an implementation of the well-known metropolis algorithm [3].</a:t>
            </a:r>
            <a:endParaRPr lang="en-GB"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318423-8925-84AB-F6DC-292C2B4E41A5}"/>
                  </a:ext>
                </a:extLst>
              </p:cNvPr>
              <p:cNvSpPr txBox="1"/>
              <p:nvPr/>
            </p:nvSpPr>
            <p:spPr>
              <a:xfrm>
                <a:off x="8152552" y="9425484"/>
                <a:ext cx="6727827" cy="6935232"/>
              </a:xfrm>
              <a:prstGeom prst="rect">
                <a:avLst/>
              </a:prstGeom>
              <a:noFill/>
            </p:spPr>
            <p:txBody>
              <a:bodyPr wrap="square" rtlCol="0">
                <a:spAutoFit/>
              </a:bodyPr>
              <a:lstStyle/>
              <a:p>
                <a:r>
                  <a:rPr lang="en-GB" sz="2200" dirty="0">
                    <a:cs typeface="Times New Roman" panose="02020603050405020304" pitchFamily="18" charset="0"/>
                  </a:rPr>
                  <a:t>By flipping the spin of one lattice site and calculating the change in energy, we can use the partition function to see how likely this change is to occur. Since flipping a spin only effects the 4 nearest neighbours, we find the change in energy to be given by: </a:t>
                </a:r>
              </a:p>
              <a:p>
                <a:endParaRPr lang="en-GB" sz="2200" dirty="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m:rPr>
                          <m:sty m:val="p"/>
                        </m:rPr>
                        <a:rPr lang="en-GB" sz="2200" b="0" i="0" smtClean="0">
                          <a:latin typeface="Cambria Math" panose="02040503050406030204" pitchFamily="18" charset="0"/>
                          <a:cs typeface="Times New Roman" panose="02020603050405020304" pitchFamily="18" charset="0"/>
                        </a:rPr>
                        <m:t>Δ</m:t>
                      </m:r>
                      <m:r>
                        <a:rPr lang="en-GB" sz="2200" b="0" i="1" smtClean="0">
                          <a:latin typeface="Cambria Math" panose="02040503050406030204" pitchFamily="18" charset="0"/>
                          <a:cs typeface="Times New Roman" panose="02020603050405020304" pitchFamily="18" charset="0"/>
                        </a:rPr>
                        <m:t>𝐸</m:t>
                      </m:r>
                      <m:r>
                        <a:rPr lang="en-GB" sz="2200" b="0" i="1" smtClean="0">
                          <a:latin typeface="Cambria Math" panose="02040503050406030204" pitchFamily="18" charset="0"/>
                          <a:cs typeface="Times New Roman" panose="02020603050405020304" pitchFamily="18" charset="0"/>
                        </a:rPr>
                        <m:t>=−2</m:t>
                      </m:r>
                      <m:d>
                        <m:dPr>
                          <m:begChr m:val="["/>
                          <m:endChr m:val="]"/>
                          <m:ctrlPr>
                            <a:rPr lang="en-GB" sz="2200" b="0" i="1" smtClean="0">
                              <a:latin typeface="Cambria Math" panose="02040503050406030204" pitchFamily="18" charset="0"/>
                              <a:cs typeface="Times New Roman" panose="02020603050405020304" pitchFamily="18" charset="0"/>
                            </a:rPr>
                          </m:ctrlPr>
                        </m:dPr>
                        <m:e>
                          <m:r>
                            <a:rPr lang="en-GB" sz="2200" b="0" i="1" smtClean="0">
                              <a:latin typeface="Cambria Math" panose="02040503050406030204" pitchFamily="18" charset="0"/>
                              <a:cs typeface="Times New Roman" panose="02020603050405020304" pitchFamily="18" charset="0"/>
                            </a:rPr>
                            <m:t>𝐽𝑓</m:t>
                          </m:r>
                          <m:r>
                            <a:rPr lang="en-GB" sz="2200" b="0" i="1" smtClean="0">
                              <a:latin typeface="Cambria Math" panose="02040503050406030204" pitchFamily="18" charset="0"/>
                              <a:cs typeface="Times New Roman" panose="02020603050405020304" pitchFamily="18" charset="0"/>
                            </a:rPr>
                            <m:t>+</m:t>
                          </m:r>
                          <m:r>
                            <a:rPr lang="en-GB" sz="2200" b="0" i="1" smtClean="0">
                              <a:latin typeface="Cambria Math" panose="02040503050406030204" pitchFamily="18" charset="0"/>
                              <a:cs typeface="Times New Roman" panose="02020603050405020304" pitchFamily="18" charset="0"/>
                            </a:rPr>
                            <m:t>𝐵</m:t>
                          </m:r>
                        </m:e>
                      </m:d>
                      <m:sSub>
                        <m:sSubPr>
                          <m:ctrlPr>
                            <a:rPr lang="en-GB" sz="2200" b="0" i="1" smtClean="0">
                              <a:latin typeface="Cambria Math" panose="02040503050406030204" pitchFamily="18" charset="0"/>
                              <a:cs typeface="Times New Roman" panose="02020603050405020304" pitchFamily="18" charset="0"/>
                            </a:rPr>
                          </m:ctrlPr>
                        </m:sSubPr>
                        <m:e>
                          <m:r>
                            <a:rPr lang="en-GB" sz="2200" b="0" i="1" smtClean="0">
                              <a:latin typeface="Cambria Math" panose="02040503050406030204" pitchFamily="18" charset="0"/>
                              <a:cs typeface="Times New Roman" panose="02020603050405020304" pitchFamily="18" charset="0"/>
                            </a:rPr>
                            <m:t>𝑆</m:t>
                          </m:r>
                        </m:e>
                        <m:sub>
                          <m:r>
                            <m:rPr>
                              <m:sty m:val="p"/>
                            </m:rPr>
                            <a:rPr lang="en-GB" sz="2200" b="0" i="1" smtClean="0">
                              <a:latin typeface="Cambria Math" panose="02040503050406030204" pitchFamily="18" charset="0"/>
                              <a:cs typeface="Times New Roman" panose="02020603050405020304" pitchFamily="18" charset="0"/>
                            </a:rPr>
                            <m:t>α</m:t>
                          </m:r>
                        </m:sub>
                      </m:sSub>
                      <m:r>
                        <a:rPr lang="en-GB" sz="2200" b="0" i="0" smtClean="0">
                          <a:latin typeface="Cambria Math" panose="02040503050406030204" pitchFamily="18" charset="0"/>
                          <a:cs typeface="Times New Roman" panose="02020603050405020304" pitchFamily="18" charset="0"/>
                        </a:rPr>
                        <m:t>,</m:t>
                      </m:r>
                    </m:oMath>
                  </m:oMathPara>
                </a14:m>
                <a:endParaRPr lang="en-GB" sz="2200" b="0" dirty="0">
                  <a:cs typeface="Times New Roman" panose="02020603050405020304" pitchFamily="18" charset="0"/>
                </a:endParaRPr>
              </a:p>
              <a:p>
                <a:endParaRPr lang="en-GB" sz="2200" b="0" dirty="0">
                  <a:cs typeface="Times New Roman" panose="02020603050405020304" pitchFamily="18" charset="0"/>
                </a:endParaRPr>
              </a:p>
              <a:p>
                <a:r>
                  <a:rPr lang="en-GB" sz="2200" dirty="0">
                    <a:cs typeface="Times New Roman" panose="02020603050405020304" pitchFamily="18" charset="0"/>
                  </a:rPr>
                  <a:t>where f is the sum of the flipped site’s 4 nearest neighbours, and the negative sign ensures fully aligned spins correlate to a lower energy state. Whether or not we keep the flipped state depends on whether it meets the following criteria: </a:t>
                </a:r>
              </a:p>
              <a:p>
                <a:pPr marL="342900" indent="-342900">
                  <a:buAutoNum type="arabicParenR"/>
                </a:pPr>
                <a:r>
                  <a:rPr lang="en-GB" sz="2200" dirty="0">
                    <a:cs typeface="Times New Roman" panose="02020603050405020304" pitchFamily="18" charset="0"/>
                  </a:rPr>
                  <a:t>If </a:t>
                </a:r>
                <a14:m>
                  <m:oMath xmlns:m="http://schemas.openxmlformats.org/officeDocument/2006/math">
                    <m:func>
                      <m:funcPr>
                        <m:ctrlPr>
                          <a:rPr lang="en-GB" sz="2200" i="1">
                            <a:latin typeface="Cambria Math" panose="02040503050406030204" pitchFamily="18" charset="0"/>
                          </a:rPr>
                        </m:ctrlPr>
                      </m:funcPr>
                      <m:fName>
                        <m:r>
                          <m:rPr>
                            <m:sty m:val="p"/>
                          </m:rPr>
                          <a:rPr lang="en-GB" sz="2200">
                            <a:latin typeface="Cambria Math" panose="02040503050406030204" pitchFamily="18" charset="0"/>
                          </a:rPr>
                          <m:t>exp</m:t>
                        </m:r>
                      </m:fName>
                      <m:e>
                        <m:d>
                          <m:dPr>
                            <m:ctrlPr>
                              <a:rPr lang="en-GB" sz="2200" i="1">
                                <a:latin typeface="Cambria Math" panose="02040503050406030204" pitchFamily="18" charset="0"/>
                              </a:rPr>
                            </m:ctrlPr>
                          </m:dPr>
                          <m:e>
                            <m:f>
                              <m:fPr>
                                <m:type m:val="skw"/>
                                <m:ctrlPr>
                                  <a:rPr lang="en-GB" sz="2200" i="1">
                                    <a:latin typeface="Cambria Math" panose="02040503050406030204" pitchFamily="18" charset="0"/>
                                  </a:rPr>
                                </m:ctrlPr>
                              </m:fPr>
                              <m:num>
                                <m:r>
                                  <m:rPr>
                                    <m:sty m:val="p"/>
                                  </m:rPr>
                                  <a:rPr lang="en-GB" sz="2200">
                                    <a:latin typeface="Cambria Math" panose="02040503050406030204" pitchFamily="18" charset="0"/>
                                  </a:rPr>
                                  <m:t>Δ</m:t>
                                </m:r>
                                <m:r>
                                  <a:rPr lang="en-GB" sz="2200" i="1">
                                    <a:latin typeface="Cambria Math" panose="02040503050406030204" pitchFamily="18" charset="0"/>
                                  </a:rPr>
                                  <m:t>𝐸</m:t>
                                </m:r>
                              </m:num>
                              <m:den>
                                <m:r>
                                  <a:rPr lang="en-GB" sz="2200" i="1">
                                    <a:latin typeface="Cambria Math" panose="02040503050406030204" pitchFamily="18" charset="0"/>
                                  </a:rPr>
                                  <m:t>𝑘𝑇</m:t>
                                </m:r>
                              </m:den>
                            </m:f>
                          </m:e>
                        </m:d>
                      </m:e>
                    </m:func>
                    <m:r>
                      <a:rPr lang="en-GB" sz="2200" i="1">
                        <a:latin typeface="Cambria Math" panose="02040503050406030204" pitchFamily="18" charset="0"/>
                      </a:rPr>
                      <m:t>&gt;1  </m:t>
                    </m:r>
                  </m:oMath>
                </a14:m>
                <a:r>
                  <a:rPr lang="en-GB" sz="2200" dirty="0">
                    <a:cs typeface="Times New Roman" panose="02020603050405020304" pitchFamily="18" charset="0"/>
                  </a:rPr>
                  <a:t>keep the flipped spin</a:t>
                </a:r>
              </a:p>
              <a:p>
                <a:pPr marL="342900" indent="-342900">
                  <a:buAutoNum type="arabicParenR"/>
                </a:pPr>
                <a:r>
                  <a:rPr lang="en-GB" sz="2200" dirty="0">
                    <a:cs typeface="Times New Roman" panose="02020603050405020304" pitchFamily="18" charset="0"/>
                  </a:rPr>
                  <a:t>If not, generate a random number, </a:t>
                </a:r>
                <a14:m>
                  <m:oMath xmlns:m="http://schemas.openxmlformats.org/officeDocument/2006/math">
                    <m:r>
                      <a:rPr lang="en-GB" sz="2200" i="1" dirty="0">
                        <a:latin typeface="Cambria Math" panose="02040503050406030204" pitchFamily="18" charset="0"/>
                      </a:rPr>
                      <m:t>𝑛</m:t>
                    </m:r>
                  </m:oMath>
                </a14:m>
                <a:r>
                  <a:rPr lang="en-GB" sz="2200" dirty="0">
                    <a:cs typeface="Times New Roman" panose="02020603050405020304" pitchFamily="18" charset="0"/>
                  </a:rPr>
                  <a:t>, between 0 and 1. If </a:t>
                </a:r>
                <a14:m>
                  <m:oMath xmlns:m="http://schemas.openxmlformats.org/officeDocument/2006/math">
                    <m:func>
                      <m:funcPr>
                        <m:ctrlPr>
                          <a:rPr lang="en-GB" sz="2200" i="1">
                            <a:latin typeface="Cambria Math" panose="02040503050406030204" pitchFamily="18" charset="0"/>
                          </a:rPr>
                        </m:ctrlPr>
                      </m:funcPr>
                      <m:fName>
                        <m:r>
                          <m:rPr>
                            <m:sty m:val="p"/>
                          </m:rPr>
                          <a:rPr lang="en-GB" sz="2200">
                            <a:latin typeface="Cambria Math" panose="02040503050406030204" pitchFamily="18" charset="0"/>
                          </a:rPr>
                          <m:t>exp</m:t>
                        </m:r>
                      </m:fName>
                      <m:e>
                        <m:d>
                          <m:dPr>
                            <m:ctrlPr>
                              <a:rPr lang="en-GB" sz="2200" i="1">
                                <a:latin typeface="Cambria Math" panose="02040503050406030204" pitchFamily="18" charset="0"/>
                              </a:rPr>
                            </m:ctrlPr>
                          </m:dPr>
                          <m:e>
                            <m:f>
                              <m:fPr>
                                <m:type m:val="skw"/>
                                <m:ctrlPr>
                                  <a:rPr lang="en-GB" sz="2200" i="1">
                                    <a:latin typeface="Cambria Math" panose="02040503050406030204" pitchFamily="18" charset="0"/>
                                  </a:rPr>
                                </m:ctrlPr>
                              </m:fPr>
                              <m:num>
                                <m:r>
                                  <m:rPr>
                                    <m:sty m:val="p"/>
                                  </m:rPr>
                                  <a:rPr lang="en-GB" sz="2200">
                                    <a:latin typeface="Cambria Math" panose="02040503050406030204" pitchFamily="18" charset="0"/>
                                  </a:rPr>
                                  <m:t>Δ</m:t>
                                </m:r>
                                <m:r>
                                  <a:rPr lang="en-GB" sz="2200" i="1">
                                    <a:latin typeface="Cambria Math" panose="02040503050406030204" pitchFamily="18" charset="0"/>
                                  </a:rPr>
                                  <m:t>𝐸</m:t>
                                </m:r>
                              </m:num>
                              <m:den>
                                <m:r>
                                  <a:rPr lang="en-GB" sz="2200" i="1">
                                    <a:latin typeface="Cambria Math" panose="02040503050406030204" pitchFamily="18" charset="0"/>
                                  </a:rPr>
                                  <m:t>𝑘𝑇</m:t>
                                </m:r>
                              </m:den>
                            </m:f>
                          </m:e>
                        </m:d>
                      </m:e>
                    </m:func>
                    <m:r>
                      <a:rPr lang="en-GB" sz="2200" i="1">
                        <a:latin typeface="Cambria Math" panose="02040503050406030204" pitchFamily="18" charset="0"/>
                      </a:rPr>
                      <m:t>&gt;</m:t>
                    </m:r>
                    <m:r>
                      <a:rPr lang="en-GB" sz="2200" i="1">
                        <a:latin typeface="Cambria Math" panose="02040503050406030204" pitchFamily="18" charset="0"/>
                      </a:rPr>
                      <m:t>𝑛</m:t>
                    </m:r>
                  </m:oMath>
                </a14:m>
                <a:r>
                  <a:rPr lang="en-GB" sz="2200" dirty="0">
                    <a:cs typeface="Times New Roman" panose="02020603050405020304" pitchFamily="18" charset="0"/>
                  </a:rPr>
                  <a:t>, keep the flipped spin</a:t>
                </a:r>
              </a:p>
              <a:p>
                <a:endParaRPr lang="en-GB" sz="2200" dirty="0">
                  <a:latin typeface="Times New Roman" panose="02020603050405020304" pitchFamily="18" charset="0"/>
                  <a:cs typeface="Times New Roman" panose="02020603050405020304" pitchFamily="18" charset="0"/>
                </a:endParaRPr>
              </a:p>
              <a:p>
                <a:endParaRPr lang="en-GB" sz="2300" b="0" dirty="0">
                  <a:latin typeface="Times New Roman" panose="02020603050405020304" pitchFamily="18" charset="0"/>
                  <a:cs typeface="Times New Roman" panose="02020603050405020304" pitchFamily="18" charset="0"/>
                </a:endParaRPr>
              </a:p>
              <a:p>
                <a:endParaRPr lang="en-GB" sz="2400" dirty="0">
                  <a:latin typeface="Times New Roman" panose="02020603050405020304" pitchFamily="18" charset="0"/>
                  <a:cs typeface="Times New Roman" panose="02020603050405020304" pitchFamily="18" charset="0"/>
                </a:endParaRPr>
              </a:p>
              <a:p>
                <a:endParaRPr lang="en-GB" dirty="0"/>
              </a:p>
            </p:txBody>
          </p:sp>
        </mc:Choice>
        <mc:Fallback xmlns="">
          <p:sp>
            <p:nvSpPr>
              <p:cNvPr id="2" name="TextBox 1">
                <a:extLst>
                  <a:ext uri="{FF2B5EF4-FFF2-40B4-BE49-F238E27FC236}">
                    <a16:creationId xmlns:a16="http://schemas.microsoft.com/office/drawing/2014/main" id="{CA318423-8925-84AB-F6DC-292C2B4E41A5}"/>
                  </a:ext>
                </a:extLst>
              </p:cNvPr>
              <p:cNvSpPr txBox="1">
                <a:spLocks noRot="1" noChangeAspect="1" noMove="1" noResize="1" noEditPoints="1" noAdjustHandles="1" noChangeArrowheads="1" noChangeShapeType="1" noTextEdit="1"/>
              </p:cNvSpPr>
              <p:nvPr/>
            </p:nvSpPr>
            <p:spPr>
              <a:xfrm>
                <a:off x="8152552" y="9425484"/>
                <a:ext cx="6727827" cy="6935232"/>
              </a:xfrm>
              <a:prstGeom prst="rect">
                <a:avLst/>
              </a:prstGeom>
              <a:blipFill>
                <a:blip r:embed="rId7"/>
                <a:stretch>
                  <a:fillRect l="-1178" t="-615" r="-172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1F32D44-20AA-2A2C-3876-692BE6DCBA8C}"/>
                  </a:ext>
                </a:extLst>
              </p:cNvPr>
              <p:cNvSpPr txBox="1"/>
              <p:nvPr/>
            </p:nvSpPr>
            <p:spPr>
              <a:xfrm>
                <a:off x="15296904" y="11775033"/>
                <a:ext cx="5883278" cy="2426498"/>
              </a:xfrm>
              <a:prstGeom prst="rect">
                <a:avLst/>
              </a:prstGeom>
              <a:noFill/>
            </p:spPr>
            <p:txBody>
              <a:bodyPr wrap="square" rtlCol="0">
                <a:spAutoFit/>
              </a:bodyPr>
              <a:lstStyle/>
              <a:p>
                <a:r>
                  <a:rPr lang="en-GB" dirty="0"/>
                  <a:t>Fig. 2: Plot of average magnetisation per spin against number of sweeps of the Monte Carlo algorithm. These are the results of a 32 x 32 lattice, with B = -0.05, J = 0.5, and </a:t>
                </a:r>
                <a:r>
                  <a:rPr lang="en-GB" dirty="0" err="1"/>
                  <a:t>kT</a:t>
                </a:r>
                <a:r>
                  <a:rPr lang="en-GB" dirty="0"/>
                  <a:t> = 1.  Average magnetisation was calculated using </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den>
                      </m:f>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𝛼</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𝑆</m:t>
                              </m:r>
                            </m:e>
                            <m:sub>
                              <m:r>
                                <a:rPr lang="en-GB" b="0" i="1" smtClean="0">
                                  <a:latin typeface="Cambria Math" panose="02040503050406030204" pitchFamily="18" charset="0"/>
                                </a:rPr>
                                <m:t>𝛼</m:t>
                              </m:r>
                            </m:sub>
                          </m:sSub>
                        </m:e>
                      </m:nary>
                    </m:oMath>
                  </m:oMathPara>
                </a14:m>
                <a:endParaRPr lang="en-GB" dirty="0"/>
              </a:p>
              <a:p>
                <a:endParaRPr lang="en-GB" dirty="0"/>
              </a:p>
              <a:p>
                <a:endParaRPr lang="en-GB" dirty="0"/>
              </a:p>
            </p:txBody>
          </p:sp>
        </mc:Choice>
        <mc:Fallback xmlns="">
          <p:sp>
            <p:nvSpPr>
              <p:cNvPr id="3" name="TextBox 2">
                <a:extLst>
                  <a:ext uri="{FF2B5EF4-FFF2-40B4-BE49-F238E27FC236}">
                    <a16:creationId xmlns:a16="http://schemas.microsoft.com/office/drawing/2014/main" id="{E1F32D44-20AA-2A2C-3876-692BE6DCBA8C}"/>
                  </a:ext>
                </a:extLst>
              </p:cNvPr>
              <p:cNvSpPr txBox="1">
                <a:spLocks noRot="1" noChangeAspect="1" noMove="1" noResize="1" noEditPoints="1" noAdjustHandles="1" noChangeArrowheads="1" noChangeShapeType="1" noTextEdit="1"/>
              </p:cNvSpPr>
              <p:nvPr/>
            </p:nvSpPr>
            <p:spPr>
              <a:xfrm>
                <a:off x="15296904" y="11775033"/>
                <a:ext cx="5883278" cy="2426498"/>
              </a:xfrm>
              <a:prstGeom prst="rect">
                <a:avLst/>
              </a:prstGeom>
              <a:blipFill>
                <a:blip r:embed="rId8"/>
                <a:stretch>
                  <a:fillRect l="-829" t="-1256"/>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AAFB307A-3DA6-7F77-596F-2CB881B32E69}"/>
              </a:ext>
            </a:extLst>
          </p:cNvPr>
          <p:cNvSpPr txBox="1"/>
          <p:nvPr/>
        </p:nvSpPr>
        <p:spPr>
          <a:xfrm>
            <a:off x="6071346" y="12585704"/>
            <a:ext cx="787400" cy="446276"/>
          </a:xfrm>
          <a:prstGeom prst="rect">
            <a:avLst/>
          </a:prstGeom>
          <a:noFill/>
        </p:spPr>
        <p:txBody>
          <a:bodyPr wrap="square" rtlCol="0">
            <a:spAutoFit/>
          </a:bodyPr>
          <a:lstStyle/>
          <a:p>
            <a:r>
              <a:rPr lang="en-GB" sz="2200" dirty="0"/>
              <a:t> </a:t>
            </a:r>
            <a:r>
              <a:rPr lang="en-GB" sz="2000" dirty="0">
                <a:latin typeface="Cambria Math" panose="02040503050406030204" pitchFamily="18" charset="0"/>
                <a:ea typeface="Cambria Math" panose="02040503050406030204" pitchFamily="18" charset="0"/>
              </a:rPr>
              <a:t>(1)</a:t>
            </a:r>
          </a:p>
        </p:txBody>
      </p:sp>
      <p:sp>
        <p:nvSpPr>
          <p:cNvPr id="7" name="TextBox 6">
            <a:extLst>
              <a:ext uri="{FF2B5EF4-FFF2-40B4-BE49-F238E27FC236}">
                <a16:creationId xmlns:a16="http://schemas.microsoft.com/office/drawing/2014/main" id="{829F1105-86FE-10E3-3A31-FCBC884013E3}"/>
              </a:ext>
            </a:extLst>
          </p:cNvPr>
          <p:cNvSpPr txBox="1"/>
          <p:nvPr/>
        </p:nvSpPr>
        <p:spPr>
          <a:xfrm>
            <a:off x="13245099" y="7113399"/>
            <a:ext cx="1406525" cy="446276"/>
          </a:xfrm>
          <a:prstGeom prst="rect">
            <a:avLst/>
          </a:prstGeom>
          <a:noFill/>
        </p:spPr>
        <p:txBody>
          <a:bodyPr wrap="square">
            <a:spAutoFit/>
          </a:bodyPr>
          <a:lstStyle/>
          <a:p>
            <a:r>
              <a:rPr lang="en-GB" sz="2200" dirty="0"/>
              <a:t> </a:t>
            </a:r>
            <a:r>
              <a:rPr lang="en-GB" sz="2200" dirty="0">
                <a:latin typeface="Cambria Math" panose="02040503050406030204" pitchFamily="18" charset="0"/>
                <a:ea typeface="Cambria Math" panose="02040503050406030204" pitchFamily="18" charset="0"/>
              </a:rPr>
              <a:t>(2)</a:t>
            </a:r>
          </a:p>
        </p:txBody>
      </p:sp>
      <p:sp>
        <p:nvSpPr>
          <p:cNvPr id="8" name="TextBox 7">
            <a:extLst>
              <a:ext uri="{FF2B5EF4-FFF2-40B4-BE49-F238E27FC236}">
                <a16:creationId xmlns:a16="http://schemas.microsoft.com/office/drawing/2014/main" id="{7729DA71-F5A5-21D1-69AA-00D7232B0500}"/>
              </a:ext>
            </a:extLst>
          </p:cNvPr>
          <p:cNvSpPr txBox="1"/>
          <p:nvPr/>
        </p:nvSpPr>
        <p:spPr>
          <a:xfrm>
            <a:off x="4127501" y="5921486"/>
            <a:ext cx="2997199" cy="3139321"/>
          </a:xfrm>
          <a:prstGeom prst="rect">
            <a:avLst/>
          </a:prstGeom>
          <a:noFill/>
        </p:spPr>
        <p:txBody>
          <a:bodyPr wrap="square" rtlCol="0">
            <a:spAutoFit/>
          </a:bodyPr>
          <a:lstStyle/>
          <a:p>
            <a:r>
              <a:rPr lang="en-GB" dirty="0"/>
              <a:t>Fig. 1: Periodic lattice (i.e. edges wrap around) with randomly assigned spins. Red = spin-up, Blue = spin-down . </a:t>
            </a:r>
          </a:p>
          <a:p>
            <a:r>
              <a:rPr lang="en-GB" dirty="0"/>
              <a:t>The four nearest neighbours of the centre square are shown using white borders and numbers.</a:t>
            </a:r>
          </a:p>
          <a:p>
            <a:endParaRPr lang="en-GB" dirty="0"/>
          </a:p>
          <a:p>
            <a:endParaRPr lang="en-GB" dirty="0"/>
          </a:p>
        </p:txBody>
      </p:sp>
      <p:sp>
        <p:nvSpPr>
          <p:cNvPr id="19" name="TextBox 18">
            <a:extLst>
              <a:ext uri="{FF2B5EF4-FFF2-40B4-BE49-F238E27FC236}">
                <a16:creationId xmlns:a16="http://schemas.microsoft.com/office/drawing/2014/main" id="{85A28343-021F-427D-0249-D19A8904F29D}"/>
              </a:ext>
            </a:extLst>
          </p:cNvPr>
          <p:cNvSpPr txBox="1"/>
          <p:nvPr/>
        </p:nvSpPr>
        <p:spPr>
          <a:xfrm>
            <a:off x="13245099" y="11444343"/>
            <a:ext cx="1406525" cy="446276"/>
          </a:xfrm>
          <a:prstGeom prst="rect">
            <a:avLst/>
          </a:prstGeom>
          <a:noFill/>
        </p:spPr>
        <p:txBody>
          <a:bodyPr wrap="square">
            <a:spAutoFit/>
          </a:bodyPr>
          <a:lstStyle/>
          <a:p>
            <a:r>
              <a:rPr lang="en-GB" sz="2300" dirty="0"/>
              <a:t> </a:t>
            </a:r>
            <a:r>
              <a:rPr lang="en-GB" sz="2200" dirty="0">
                <a:latin typeface="Cambria Math" panose="02040503050406030204" pitchFamily="18" charset="0"/>
                <a:ea typeface="Cambria Math" panose="02040503050406030204" pitchFamily="18" charset="0"/>
              </a:rPr>
              <a:t>(3)</a:t>
            </a:r>
          </a:p>
        </p:txBody>
      </p:sp>
      <p:sp>
        <p:nvSpPr>
          <p:cNvPr id="20" name="TextBox 19">
            <a:extLst>
              <a:ext uri="{FF2B5EF4-FFF2-40B4-BE49-F238E27FC236}">
                <a16:creationId xmlns:a16="http://schemas.microsoft.com/office/drawing/2014/main" id="{54116D71-9CD5-A004-2A9E-B007A2779AD6}"/>
              </a:ext>
            </a:extLst>
          </p:cNvPr>
          <p:cNvSpPr txBox="1"/>
          <p:nvPr/>
        </p:nvSpPr>
        <p:spPr>
          <a:xfrm>
            <a:off x="15094989" y="4655829"/>
            <a:ext cx="5956300" cy="2800767"/>
          </a:xfrm>
          <a:prstGeom prst="rect">
            <a:avLst/>
          </a:prstGeom>
          <a:noFill/>
        </p:spPr>
        <p:txBody>
          <a:bodyPr wrap="square" rtlCol="0">
            <a:spAutoFit/>
          </a:bodyPr>
          <a:lstStyle/>
          <a:p>
            <a:r>
              <a:rPr lang="en-GB" sz="2200" dirty="0"/>
              <a:t>Fig. 2 shows the average magnetisation as a function of sweeps (one sweep corresponds to applying the metropolis algorithm across the entire lattice), for B = -0.05 and J = 0.5. This plot clearly demonstrates the Ising model’s ability to predict the evolution of a ferromagnetic system towards a steady state.</a:t>
            </a:r>
          </a:p>
          <a:p>
            <a:endParaRPr lang="en-GB" sz="2200" dirty="0">
              <a:solidFill>
                <a:srgbClr val="FF0000"/>
              </a:solidFill>
            </a:endParaRPr>
          </a:p>
        </p:txBody>
      </p:sp>
      <p:sp>
        <p:nvSpPr>
          <p:cNvPr id="21" name="TextBox 20">
            <a:extLst>
              <a:ext uri="{FF2B5EF4-FFF2-40B4-BE49-F238E27FC236}">
                <a16:creationId xmlns:a16="http://schemas.microsoft.com/office/drawing/2014/main" id="{6CF32E5D-8798-4621-F762-44B2EAFBEE4C}"/>
              </a:ext>
            </a:extLst>
          </p:cNvPr>
          <p:cNvSpPr txBox="1"/>
          <p:nvPr/>
        </p:nvSpPr>
        <p:spPr>
          <a:xfrm>
            <a:off x="15245864" y="14139191"/>
            <a:ext cx="5883278" cy="1051057"/>
          </a:xfrm>
          <a:prstGeom prst="rect">
            <a:avLst/>
          </a:prstGeom>
          <a:noFill/>
        </p:spPr>
        <p:txBody>
          <a:bodyPr wrap="square" rtlCol="0">
            <a:spAutoFit/>
          </a:bodyPr>
          <a:lstStyle/>
          <a:p>
            <a:pPr marL="228600" indent="-228600">
              <a:buAutoNum type="arabicPeriod"/>
            </a:pPr>
            <a:r>
              <a:rPr lang="de-DE" sz="880" dirty="0"/>
              <a:t>Ising, E. Beitrag zur Theorie des Ferromagnetismus. </a:t>
            </a:r>
            <a:r>
              <a:rPr lang="de-DE" sz="880" i="1" dirty="0"/>
              <a:t>Z. Physik</a:t>
            </a:r>
            <a:r>
              <a:rPr lang="de-DE" sz="880" dirty="0"/>
              <a:t> </a:t>
            </a:r>
            <a:r>
              <a:rPr lang="de-DE" sz="880" b="1" dirty="0"/>
              <a:t>31</a:t>
            </a:r>
            <a:r>
              <a:rPr lang="de-DE" sz="880" dirty="0"/>
              <a:t>, 253–258 (1925). </a:t>
            </a:r>
            <a:r>
              <a:rPr lang="de-DE" sz="880" dirty="0">
                <a:hlinkClick r:id="rId9"/>
              </a:rPr>
              <a:t>https://doi.org/10.1007/BF02980577</a:t>
            </a:r>
            <a:endParaRPr lang="de-DE" sz="880" dirty="0"/>
          </a:p>
          <a:p>
            <a:pPr marL="228600" indent="-228600">
              <a:buAutoNum type="arabicPeriod"/>
            </a:pPr>
            <a:r>
              <a:rPr lang="en-GB" sz="880" dirty="0"/>
              <a:t>Onsager, L. Crystal Statistics. I. A Two-Dimensional Model with an Order-Disorder Transition. </a:t>
            </a:r>
            <a:r>
              <a:rPr lang="en-GB" sz="880" i="1" dirty="0"/>
              <a:t>Phys. Rev.</a:t>
            </a:r>
            <a:r>
              <a:rPr lang="en-GB" sz="880" dirty="0"/>
              <a:t> </a:t>
            </a:r>
            <a:r>
              <a:rPr lang="en-GB" sz="880" b="1" dirty="0"/>
              <a:t>65</a:t>
            </a:r>
            <a:r>
              <a:rPr lang="en-GB" sz="880" dirty="0"/>
              <a:t>, 117–149 (1944). </a:t>
            </a:r>
            <a:r>
              <a:rPr lang="en-GB" sz="880" dirty="0">
                <a:hlinkClick r:id="rId10"/>
              </a:rPr>
              <a:t>https://doi.org/10.1103/PhysRev.65.117</a:t>
            </a:r>
            <a:endParaRPr lang="en-GB" sz="880" dirty="0"/>
          </a:p>
          <a:p>
            <a:pPr marL="228600" indent="-228600">
              <a:buAutoNum type="arabicPeriod"/>
            </a:pPr>
            <a:r>
              <a:rPr lang="en-GB" sz="880" dirty="0"/>
              <a:t>Metropolis, N., Rosenbluth, A., Rosenbluth, M., Teller, A., and Teller, E. (1953). Equations of state calculations by fast computing machines. J. Chem. Phys., 21(6): 10871092.</a:t>
            </a:r>
          </a:p>
          <a:p>
            <a:r>
              <a:rPr lang="en-GB" sz="880" dirty="0"/>
              <a:t>Generative AI in the form of ChatGPT was occasionally used to improve clarity of writing only. </a:t>
            </a:r>
          </a:p>
        </p:txBody>
      </p:sp>
      <p:sp>
        <p:nvSpPr>
          <p:cNvPr id="30" name="TextBox 29">
            <a:extLst>
              <a:ext uri="{FF2B5EF4-FFF2-40B4-BE49-F238E27FC236}">
                <a16:creationId xmlns:a16="http://schemas.microsoft.com/office/drawing/2014/main" id="{BCCF9BD0-F567-EEBA-A4A3-3A8BE4BFAF16}"/>
              </a:ext>
            </a:extLst>
          </p:cNvPr>
          <p:cNvSpPr txBox="1"/>
          <p:nvPr/>
        </p:nvSpPr>
        <p:spPr>
          <a:xfrm>
            <a:off x="19878675" y="13031980"/>
            <a:ext cx="1000871" cy="369332"/>
          </a:xfrm>
          <a:prstGeom prst="rect">
            <a:avLst/>
          </a:prstGeom>
          <a:noFill/>
        </p:spPr>
        <p:txBody>
          <a:bodyPr wrap="square">
            <a:spAutoFit/>
          </a:bodyPr>
          <a:lstStyle/>
          <a:p>
            <a:r>
              <a:rPr lang="en-GB" sz="1800" dirty="0"/>
              <a:t> </a:t>
            </a:r>
            <a:r>
              <a:rPr lang="en-GB" sz="1800" dirty="0">
                <a:latin typeface="Cambria Math" panose="02040503050406030204" pitchFamily="18" charset="0"/>
                <a:ea typeface="Cambria Math" panose="02040503050406030204" pitchFamily="18" charset="0"/>
              </a:rPr>
              <a:t>(4)</a:t>
            </a:r>
          </a:p>
        </p:txBody>
      </p:sp>
      <p:pic>
        <p:nvPicPr>
          <p:cNvPr id="35" name="Picture 34">
            <a:extLst>
              <a:ext uri="{FF2B5EF4-FFF2-40B4-BE49-F238E27FC236}">
                <a16:creationId xmlns:a16="http://schemas.microsoft.com/office/drawing/2014/main" id="{CECBC47D-6CA4-3352-E203-71F43F1C9360}"/>
              </a:ext>
            </a:extLst>
          </p:cNvPr>
          <p:cNvPicPr>
            <a:picLocks noChangeAspect="1"/>
          </p:cNvPicPr>
          <p:nvPr/>
        </p:nvPicPr>
        <p:blipFill>
          <a:blip r:embed="rId11"/>
          <a:stretch>
            <a:fillRect/>
          </a:stretch>
        </p:blipFill>
        <p:spPr>
          <a:xfrm>
            <a:off x="17552226" y="-552650"/>
            <a:ext cx="3953427" cy="2857899"/>
          </a:xfrm>
          <a:prstGeom prst="rect">
            <a:avLst/>
          </a:prstGeom>
        </p:spPr>
      </p:pic>
    </p:spTree>
    <p:extLst>
      <p:ext uri="{BB962C8B-B14F-4D97-AF65-F5344CB8AC3E}">
        <p14:creationId xmlns:p14="http://schemas.microsoft.com/office/powerpoint/2010/main" val="1663250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AF96B3CE-E280-1491-747F-312027FE79C9}"/>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09413AE1-8C13-6307-89F0-22224F7593BC}"/>
              </a:ext>
            </a:extLst>
          </p:cNvPr>
          <p:cNvSpPr/>
          <p:nvPr/>
        </p:nvSpPr>
        <p:spPr>
          <a:xfrm>
            <a:off x="317501" y="2087230"/>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1. The Ising Model</a:t>
            </a:r>
          </a:p>
        </p:txBody>
      </p:sp>
      <p:sp>
        <p:nvSpPr>
          <p:cNvPr id="4" name="Rectangle 3">
            <a:extLst>
              <a:ext uri="{FF2B5EF4-FFF2-40B4-BE49-F238E27FC236}">
                <a16:creationId xmlns:a16="http://schemas.microsoft.com/office/drawing/2014/main" id="{EFE35F83-9071-7A89-FB71-75617D0E985B}"/>
              </a:ext>
            </a:extLst>
          </p:cNvPr>
          <p:cNvSpPr/>
          <p:nvPr/>
        </p:nvSpPr>
        <p:spPr>
          <a:xfrm>
            <a:off x="-1" y="0"/>
            <a:ext cx="21383625" cy="17526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ferromagnet transitions using the Ising model</a:t>
            </a:r>
          </a:p>
          <a:p>
            <a:pPr algn="ctr"/>
            <a:endParaRPr lang="en-GB" dirty="0"/>
          </a:p>
        </p:txBody>
      </p:sp>
      <p:sp>
        <p:nvSpPr>
          <p:cNvPr id="10" name="Rectangle 9">
            <a:extLst>
              <a:ext uri="{FF2B5EF4-FFF2-40B4-BE49-F238E27FC236}">
                <a16:creationId xmlns:a16="http://schemas.microsoft.com/office/drawing/2014/main" id="{93112E71-1A42-4A87-7490-001E3825800B}"/>
              </a:ext>
            </a:extLst>
          </p:cNvPr>
          <p:cNvSpPr/>
          <p:nvPr/>
        </p:nvSpPr>
        <p:spPr>
          <a:xfrm>
            <a:off x="8014287" y="3434792"/>
            <a:ext cx="6594474" cy="782943"/>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A844E0F-3324-9DDC-0103-A2A018AD97F8}"/>
                  </a:ext>
                </a:extLst>
              </p:cNvPr>
              <p:cNvSpPr txBox="1"/>
              <p:nvPr/>
            </p:nvSpPr>
            <p:spPr>
              <a:xfrm>
                <a:off x="346869" y="3056582"/>
                <a:ext cx="7125835" cy="13882262"/>
              </a:xfrm>
              <a:prstGeom prst="rect">
                <a:avLst/>
              </a:prstGeom>
              <a:noFill/>
            </p:spPr>
            <p:txBody>
              <a:bodyPr wrap="square" rtlCol="0">
                <a:spAutoFit/>
              </a:bodyPr>
              <a:lstStyle/>
              <a:p>
                <a:r>
                  <a:rPr lang="en-GB" sz="2200" dirty="0"/>
                  <a:t>The Ising model is a simple model used to describe ferromagnetism using statistical mechanics [1]. For the 2D case, we create a periodic lattice of dimensions </a:t>
                </a:r>
                <a14:m>
                  <m:oMath xmlns:m="http://schemas.openxmlformats.org/officeDocument/2006/math">
                    <m:sSub>
                      <m:sSubPr>
                        <m:ctrlPr>
                          <a:rPr lang="en-GB" sz="2200" b="0" i="1" dirty="0" smtClean="0">
                            <a:latin typeface="Cambria Math" panose="02040503050406030204" pitchFamily="18" charset="0"/>
                          </a:rPr>
                        </m:ctrlPr>
                      </m:sSubPr>
                      <m:e>
                        <m:r>
                          <a:rPr lang="en-GB" sz="2200" i="1" dirty="0" smtClean="0">
                            <a:latin typeface="Cambria Math" panose="02040503050406030204" pitchFamily="18" charset="0"/>
                          </a:rPr>
                          <m:t>𝑁</m:t>
                        </m:r>
                      </m:e>
                      <m:sub>
                        <m:r>
                          <a:rPr lang="en-GB" sz="2200" i="1" dirty="0" smtClean="0">
                            <a:latin typeface="Cambria Math" panose="02040503050406030204" pitchFamily="18" charset="0"/>
                          </a:rPr>
                          <m:t>𝑥</m:t>
                        </m:r>
                      </m:sub>
                    </m:sSub>
                  </m:oMath>
                </a14:m>
                <a:r>
                  <a:rPr lang="en-GB" sz="2200" dirty="0"/>
                  <a:t> by </a:t>
                </a:r>
                <a14:m>
                  <m:oMath xmlns:m="http://schemas.openxmlformats.org/officeDocument/2006/math">
                    <m:sSub>
                      <m:sSubPr>
                        <m:ctrlPr>
                          <a:rPr lang="en-GB" sz="2200" b="0" i="1" dirty="0" smtClean="0">
                            <a:latin typeface="Cambria Math" panose="02040503050406030204" pitchFamily="18" charset="0"/>
                          </a:rPr>
                        </m:ctrlPr>
                      </m:sSubPr>
                      <m:e>
                        <m:r>
                          <a:rPr lang="en-GB" sz="2200" i="1" dirty="0" smtClean="0">
                            <a:latin typeface="Cambria Math" panose="02040503050406030204" pitchFamily="18" charset="0"/>
                          </a:rPr>
                          <m:t>𝑁</m:t>
                        </m:r>
                      </m:e>
                      <m:sub>
                        <m:r>
                          <a:rPr lang="en-GB" sz="2200" i="1" dirty="0" smtClean="0">
                            <a:latin typeface="Cambria Math" panose="02040503050406030204" pitchFamily="18" charset="0"/>
                          </a:rPr>
                          <m:t>𝑦</m:t>
                        </m:r>
                      </m:sub>
                    </m:sSub>
                  </m:oMath>
                </a14:m>
                <a:r>
                  <a:rPr lang="en-GB" sz="2200" dirty="0"/>
                  <a:t>, where each point is randomly assigned a spin value of either +1 (red) or -1 (blue), representing spin-up and spin-down states respectively (see fig.1 for a visual).</a:t>
                </a:r>
              </a:p>
              <a:p>
                <a:endParaRPr lang="en-GB" sz="2800" dirty="0"/>
              </a:p>
              <a:p>
                <a:endParaRPr lang="en-GB" sz="2800" dirty="0"/>
              </a:p>
              <a:p>
                <a:endParaRPr lang="en-GB" sz="2800" dirty="0"/>
              </a:p>
              <a:p>
                <a:endParaRPr lang="en-GB" sz="2800" dirty="0"/>
              </a:p>
              <a:p>
                <a:endParaRPr lang="en-GB" sz="2800" dirty="0"/>
              </a:p>
              <a:p>
                <a:endParaRPr lang="en-GB" sz="2800" dirty="0"/>
              </a:p>
              <a:p>
                <a:endParaRPr lang="en-GB" sz="2800" dirty="0"/>
              </a:p>
              <a:p>
                <a:endParaRPr lang="en-GB" sz="2800" dirty="0"/>
              </a:p>
              <a:p>
                <a:endParaRPr lang="en-GB" sz="2800" dirty="0"/>
              </a:p>
              <a:p>
                <a:endParaRPr lang="en-GB" sz="2400" dirty="0"/>
              </a:p>
              <a:p>
                <a:r>
                  <a:rPr lang="en-GB" sz="2200" dirty="0"/>
                  <a:t>The Ising model tells us the total energy of the lattice comes from two sources: the interaction between the spins and an external magnetic field </a:t>
                </a:r>
                <a14:m>
                  <m:oMath xmlns:m="http://schemas.openxmlformats.org/officeDocument/2006/math">
                    <m:r>
                      <a:rPr lang="en-GB" sz="2200" i="1" dirty="0" smtClean="0">
                        <a:latin typeface="Cambria Math" panose="02040503050406030204" pitchFamily="18" charset="0"/>
                      </a:rPr>
                      <m:t>𝐵</m:t>
                    </m:r>
                  </m:oMath>
                </a14:m>
                <a:r>
                  <a:rPr lang="en-GB" sz="2200" dirty="0"/>
                  <a:t>, and the interaction between neighbouring spins[1,2]. For simplicity, the 2D Ising model only considers interactions between the four nearest neighbours, highlighted in white in Fig 1.</a:t>
                </a:r>
              </a:p>
              <a:p>
                <a:r>
                  <a:rPr lang="en-GB" sz="2200" dirty="0"/>
                  <a:t>Mathematically this energy </a:t>
                </a:r>
                <a14:m>
                  <m:oMath xmlns:m="http://schemas.openxmlformats.org/officeDocument/2006/math">
                    <m:r>
                      <a:rPr lang="en-GB" sz="2200" b="0" i="1" smtClean="0">
                        <a:latin typeface="Cambria Math" panose="02040503050406030204" pitchFamily="18" charset="0"/>
                      </a:rPr>
                      <m:t>𝐸</m:t>
                    </m:r>
                  </m:oMath>
                </a14:m>
                <a:r>
                  <a:rPr lang="en-GB" sz="2200" dirty="0"/>
                  <a:t>, can be written as: </a:t>
                </a:r>
              </a:p>
              <a:p>
                <a:endParaRPr lang="en-GB" sz="2200" dirty="0"/>
              </a:p>
              <a:p>
                <a:pPr/>
                <a14:m>
                  <m:oMathPara xmlns:m="http://schemas.openxmlformats.org/officeDocument/2006/math">
                    <m:oMathParaPr>
                      <m:jc m:val="centerGroup"/>
                    </m:oMathParaPr>
                    <m:oMath xmlns:m="http://schemas.openxmlformats.org/officeDocument/2006/math">
                      <m:r>
                        <a:rPr lang="en-GB" sz="2200" i="1">
                          <a:latin typeface="Cambria Math" panose="02040503050406030204" pitchFamily="18" charset="0"/>
                        </a:rPr>
                        <m:t>𝐸</m:t>
                      </m:r>
                      <m:r>
                        <a:rPr lang="en-GB" sz="2200" i="1">
                          <a:latin typeface="Cambria Math" panose="02040503050406030204" pitchFamily="18" charset="0"/>
                        </a:rPr>
                        <m:t>=−</m:t>
                      </m:r>
                      <m:r>
                        <a:rPr lang="en-GB" sz="2200" i="1">
                          <a:latin typeface="Cambria Math" panose="02040503050406030204" pitchFamily="18" charset="0"/>
                        </a:rPr>
                        <m:t>𝐵</m:t>
                      </m:r>
                      <m:nary>
                        <m:naryPr>
                          <m:chr m:val="∑"/>
                          <m:supHide m:val="on"/>
                          <m:ctrlPr>
                            <a:rPr lang="en-GB" sz="2200" i="1">
                              <a:latin typeface="Cambria Math" panose="02040503050406030204" pitchFamily="18" charset="0"/>
                            </a:rPr>
                          </m:ctrlPr>
                        </m:naryPr>
                        <m:sub>
                          <m:r>
                            <m:rPr>
                              <m:sty m:val="p"/>
                              <m:brk m:alnAt="7"/>
                            </m:rPr>
                            <a:rPr lang="el-GR" sz="2200" i="1">
                              <a:latin typeface="Cambria Math" panose="02040503050406030204" pitchFamily="18" charset="0"/>
                            </a:rPr>
                            <m:t>α</m:t>
                          </m:r>
                        </m:sub>
                        <m:sup/>
                        <m:e>
                          <m:sSub>
                            <m:sSubPr>
                              <m:ctrlPr>
                                <a:rPr lang="en-GB" sz="2200" i="1">
                                  <a:latin typeface="Cambria Math" panose="02040503050406030204" pitchFamily="18" charset="0"/>
                                </a:rPr>
                              </m:ctrlPr>
                            </m:sSubPr>
                            <m:e>
                              <m:r>
                                <a:rPr lang="en-GB" sz="2200" i="1">
                                  <a:latin typeface="Cambria Math" panose="02040503050406030204" pitchFamily="18" charset="0"/>
                                </a:rPr>
                                <m:t>𝑆</m:t>
                              </m:r>
                            </m:e>
                            <m:sub>
                              <m:r>
                                <m:rPr>
                                  <m:sty m:val="p"/>
                                  <m:brk m:alnAt="7"/>
                                </m:rPr>
                                <a:rPr lang="el-GR" sz="2200" i="1">
                                  <a:latin typeface="Cambria Math" panose="02040503050406030204" pitchFamily="18" charset="0"/>
                                </a:rPr>
                                <m:t>α</m:t>
                              </m:r>
                            </m:sub>
                          </m:sSub>
                        </m:e>
                      </m:nary>
                      <m:r>
                        <a:rPr lang="en-GB" sz="2200">
                          <a:latin typeface="Cambria Math" panose="02040503050406030204" pitchFamily="18" charset="0"/>
                        </a:rPr>
                        <m:t> −</m:t>
                      </m:r>
                      <m:r>
                        <m:rPr>
                          <m:sty m:val="p"/>
                        </m:rPr>
                        <a:rPr lang="en-GB" sz="2200">
                          <a:latin typeface="Cambria Math" panose="02040503050406030204" pitchFamily="18" charset="0"/>
                        </a:rPr>
                        <m:t>J</m:t>
                      </m:r>
                      <m:nary>
                        <m:naryPr>
                          <m:chr m:val="∑"/>
                          <m:supHide m:val="on"/>
                          <m:ctrlPr>
                            <a:rPr lang="en-GB" sz="2200" i="1">
                              <a:latin typeface="Cambria Math" panose="02040503050406030204" pitchFamily="18" charset="0"/>
                            </a:rPr>
                          </m:ctrlPr>
                        </m:naryPr>
                        <m:sub>
                          <m:r>
                            <m:rPr>
                              <m:brk m:alnAt="7"/>
                            </m:rPr>
                            <a:rPr lang="en-GB" sz="2200" i="1">
                              <a:latin typeface="Cambria Math" panose="02040503050406030204" pitchFamily="18" charset="0"/>
                            </a:rPr>
                            <m:t>&lt;</m:t>
                          </m:r>
                          <m:r>
                            <m:rPr>
                              <m:sty m:val="p"/>
                            </m:rPr>
                            <a:rPr lang="el-GR" sz="2200" i="1">
                              <a:latin typeface="Cambria Math" panose="02040503050406030204" pitchFamily="18" charset="0"/>
                            </a:rPr>
                            <m:t>αβ</m:t>
                          </m:r>
                          <m:r>
                            <a:rPr lang="en-GB" sz="2200" i="1">
                              <a:latin typeface="Cambria Math" panose="02040503050406030204" pitchFamily="18" charset="0"/>
                            </a:rPr>
                            <m:t>&gt;</m:t>
                          </m:r>
                        </m:sub>
                        <m:sup/>
                        <m:e>
                          <m:sSub>
                            <m:sSubPr>
                              <m:ctrlPr>
                                <a:rPr lang="en-GB" sz="2200" i="1">
                                  <a:latin typeface="Cambria Math" panose="02040503050406030204" pitchFamily="18" charset="0"/>
                                </a:rPr>
                              </m:ctrlPr>
                            </m:sSubPr>
                            <m:e>
                              <m:r>
                                <a:rPr lang="en-GB" sz="2200" i="1">
                                  <a:latin typeface="Cambria Math" panose="02040503050406030204" pitchFamily="18" charset="0"/>
                                </a:rPr>
                                <m:t>𝑆</m:t>
                              </m:r>
                            </m:e>
                            <m:sub>
                              <m:r>
                                <m:rPr>
                                  <m:sty m:val="p"/>
                                  <m:brk m:alnAt="7"/>
                                </m:rPr>
                                <a:rPr lang="el-GR" sz="2200" i="1">
                                  <a:latin typeface="Cambria Math" panose="02040503050406030204" pitchFamily="18" charset="0"/>
                                </a:rPr>
                                <m:t>α</m:t>
                              </m:r>
                            </m:sub>
                          </m:sSub>
                          <m:sSub>
                            <m:sSubPr>
                              <m:ctrlPr>
                                <a:rPr lang="en-GB" sz="2200" i="1">
                                  <a:latin typeface="Cambria Math" panose="02040503050406030204" pitchFamily="18" charset="0"/>
                                </a:rPr>
                              </m:ctrlPr>
                            </m:sSubPr>
                            <m:e>
                              <m:r>
                                <a:rPr lang="en-GB" sz="2200" i="1">
                                  <a:latin typeface="Cambria Math" panose="02040503050406030204" pitchFamily="18" charset="0"/>
                                </a:rPr>
                                <m:t>𝑆</m:t>
                              </m:r>
                            </m:e>
                            <m:sub>
                              <m:r>
                                <m:rPr>
                                  <m:sty m:val="p"/>
                                </m:rPr>
                                <a:rPr lang="el-GR" sz="2200" i="1">
                                  <a:latin typeface="Cambria Math" panose="02040503050406030204" pitchFamily="18" charset="0"/>
                                </a:rPr>
                                <m:t>β</m:t>
                              </m:r>
                            </m:sub>
                          </m:sSub>
                        </m:e>
                      </m:nary>
                      <m:r>
                        <a:rPr lang="en-GB" sz="2200" b="0" i="0" smtClean="0">
                          <a:latin typeface="Cambria Math" panose="02040503050406030204" pitchFamily="18" charset="0"/>
                        </a:rPr>
                        <m:t>, </m:t>
                      </m:r>
                    </m:oMath>
                  </m:oMathPara>
                </a14:m>
                <a:endParaRPr lang="en-GB" sz="2200" dirty="0"/>
              </a:p>
              <a:p>
                <a:endParaRPr lang="en-GB" sz="2400" dirty="0"/>
              </a:p>
              <a:p>
                <a:endParaRPr lang="en-GB" sz="2400" dirty="0"/>
              </a:p>
              <a:p>
                <a:r>
                  <a:rPr lang="en-GB" sz="2200" dirty="0"/>
                  <a:t>where </a:t>
                </a:r>
                <a14:m>
                  <m:oMath xmlns:m="http://schemas.openxmlformats.org/officeDocument/2006/math">
                    <m:r>
                      <a:rPr lang="el-GR" sz="2200" i="1" dirty="0" smtClean="0">
                        <a:latin typeface="Cambria Math" panose="02040503050406030204" pitchFamily="18" charset="0"/>
                        <a:ea typeface="Cambria Math" panose="02040503050406030204" pitchFamily="18" charset="0"/>
                      </a:rPr>
                      <m:t>𝛼</m:t>
                    </m:r>
                  </m:oMath>
                </a14:m>
                <a:r>
                  <a:rPr lang="en-GB" sz="2200" dirty="0"/>
                  <a:t> is the summation over each lattice point (i.e. over all </a:t>
                </a:r>
                <a14:m>
                  <m:oMath xmlns:m="http://schemas.openxmlformats.org/officeDocument/2006/math">
                    <m:r>
                      <a:rPr lang="en-GB" sz="2200" i="1" dirty="0">
                        <a:latin typeface="Cambria Math" panose="02040503050406030204" pitchFamily="18" charset="0"/>
                      </a:rPr>
                      <m:t>𝑖</m:t>
                    </m:r>
                  </m:oMath>
                </a14:m>
                <a:r>
                  <a:rPr lang="en-GB" sz="2200" dirty="0"/>
                  <a:t> and </a:t>
                </a:r>
                <a14:m>
                  <m:oMath xmlns:m="http://schemas.openxmlformats.org/officeDocument/2006/math">
                    <m:r>
                      <a:rPr lang="en-GB" sz="2200" i="1" dirty="0">
                        <a:latin typeface="Cambria Math" panose="02040503050406030204" pitchFamily="18" charset="0"/>
                      </a:rPr>
                      <m:t>𝑗</m:t>
                    </m:r>
                  </m:oMath>
                </a14:m>
                <a:r>
                  <a:rPr lang="en-GB" sz="2200" dirty="0"/>
                  <a:t>), and</a:t>
                </a:r>
                <a14:m>
                  <m:oMath xmlns:m="http://schemas.openxmlformats.org/officeDocument/2006/math">
                    <m:r>
                      <a:rPr lang="en-GB" sz="2200" i="1" dirty="0" smtClean="0">
                        <a:latin typeface="Cambria Math" panose="02040503050406030204" pitchFamily="18" charset="0"/>
                      </a:rPr>
                      <m:t> </m:t>
                    </m:r>
                    <m:r>
                      <a:rPr lang="el-GR" sz="2200" i="1" dirty="0">
                        <a:latin typeface="Cambria Math" panose="02040503050406030204" pitchFamily="18" charset="0"/>
                      </a:rPr>
                      <m:t>𝛽</m:t>
                    </m:r>
                    <m:r>
                      <a:rPr lang="en-GB" sz="2200" i="1" dirty="0">
                        <a:latin typeface="Cambria Math" panose="02040503050406030204" pitchFamily="18" charset="0"/>
                      </a:rPr>
                      <m:t> </m:t>
                    </m:r>
                  </m:oMath>
                </a14:m>
                <a:r>
                  <a:rPr lang="en-GB" sz="2200" dirty="0"/>
                  <a:t>is the summation of the four nearest neighbours: </a:t>
                </a:r>
                <a14:m>
                  <m:oMath xmlns:m="http://schemas.openxmlformats.org/officeDocument/2006/math">
                    <m:d>
                      <m:dPr>
                        <m:ctrlPr>
                          <a:rPr lang="en-GB" sz="2200" i="1" dirty="0">
                            <a:latin typeface="Cambria Math" panose="02040503050406030204" pitchFamily="18" charset="0"/>
                          </a:rPr>
                        </m:ctrlPr>
                      </m:dPr>
                      <m:e>
                        <m:r>
                          <a:rPr lang="en-GB" sz="2200" i="1" dirty="0">
                            <a:latin typeface="Cambria Math" panose="02040503050406030204" pitchFamily="18" charset="0"/>
                          </a:rPr>
                          <m:t>𝑖</m:t>
                        </m:r>
                        <m:r>
                          <a:rPr lang="en-GB" sz="2200" i="1" dirty="0">
                            <a:latin typeface="Cambria Math" panose="02040503050406030204" pitchFamily="18" charset="0"/>
                          </a:rPr>
                          <m:t>−1,</m:t>
                        </m:r>
                        <m:r>
                          <a:rPr lang="en-GB" sz="2200" i="1" dirty="0">
                            <a:latin typeface="Cambria Math" panose="02040503050406030204" pitchFamily="18" charset="0"/>
                          </a:rPr>
                          <m:t>𝑗</m:t>
                        </m:r>
                      </m:e>
                    </m:d>
                  </m:oMath>
                </a14:m>
                <a:r>
                  <a:rPr lang="en-GB" sz="2200" dirty="0"/>
                  <a:t>, </a:t>
                </a:r>
                <a14:m>
                  <m:oMath xmlns:m="http://schemas.openxmlformats.org/officeDocument/2006/math">
                    <m:d>
                      <m:dPr>
                        <m:ctrlPr>
                          <a:rPr lang="en-GB" sz="2200" i="1" dirty="0">
                            <a:latin typeface="Cambria Math" panose="02040503050406030204" pitchFamily="18" charset="0"/>
                          </a:rPr>
                        </m:ctrlPr>
                      </m:dPr>
                      <m:e>
                        <m:r>
                          <a:rPr lang="en-GB" sz="2200" i="1" dirty="0">
                            <a:latin typeface="Cambria Math" panose="02040503050406030204" pitchFamily="18" charset="0"/>
                          </a:rPr>
                          <m:t>𝑖</m:t>
                        </m:r>
                        <m:r>
                          <a:rPr lang="en-GB" sz="2200" i="1" dirty="0">
                            <a:latin typeface="Cambria Math" panose="02040503050406030204" pitchFamily="18" charset="0"/>
                          </a:rPr>
                          <m:t>+1,</m:t>
                        </m:r>
                        <m:r>
                          <a:rPr lang="en-GB" sz="2200" i="1" dirty="0">
                            <a:latin typeface="Cambria Math" panose="02040503050406030204" pitchFamily="18" charset="0"/>
                          </a:rPr>
                          <m:t>𝑗</m:t>
                        </m:r>
                      </m:e>
                    </m:d>
                    <m:r>
                      <a:rPr lang="en-GB" sz="2200" dirty="0">
                        <a:latin typeface="Cambria Math" panose="02040503050406030204" pitchFamily="18" charset="0"/>
                      </a:rPr>
                      <m:t>, </m:t>
                    </m:r>
                    <m:r>
                      <a:rPr lang="en-GB" sz="2200" i="1" dirty="0">
                        <a:latin typeface="Cambria Math" panose="02040503050406030204" pitchFamily="18" charset="0"/>
                      </a:rPr>
                      <m:t>(</m:t>
                    </m:r>
                    <m:r>
                      <a:rPr lang="en-GB" sz="2200" i="1" dirty="0" err="1">
                        <a:latin typeface="Cambria Math" panose="02040503050406030204" pitchFamily="18" charset="0"/>
                      </a:rPr>
                      <m:t>𝑖</m:t>
                    </m:r>
                    <m:r>
                      <a:rPr lang="en-GB" sz="2200" i="1" dirty="0">
                        <a:latin typeface="Cambria Math" panose="02040503050406030204" pitchFamily="18" charset="0"/>
                      </a:rPr>
                      <m:t> ,</m:t>
                    </m:r>
                    <m:r>
                      <a:rPr lang="en-GB" sz="2200" i="1" dirty="0">
                        <a:latin typeface="Cambria Math" panose="02040503050406030204" pitchFamily="18" charset="0"/>
                      </a:rPr>
                      <m:t>𝑗</m:t>
                    </m:r>
                    <m:r>
                      <a:rPr lang="en-GB" sz="2200" i="1" dirty="0">
                        <a:latin typeface="Cambria Math" panose="02040503050406030204" pitchFamily="18" charset="0"/>
                      </a:rPr>
                      <m:t>−1) </m:t>
                    </m:r>
                  </m:oMath>
                </a14:m>
                <a:r>
                  <a:rPr lang="en-GB" sz="2200" dirty="0"/>
                  <a:t>and </a:t>
                </a:r>
                <a14:m>
                  <m:oMath xmlns:m="http://schemas.openxmlformats.org/officeDocument/2006/math">
                    <m:d>
                      <m:dPr>
                        <m:ctrlPr>
                          <a:rPr lang="en-GB" sz="2200" i="1" dirty="0" err="1">
                            <a:latin typeface="Cambria Math" panose="02040503050406030204" pitchFamily="18" charset="0"/>
                          </a:rPr>
                        </m:ctrlPr>
                      </m:dPr>
                      <m:e>
                        <m:r>
                          <a:rPr lang="en-GB" sz="2200" i="1" dirty="0" err="1">
                            <a:latin typeface="Cambria Math" panose="02040503050406030204" pitchFamily="18" charset="0"/>
                          </a:rPr>
                          <m:t>𝑖</m:t>
                        </m:r>
                        <m:r>
                          <a:rPr lang="en-GB" sz="2200" i="1" dirty="0">
                            <a:latin typeface="Cambria Math" panose="02040503050406030204" pitchFamily="18" charset="0"/>
                          </a:rPr>
                          <m:t>, </m:t>
                        </m:r>
                        <m:r>
                          <a:rPr lang="en-GB" sz="2200" i="1" dirty="0">
                            <a:latin typeface="Cambria Math" panose="02040503050406030204" pitchFamily="18" charset="0"/>
                          </a:rPr>
                          <m:t>𝑗</m:t>
                        </m:r>
                        <m:r>
                          <a:rPr lang="en-GB" sz="2200" i="1" dirty="0">
                            <a:latin typeface="Cambria Math" panose="02040503050406030204" pitchFamily="18" charset="0"/>
                          </a:rPr>
                          <m:t>+1</m:t>
                        </m:r>
                      </m:e>
                    </m:d>
                  </m:oMath>
                </a14:m>
                <a:r>
                  <a:rPr lang="en-GB" sz="2200" dirty="0"/>
                  <a:t>[2].</a:t>
                </a:r>
              </a:p>
              <a:p>
                <a:endParaRPr lang="en-GB" sz="3200" dirty="0"/>
              </a:p>
              <a:p>
                <a:pPr marL="457200" indent="-457200">
                  <a:buFont typeface="Arial" panose="020B0604020202020204" pitchFamily="34" charset="0"/>
                  <a:buChar char="•"/>
                </a:pPr>
                <a:endParaRPr lang="en-GB" sz="3200" dirty="0"/>
              </a:p>
              <a:p>
                <a:pPr marL="457200" indent="-457200">
                  <a:buFont typeface="Arial" panose="020B0604020202020204" pitchFamily="34" charset="0"/>
                  <a:buChar char="•"/>
                </a:pPr>
                <a:endParaRPr lang="en-GB" sz="3200" dirty="0"/>
              </a:p>
            </p:txBody>
          </p:sp>
        </mc:Choice>
        <mc:Fallback xmlns="">
          <p:sp>
            <p:nvSpPr>
              <p:cNvPr id="12" name="TextBox 11">
                <a:extLst>
                  <a:ext uri="{FF2B5EF4-FFF2-40B4-BE49-F238E27FC236}">
                    <a16:creationId xmlns:a16="http://schemas.microsoft.com/office/drawing/2014/main" id="{CA844E0F-3324-9DDC-0103-A2A018AD97F8}"/>
                  </a:ext>
                </a:extLst>
              </p:cNvPr>
              <p:cNvSpPr txBox="1">
                <a:spLocks noRot="1" noChangeAspect="1" noMove="1" noResize="1" noEditPoints="1" noAdjustHandles="1" noChangeArrowheads="1" noChangeShapeType="1" noTextEdit="1"/>
              </p:cNvSpPr>
              <p:nvPr/>
            </p:nvSpPr>
            <p:spPr>
              <a:xfrm>
                <a:off x="346869" y="3056582"/>
                <a:ext cx="7125835" cy="13882262"/>
              </a:xfrm>
              <a:prstGeom prst="rect">
                <a:avLst/>
              </a:prstGeom>
              <a:blipFill>
                <a:blip r:embed="rId3"/>
                <a:stretch>
                  <a:fillRect l="-1112" t="-263" r="-1540"/>
                </a:stretch>
              </a:blipFill>
            </p:spPr>
            <p:txBody>
              <a:bodyPr/>
              <a:lstStyle/>
              <a:p>
                <a:r>
                  <a:rPr lang="en-GB">
                    <a:noFill/>
                  </a:rPr>
                  <a:t> </a:t>
                </a:r>
              </a:p>
            </p:txBody>
          </p:sp>
        </mc:Fallback>
      </mc:AlternateContent>
      <p:sp>
        <p:nvSpPr>
          <p:cNvPr id="15" name="Rectangle 14">
            <a:extLst>
              <a:ext uri="{FF2B5EF4-FFF2-40B4-BE49-F238E27FC236}">
                <a16:creationId xmlns:a16="http://schemas.microsoft.com/office/drawing/2014/main" id="{A43FAF21-E751-7E0D-9817-8CA9AAB283AF}"/>
              </a:ext>
            </a:extLst>
          </p:cNvPr>
          <p:cNvSpPr/>
          <p:nvPr/>
        </p:nvSpPr>
        <p:spPr>
          <a:xfrm>
            <a:off x="8057150" y="8692014"/>
            <a:ext cx="6594474" cy="7334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16" name="Rectangle 15">
            <a:extLst>
              <a:ext uri="{FF2B5EF4-FFF2-40B4-BE49-F238E27FC236}">
                <a16:creationId xmlns:a16="http://schemas.microsoft.com/office/drawing/2014/main" id="{5D45B049-41A3-C6DA-5030-1BD89E5CF61D}"/>
              </a:ext>
            </a:extLst>
          </p:cNvPr>
          <p:cNvSpPr/>
          <p:nvPr/>
        </p:nvSpPr>
        <p:spPr>
          <a:xfrm>
            <a:off x="15094989" y="4085091"/>
            <a:ext cx="5956300" cy="60405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18" name="Rectangle 17">
            <a:extLst>
              <a:ext uri="{FF2B5EF4-FFF2-40B4-BE49-F238E27FC236}">
                <a16:creationId xmlns:a16="http://schemas.microsoft.com/office/drawing/2014/main" id="{E5C89AEE-10BF-0502-B99B-D2C95130FE1F}"/>
              </a:ext>
            </a:extLst>
          </p:cNvPr>
          <p:cNvSpPr/>
          <p:nvPr/>
        </p:nvSpPr>
        <p:spPr>
          <a:xfrm>
            <a:off x="15274922" y="13725793"/>
            <a:ext cx="5956300" cy="41339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pic>
        <p:nvPicPr>
          <p:cNvPr id="22" name="Picture 21" descr="A graph with a line&#10;&#10;AI-generated content may be incorrect.">
            <a:extLst>
              <a:ext uri="{FF2B5EF4-FFF2-40B4-BE49-F238E27FC236}">
                <a16:creationId xmlns:a16="http://schemas.microsoft.com/office/drawing/2014/main" id="{0F1A0EBC-F270-F96E-8DB7-1F4D556EEF53}"/>
              </a:ext>
            </a:extLst>
          </p:cNvPr>
          <p:cNvPicPr>
            <a:picLocks noChangeAspect="1"/>
          </p:cNvPicPr>
          <p:nvPr/>
        </p:nvPicPr>
        <p:blipFill>
          <a:blip r:embed="rId4">
            <a:extLst>
              <a:ext uri="{28A0092B-C50C-407E-A947-70E740481C1C}">
                <a14:useLocalDpi xmlns:a14="http://schemas.microsoft.com/office/drawing/2010/main" val="0"/>
              </a:ext>
            </a:extLst>
          </a:blip>
          <a:srcRect l="1802" t="6597" r="8775" b="1459"/>
          <a:stretch>
            <a:fillRect/>
          </a:stretch>
        </p:blipFill>
        <p:spPr>
          <a:xfrm>
            <a:off x="15094989" y="7119264"/>
            <a:ext cx="6034153" cy="4653325"/>
          </a:xfrm>
          <a:prstGeom prst="rect">
            <a:avLst/>
          </a:prstGeom>
        </p:spPr>
      </p:pic>
      <p:pic>
        <p:nvPicPr>
          <p:cNvPr id="25" name="Picture 24" descr="A screenshot of a game&#10;&#10;AI-generated content may be incorrect.">
            <a:extLst>
              <a:ext uri="{FF2B5EF4-FFF2-40B4-BE49-F238E27FC236}">
                <a16:creationId xmlns:a16="http://schemas.microsoft.com/office/drawing/2014/main" id="{F3C2631D-27CA-68E8-6F48-B7185884B185}"/>
              </a:ext>
            </a:extLst>
          </p:cNvPr>
          <p:cNvPicPr>
            <a:picLocks noChangeAspect="1"/>
          </p:cNvPicPr>
          <p:nvPr/>
        </p:nvPicPr>
        <p:blipFill>
          <a:blip r:embed="rId5">
            <a:extLst>
              <a:ext uri="{28A0092B-C50C-407E-A947-70E740481C1C}">
                <a14:useLocalDpi xmlns:a14="http://schemas.microsoft.com/office/drawing/2010/main" val="0"/>
              </a:ext>
            </a:extLst>
          </a:blip>
          <a:srcRect r="53893" b="67039"/>
          <a:stretch>
            <a:fillRect/>
          </a:stretch>
        </p:blipFill>
        <p:spPr>
          <a:xfrm>
            <a:off x="528903" y="5510284"/>
            <a:ext cx="3369843" cy="3407725"/>
          </a:xfrm>
          <a:prstGeom prst="rect">
            <a:avLst/>
          </a:prstGeom>
        </p:spPr>
      </p:pic>
      <p:sp>
        <p:nvSpPr>
          <p:cNvPr id="26" name="TextBox 25">
            <a:extLst>
              <a:ext uri="{FF2B5EF4-FFF2-40B4-BE49-F238E27FC236}">
                <a16:creationId xmlns:a16="http://schemas.microsoft.com/office/drawing/2014/main" id="{319DF99C-F484-6833-9030-2D576AA7767D}"/>
              </a:ext>
            </a:extLst>
          </p:cNvPr>
          <p:cNvSpPr txBox="1"/>
          <p:nvPr/>
        </p:nvSpPr>
        <p:spPr>
          <a:xfrm>
            <a:off x="7971425" y="2019196"/>
            <a:ext cx="6680199" cy="1446550"/>
          </a:xfrm>
          <a:prstGeom prst="rect">
            <a:avLst/>
          </a:prstGeom>
          <a:noFill/>
        </p:spPr>
        <p:txBody>
          <a:bodyPr wrap="square" rtlCol="0">
            <a:spAutoFit/>
          </a:bodyPr>
          <a:lstStyle/>
          <a:p>
            <a:r>
              <a:rPr lang="en-GB" sz="2200" dirty="0"/>
              <a:t>J is the interaction strength between neighbouring spins, with J &gt; 0 and J &lt; 0 corresponding with the tendency for neighbouring spins to align or anti-align, respectively.</a:t>
            </a:r>
          </a:p>
        </p:txBody>
      </p:sp>
      <p:sp>
        <p:nvSpPr>
          <p:cNvPr id="27" name="Rectangle 26">
            <a:extLst>
              <a:ext uri="{FF2B5EF4-FFF2-40B4-BE49-F238E27FC236}">
                <a16:creationId xmlns:a16="http://schemas.microsoft.com/office/drawing/2014/main" id="{FCD38B14-5162-1897-D370-DF73AE89CDF6}"/>
              </a:ext>
            </a:extLst>
          </p:cNvPr>
          <p:cNvSpPr/>
          <p:nvPr/>
        </p:nvSpPr>
        <p:spPr>
          <a:xfrm>
            <a:off x="2283435" y="13384555"/>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FBE819E2-044B-121E-8DAE-83E180E57AFC}"/>
              </a:ext>
            </a:extLst>
          </p:cNvPr>
          <p:cNvSpPr/>
          <p:nvPr/>
        </p:nvSpPr>
        <p:spPr>
          <a:xfrm>
            <a:off x="4217147" y="13384555"/>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0532738C-668C-305C-6337-935F027F4892}"/>
                  </a:ext>
                </a:extLst>
              </p:cNvPr>
              <p:cNvSpPr txBox="1"/>
              <p:nvPr/>
            </p:nvSpPr>
            <p:spPr>
              <a:xfrm>
                <a:off x="7923797" y="4208061"/>
                <a:ext cx="6861180" cy="4653325"/>
              </a:xfrm>
              <a:prstGeom prst="rect">
                <a:avLst/>
              </a:prstGeom>
              <a:noFill/>
            </p:spPr>
            <p:txBody>
              <a:bodyPr wrap="square" rtlCol="0">
                <a:spAutoFit/>
              </a:bodyPr>
              <a:lstStyle/>
              <a:p>
                <a:r>
                  <a:rPr lang="en-GB" sz="2200" dirty="0"/>
                  <a:t>Even using a small lattice, checking each possible state configuration would be impossible. To address this and remove configurations that are extremely unlikely, we consider the partition function, </a:t>
                </a:r>
                <a14:m>
                  <m:oMath xmlns:m="http://schemas.openxmlformats.org/officeDocument/2006/math">
                    <m:r>
                      <a:rPr lang="en-GB" sz="2200" b="0" i="1" smtClean="0">
                        <a:latin typeface="Cambria Math" panose="02040503050406030204" pitchFamily="18" charset="0"/>
                      </a:rPr>
                      <m:t>𝑍</m:t>
                    </m:r>
                  </m:oMath>
                </a14:m>
                <a:r>
                  <a:rPr lang="en-GB" sz="2200" dirty="0"/>
                  <a:t>. This helps us determine which  states are most probable at a given temperature, so we can restrict our consideration to these configurations only. We define the partition function as </a:t>
                </a:r>
              </a:p>
              <a:p>
                <a:pPr/>
                <a14:m>
                  <m:oMathPara xmlns:m="http://schemas.openxmlformats.org/officeDocument/2006/math">
                    <m:oMathParaPr>
                      <m:jc m:val="centerGroup"/>
                    </m:oMathParaPr>
                    <m:oMath xmlns:m="http://schemas.openxmlformats.org/officeDocument/2006/math">
                      <m:r>
                        <a:rPr lang="en-GB" sz="2200" b="0" i="1" smtClean="0">
                          <a:latin typeface="Cambria Math" panose="02040503050406030204" pitchFamily="18" charset="0"/>
                        </a:rPr>
                        <m:t>𝑍</m:t>
                      </m:r>
                      <m:r>
                        <a:rPr lang="en-GB" sz="2200" b="0" i="1" smtClean="0">
                          <a:latin typeface="Cambria Math" panose="02040503050406030204" pitchFamily="18" charset="0"/>
                        </a:rPr>
                        <m:t>= </m:t>
                      </m:r>
                      <m:nary>
                        <m:naryPr>
                          <m:chr m:val="∑"/>
                          <m:supHide m:val="on"/>
                          <m:ctrlPr>
                            <a:rPr lang="en-GB" sz="2200" b="0" i="1" smtClean="0">
                              <a:latin typeface="Cambria Math" panose="02040503050406030204" pitchFamily="18" charset="0"/>
                            </a:rPr>
                          </m:ctrlPr>
                        </m:naryPr>
                        <m:sub>
                          <m:r>
                            <m:rPr>
                              <m:brk m:alnAt="7"/>
                            </m:rPr>
                            <a:rPr lang="en-GB" sz="2200" b="0" i="1" smtClean="0">
                              <a:latin typeface="Cambria Math" panose="02040503050406030204" pitchFamily="18" charset="0"/>
                            </a:rPr>
                            <m:t>𝑖</m:t>
                          </m:r>
                        </m:sub>
                        <m:sup/>
                        <m:e>
                          <m:r>
                            <m:rPr>
                              <m:sty m:val="p"/>
                            </m:rPr>
                            <a:rPr lang="en-GB" sz="2200" b="0" i="0" smtClean="0">
                              <a:latin typeface="Cambria Math" panose="02040503050406030204" pitchFamily="18" charset="0"/>
                            </a:rPr>
                            <m:t>exp</m:t>
                          </m:r>
                          <m:r>
                            <a:rPr lang="en-GB" sz="2200" b="0" i="1" smtClean="0">
                              <a:latin typeface="Cambria Math" panose="02040503050406030204" pitchFamily="18" charset="0"/>
                            </a:rPr>
                            <m:t>⁡</m:t>
                          </m:r>
                          <m:f>
                            <m:fPr>
                              <m:type m:val="skw"/>
                              <m:ctrlPr>
                                <a:rPr lang="en-GB" sz="2200" b="0" i="1" smtClean="0">
                                  <a:latin typeface="Cambria Math" panose="02040503050406030204" pitchFamily="18" charset="0"/>
                                </a:rPr>
                              </m:ctrlPr>
                            </m:fPr>
                            <m:num>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𝐸</m:t>
                                  </m:r>
                                </m:e>
                                <m:sub>
                                  <m:r>
                                    <a:rPr lang="en-GB" sz="2200" b="0" i="1" smtClean="0">
                                      <a:latin typeface="Cambria Math" panose="02040503050406030204" pitchFamily="18" charset="0"/>
                                    </a:rPr>
                                    <m:t>𝑖</m:t>
                                  </m:r>
                                </m:sub>
                              </m:sSub>
                            </m:num>
                            <m:den>
                              <m:r>
                                <a:rPr lang="en-GB" sz="2200" b="0" i="1" smtClean="0">
                                  <a:latin typeface="Cambria Math" panose="02040503050406030204" pitchFamily="18" charset="0"/>
                                </a:rPr>
                                <m:t>𝑘𝑇</m:t>
                              </m:r>
                            </m:den>
                          </m:f>
                        </m:e>
                      </m:nary>
                      <m:r>
                        <a:rPr lang="en-GB" sz="2200" b="0" i="0" smtClean="0">
                          <a:latin typeface="Cambria Math" panose="02040503050406030204" pitchFamily="18" charset="0"/>
                        </a:rPr>
                        <m:t>,</m:t>
                      </m:r>
                    </m:oMath>
                  </m:oMathPara>
                </a14:m>
                <a:endParaRPr lang="en-GB" sz="2200" dirty="0"/>
              </a:p>
              <a:p>
                <a:r>
                  <a:rPr lang="en-GB" sz="2200" dirty="0"/>
                  <a:t>where </a:t>
                </a: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𝐸</m:t>
                        </m:r>
                      </m:e>
                      <m:sub>
                        <m:r>
                          <a:rPr lang="en-GB" sz="2200" b="0" i="1" smtClean="0">
                            <a:latin typeface="Cambria Math" panose="02040503050406030204" pitchFamily="18" charset="0"/>
                          </a:rPr>
                          <m:t>𝑖</m:t>
                        </m:r>
                      </m:sub>
                    </m:sSub>
                  </m:oMath>
                </a14:m>
                <a:r>
                  <a:rPr lang="en-GB" sz="2200" dirty="0"/>
                  <a:t> is the energy of state </a:t>
                </a:r>
                <a14:m>
                  <m:oMath xmlns:m="http://schemas.openxmlformats.org/officeDocument/2006/math">
                    <m:r>
                      <a:rPr lang="en-GB" sz="2200" b="0" i="1" smtClean="0">
                        <a:latin typeface="Cambria Math" panose="02040503050406030204" pitchFamily="18" charset="0"/>
                      </a:rPr>
                      <m:t>𝑖</m:t>
                    </m:r>
                  </m:oMath>
                </a14:m>
                <a:r>
                  <a:rPr lang="en-GB" sz="2200" dirty="0">
                    <a:ea typeface="Cambria Math" panose="02040503050406030204" pitchFamily="18" charset="0"/>
                  </a:rPr>
                  <a:t>, </a:t>
                </a:r>
                <a14:m>
                  <m:oMath xmlns:m="http://schemas.openxmlformats.org/officeDocument/2006/math">
                    <m:r>
                      <a:rPr lang="en-GB" sz="2200" b="0" i="1" smtClean="0">
                        <a:latin typeface="Cambria Math" panose="02040503050406030204" pitchFamily="18" charset="0"/>
                        <a:ea typeface="Cambria Math" panose="02040503050406030204" pitchFamily="18" charset="0"/>
                      </a:rPr>
                      <m:t>𝑘</m:t>
                    </m:r>
                  </m:oMath>
                </a14:m>
                <a:r>
                  <a:rPr lang="en-GB" sz="2200" dirty="0">
                    <a:ea typeface="Cambria Math" panose="02040503050406030204" pitchFamily="18" charset="0"/>
                  </a:rPr>
                  <a:t> is the Boltzmann constant, and T is the temperature of the system.</a:t>
                </a:r>
              </a:p>
              <a:p>
                <a:endParaRPr lang="en-GB" sz="2300" dirty="0">
                  <a:latin typeface="Cambria Math" panose="02040503050406030204" pitchFamily="18" charset="0"/>
                  <a:ea typeface="Cambria Math" panose="02040503050406030204" pitchFamily="18" charset="0"/>
                </a:endParaRPr>
              </a:p>
            </p:txBody>
          </p:sp>
        </mc:Choice>
        <mc:Fallback xmlns="">
          <p:sp>
            <p:nvSpPr>
              <p:cNvPr id="32" name="TextBox 31">
                <a:extLst>
                  <a:ext uri="{FF2B5EF4-FFF2-40B4-BE49-F238E27FC236}">
                    <a16:creationId xmlns:a16="http://schemas.microsoft.com/office/drawing/2014/main" id="{0532738C-668C-305C-6337-935F027F4892}"/>
                  </a:ext>
                </a:extLst>
              </p:cNvPr>
              <p:cNvSpPr txBox="1">
                <a:spLocks noRot="1" noChangeAspect="1" noMove="1" noResize="1" noEditPoints="1" noAdjustHandles="1" noChangeArrowheads="1" noChangeShapeType="1" noTextEdit="1"/>
              </p:cNvSpPr>
              <p:nvPr/>
            </p:nvSpPr>
            <p:spPr>
              <a:xfrm>
                <a:off x="7923797" y="4208061"/>
                <a:ext cx="6861180" cy="4653325"/>
              </a:xfrm>
              <a:prstGeom prst="rect">
                <a:avLst/>
              </a:prstGeom>
              <a:blipFill>
                <a:blip r:embed="rId6"/>
                <a:stretch>
                  <a:fillRect l="-1156" t="-785" r="-1689"/>
                </a:stretch>
              </a:blipFill>
            </p:spPr>
            <p:txBody>
              <a:bodyPr/>
              <a:lstStyle/>
              <a:p>
                <a:r>
                  <a:rPr lang="en-GB">
                    <a:noFill/>
                  </a:rPr>
                  <a:t> </a:t>
                </a:r>
              </a:p>
            </p:txBody>
          </p:sp>
        </mc:Fallback>
      </mc:AlternateContent>
      <p:sp>
        <p:nvSpPr>
          <p:cNvPr id="33" name="TextBox 32">
            <a:extLst>
              <a:ext uri="{FF2B5EF4-FFF2-40B4-BE49-F238E27FC236}">
                <a16:creationId xmlns:a16="http://schemas.microsoft.com/office/drawing/2014/main" id="{2F50DD65-AC53-A622-F6B1-F7A2293DDFC4}"/>
              </a:ext>
            </a:extLst>
          </p:cNvPr>
          <p:cNvSpPr txBox="1"/>
          <p:nvPr/>
        </p:nvSpPr>
        <p:spPr>
          <a:xfrm>
            <a:off x="15059853" y="1994753"/>
            <a:ext cx="6255300" cy="2123658"/>
          </a:xfrm>
          <a:prstGeom prst="rect">
            <a:avLst/>
          </a:prstGeom>
          <a:noFill/>
        </p:spPr>
        <p:txBody>
          <a:bodyPr wrap="square" rtlCol="0">
            <a:spAutoFit/>
          </a:bodyPr>
          <a:lstStyle/>
          <a:p>
            <a:r>
              <a:rPr lang="en-GB" sz="2200" dirty="0">
                <a:cs typeface="Times New Roman" panose="02020603050405020304" pitchFamily="18" charset="0"/>
              </a:rPr>
              <a:t>3) If neither condition is met, retain original spin</a:t>
            </a:r>
          </a:p>
          <a:p>
            <a:r>
              <a:rPr lang="en-GB" sz="2200" dirty="0">
                <a:cs typeface="Times New Roman" panose="02020603050405020304" pitchFamily="18" charset="0"/>
              </a:rPr>
              <a:t>We then repeat these steps for every lattice point, applying periodic boundary conditions where necessary. This entire process is an implementation of the well-known metropolis algorithm [3].</a:t>
            </a:r>
            <a:endParaRPr lang="en-GB"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839DCA3-5F84-FB8B-36E3-88482DBF3260}"/>
                  </a:ext>
                </a:extLst>
              </p:cNvPr>
              <p:cNvSpPr txBox="1"/>
              <p:nvPr/>
            </p:nvSpPr>
            <p:spPr>
              <a:xfrm>
                <a:off x="8152552" y="9425484"/>
                <a:ext cx="6727827" cy="6935232"/>
              </a:xfrm>
              <a:prstGeom prst="rect">
                <a:avLst/>
              </a:prstGeom>
              <a:noFill/>
            </p:spPr>
            <p:txBody>
              <a:bodyPr wrap="square" rtlCol="0">
                <a:spAutoFit/>
              </a:bodyPr>
              <a:lstStyle/>
              <a:p>
                <a:r>
                  <a:rPr lang="en-GB" sz="2200" dirty="0">
                    <a:cs typeface="Times New Roman" panose="02020603050405020304" pitchFamily="18" charset="0"/>
                  </a:rPr>
                  <a:t>By flipping the spin of one lattice site and calculating the change in energy, we can use the partition function to see how likely this change is to occur. Since flipping a spin only effects the 4 nearest neighbours, we find the change in energy to be given by: </a:t>
                </a:r>
              </a:p>
              <a:p>
                <a:endParaRPr lang="en-GB" sz="2200" dirty="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m:rPr>
                          <m:sty m:val="p"/>
                        </m:rPr>
                        <a:rPr lang="en-GB" sz="2200" b="0" i="0" smtClean="0">
                          <a:latin typeface="Cambria Math" panose="02040503050406030204" pitchFamily="18" charset="0"/>
                          <a:cs typeface="Times New Roman" panose="02020603050405020304" pitchFamily="18" charset="0"/>
                        </a:rPr>
                        <m:t>Δ</m:t>
                      </m:r>
                      <m:r>
                        <a:rPr lang="en-GB" sz="2200" b="0" i="1" smtClean="0">
                          <a:latin typeface="Cambria Math" panose="02040503050406030204" pitchFamily="18" charset="0"/>
                          <a:cs typeface="Times New Roman" panose="02020603050405020304" pitchFamily="18" charset="0"/>
                        </a:rPr>
                        <m:t>𝐸</m:t>
                      </m:r>
                      <m:r>
                        <a:rPr lang="en-GB" sz="2200" b="0" i="1" smtClean="0">
                          <a:latin typeface="Cambria Math" panose="02040503050406030204" pitchFamily="18" charset="0"/>
                          <a:cs typeface="Times New Roman" panose="02020603050405020304" pitchFamily="18" charset="0"/>
                        </a:rPr>
                        <m:t>=−2</m:t>
                      </m:r>
                      <m:d>
                        <m:dPr>
                          <m:begChr m:val="["/>
                          <m:endChr m:val="]"/>
                          <m:ctrlPr>
                            <a:rPr lang="en-GB" sz="2200" b="0" i="1" smtClean="0">
                              <a:latin typeface="Cambria Math" panose="02040503050406030204" pitchFamily="18" charset="0"/>
                              <a:cs typeface="Times New Roman" panose="02020603050405020304" pitchFamily="18" charset="0"/>
                            </a:rPr>
                          </m:ctrlPr>
                        </m:dPr>
                        <m:e>
                          <m:r>
                            <a:rPr lang="en-GB" sz="2200" b="0" i="1" smtClean="0">
                              <a:latin typeface="Cambria Math" panose="02040503050406030204" pitchFamily="18" charset="0"/>
                              <a:cs typeface="Times New Roman" panose="02020603050405020304" pitchFamily="18" charset="0"/>
                            </a:rPr>
                            <m:t>𝐽𝑓</m:t>
                          </m:r>
                          <m:r>
                            <a:rPr lang="en-GB" sz="2200" b="0" i="1" smtClean="0">
                              <a:latin typeface="Cambria Math" panose="02040503050406030204" pitchFamily="18" charset="0"/>
                              <a:cs typeface="Times New Roman" panose="02020603050405020304" pitchFamily="18" charset="0"/>
                            </a:rPr>
                            <m:t>+</m:t>
                          </m:r>
                          <m:r>
                            <a:rPr lang="en-GB" sz="2200" b="0" i="1" smtClean="0">
                              <a:latin typeface="Cambria Math" panose="02040503050406030204" pitchFamily="18" charset="0"/>
                              <a:cs typeface="Times New Roman" panose="02020603050405020304" pitchFamily="18" charset="0"/>
                            </a:rPr>
                            <m:t>𝐵</m:t>
                          </m:r>
                        </m:e>
                      </m:d>
                      <m:sSub>
                        <m:sSubPr>
                          <m:ctrlPr>
                            <a:rPr lang="en-GB" sz="2200" b="0" i="1" smtClean="0">
                              <a:latin typeface="Cambria Math" panose="02040503050406030204" pitchFamily="18" charset="0"/>
                              <a:cs typeface="Times New Roman" panose="02020603050405020304" pitchFamily="18" charset="0"/>
                            </a:rPr>
                          </m:ctrlPr>
                        </m:sSubPr>
                        <m:e>
                          <m:r>
                            <a:rPr lang="en-GB" sz="2200" b="0" i="1" smtClean="0">
                              <a:latin typeface="Cambria Math" panose="02040503050406030204" pitchFamily="18" charset="0"/>
                              <a:cs typeface="Times New Roman" panose="02020603050405020304" pitchFamily="18" charset="0"/>
                            </a:rPr>
                            <m:t>𝑆</m:t>
                          </m:r>
                        </m:e>
                        <m:sub>
                          <m:r>
                            <m:rPr>
                              <m:sty m:val="p"/>
                            </m:rPr>
                            <a:rPr lang="en-GB" sz="2200" b="0" i="1" smtClean="0">
                              <a:latin typeface="Cambria Math" panose="02040503050406030204" pitchFamily="18" charset="0"/>
                              <a:cs typeface="Times New Roman" panose="02020603050405020304" pitchFamily="18" charset="0"/>
                            </a:rPr>
                            <m:t>α</m:t>
                          </m:r>
                        </m:sub>
                      </m:sSub>
                      <m:r>
                        <a:rPr lang="en-GB" sz="2200" b="0" i="0" smtClean="0">
                          <a:latin typeface="Cambria Math" panose="02040503050406030204" pitchFamily="18" charset="0"/>
                          <a:cs typeface="Times New Roman" panose="02020603050405020304" pitchFamily="18" charset="0"/>
                        </a:rPr>
                        <m:t>,</m:t>
                      </m:r>
                    </m:oMath>
                  </m:oMathPara>
                </a14:m>
                <a:endParaRPr lang="en-GB" sz="2200" b="0" dirty="0">
                  <a:cs typeface="Times New Roman" panose="02020603050405020304" pitchFamily="18" charset="0"/>
                </a:endParaRPr>
              </a:p>
              <a:p>
                <a:endParaRPr lang="en-GB" sz="2200" b="0" dirty="0">
                  <a:cs typeface="Times New Roman" panose="02020603050405020304" pitchFamily="18" charset="0"/>
                </a:endParaRPr>
              </a:p>
              <a:p>
                <a:r>
                  <a:rPr lang="en-GB" sz="2200" dirty="0">
                    <a:cs typeface="Times New Roman" panose="02020603050405020304" pitchFamily="18" charset="0"/>
                  </a:rPr>
                  <a:t>where f is the sum of the flipped site’s 4 nearest neighbours, and the negative sign ensures fully aligned spins correlate to a lower energy state. Whether or not we keep the flipped state depends on whether it meets the following criteria: </a:t>
                </a:r>
              </a:p>
              <a:p>
                <a:pPr marL="342900" indent="-342900">
                  <a:buAutoNum type="arabicParenR"/>
                </a:pPr>
                <a:r>
                  <a:rPr lang="en-GB" sz="2200" dirty="0">
                    <a:cs typeface="Times New Roman" panose="02020603050405020304" pitchFamily="18" charset="0"/>
                  </a:rPr>
                  <a:t>If </a:t>
                </a:r>
                <a14:m>
                  <m:oMath xmlns:m="http://schemas.openxmlformats.org/officeDocument/2006/math">
                    <m:func>
                      <m:funcPr>
                        <m:ctrlPr>
                          <a:rPr lang="en-GB" sz="2200" i="1">
                            <a:latin typeface="Cambria Math" panose="02040503050406030204" pitchFamily="18" charset="0"/>
                          </a:rPr>
                        </m:ctrlPr>
                      </m:funcPr>
                      <m:fName>
                        <m:r>
                          <m:rPr>
                            <m:sty m:val="p"/>
                          </m:rPr>
                          <a:rPr lang="en-GB" sz="2200">
                            <a:latin typeface="Cambria Math" panose="02040503050406030204" pitchFamily="18" charset="0"/>
                          </a:rPr>
                          <m:t>exp</m:t>
                        </m:r>
                      </m:fName>
                      <m:e>
                        <m:d>
                          <m:dPr>
                            <m:ctrlPr>
                              <a:rPr lang="en-GB" sz="2200" i="1">
                                <a:latin typeface="Cambria Math" panose="02040503050406030204" pitchFamily="18" charset="0"/>
                              </a:rPr>
                            </m:ctrlPr>
                          </m:dPr>
                          <m:e>
                            <m:f>
                              <m:fPr>
                                <m:type m:val="skw"/>
                                <m:ctrlPr>
                                  <a:rPr lang="en-GB" sz="2200" i="1">
                                    <a:latin typeface="Cambria Math" panose="02040503050406030204" pitchFamily="18" charset="0"/>
                                  </a:rPr>
                                </m:ctrlPr>
                              </m:fPr>
                              <m:num>
                                <m:r>
                                  <m:rPr>
                                    <m:sty m:val="p"/>
                                  </m:rPr>
                                  <a:rPr lang="en-GB" sz="2200">
                                    <a:latin typeface="Cambria Math" panose="02040503050406030204" pitchFamily="18" charset="0"/>
                                  </a:rPr>
                                  <m:t>Δ</m:t>
                                </m:r>
                                <m:r>
                                  <a:rPr lang="en-GB" sz="2200" i="1">
                                    <a:latin typeface="Cambria Math" panose="02040503050406030204" pitchFamily="18" charset="0"/>
                                  </a:rPr>
                                  <m:t>𝐸</m:t>
                                </m:r>
                              </m:num>
                              <m:den>
                                <m:r>
                                  <a:rPr lang="en-GB" sz="2200" i="1">
                                    <a:latin typeface="Cambria Math" panose="02040503050406030204" pitchFamily="18" charset="0"/>
                                  </a:rPr>
                                  <m:t>𝑘𝑇</m:t>
                                </m:r>
                              </m:den>
                            </m:f>
                          </m:e>
                        </m:d>
                      </m:e>
                    </m:func>
                    <m:r>
                      <a:rPr lang="en-GB" sz="2200" i="1">
                        <a:latin typeface="Cambria Math" panose="02040503050406030204" pitchFamily="18" charset="0"/>
                      </a:rPr>
                      <m:t>&gt;1  </m:t>
                    </m:r>
                  </m:oMath>
                </a14:m>
                <a:r>
                  <a:rPr lang="en-GB" sz="2200" dirty="0">
                    <a:cs typeface="Times New Roman" panose="02020603050405020304" pitchFamily="18" charset="0"/>
                  </a:rPr>
                  <a:t>keep the flipped spin</a:t>
                </a:r>
              </a:p>
              <a:p>
                <a:pPr marL="342900" indent="-342900">
                  <a:buAutoNum type="arabicParenR"/>
                </a:pPr>
                <a:r>
                  <a:rPr lang="en-GB" sz="2200" dirty="0">
                    <a:cs typeface="Times New Roman" panose="02020603050405020304" pitchFamily="18" charset="0"/>
                  </a:rPr>
                  <a:t>If not, generate a random number, </a:t>
                </a:r>
                <a14:m>
                  <m:oMath xmlns:m="http://schemas.openxmlformats.org/officeDocument/2006/math">
                    <m:r>
                      <a:rPr lang="en-GB" sz="2200" i="1" dirty="0">
                        <a:latin typeface="Cambria Math" panose="02040503050406030204" pitchFamily="18" charset="0"/>
                      </a:rPr>
                      <m:t>𝑛</m:t>
                    </m:r>
                  </m:oMath>
                </a14:m>
                <a:r>
                  <a:rPr lang="en-GB" sz="2200" dirty="0">
                    <a:cs typeface="Times New Roman" panose="02020603050405020304" pitchFamily="18" charset="0"/>
                  </a:rPr>
                  <a:t>, between 0 and 1. If </a:t>
                </a:r>
                <a14:m>
                  <m:oMath xmlns:m="http://schemas.openxmlformats.org/officeDocument/2006/math">
                    <m:func>
                      <m:funcPr>
                        <m:ctrlPr>
                          <a:rPr lang="en-GB" sz="2200" i="1">
                            <a:latin typeface="Cambria Math" panose="02040503050406030204" pitchFamily="18" charset="0"/>
                          </a:rPr>
                        </m:ctrlPr>
                      </m:funcPr>
                      <m:fName>
                        <m:r>
                          <m:rPr>
                            <m:sty m:val="p"/>
                          </m:rPr>
                          <a:rPr lang="en-GB" sz="2200">
                            <a:latin typeface="Cambria Math" panose="02040503050406030204" pitchFamily="18" charset="0"/>
                          </a:rPr>
                          <m:t>exp</m:t>
                        </m:r>
                      </m:fName>
                      <m:e>
                        <m:d>
                          <m:dPr>
                            <m:ctrlPr>
                              <a:rPr lang="en-GB" sz="2200" i="1">
                                <a:latin typeface="Cambria Math" panose="02040503050406030204" pitchFamily="18" charset="0"/>
                              </a:rPr>
                            </m:ctrlPr>
                          </m:dPr>
                          <m:e>
                            <m:f>
                              <m:fPr>
                                <m:type m:val="skw"/>
                                <m:ctrlPr>
                                  <a:rPr lang="en-GB" sz="2200" i="1">
                                    <a:latin typeface="Cambria Math" panose="02040503050406030204" pitchFamily="18" charset="0"/>
                                  </a:rPr>
                                </m:ctrlPr>
                              </m:fPr>
                              <m:num>
                                <m:r>
                                  <m:rPr>
                                    <m:sty m:val="p"/>
                                  </m:rPr>
                                  <a:rPr lang="en-GB" sz="2200">
                                    <a:latin typeface="Cambria Math" panose="02040503050406030204" pitchFamily="18" charset="0"/>
                                  </a:rPr>
                                  <m:t>Δ</m:t>
                                </m:r>
                                <m:r>
                                  <a:rPr lang="en-GB" sz="2200" i="1">
                                    <a:latin typeface="Cambria Math" panose="02040503050406030204" pitchFamily="18" charset="0"/>
                                  </a:rPr>
                                  <m:t>𝐸</m:t>
                                </m:r>
                              </m:num>
                              <m:den>
                                <m:r>
                                  <a:rPr lang="en-GB" sz="2200" i="1">
                                    <a:latin typeface="Cambria Math" panose="02040503050406030204" pitchFamily="18" charset="0"/>
                                  </a:rPr>
                                  <m:t>𝑘𝑇</m:t>
                                </m:r>
                              </m:den>
                            </m:f>
                          </m:e>
                        </m:d>
                      </m:e>
                    </m:func>
                    <m:r>
                      <a:rPr lang="en-GB" sz="2200" i="1">
                        <a:latin typeface="Cambria Math" panose="02040503050406030204" pitchFamily="18" charset="0"/>
                      </a:rPr>
                      <m:t>&gt;</m:t>
                    </m:r>
                    <m:r>
                      <a:rPr lang="en-GB" sz="2200" i="1">
                        <a:latin typeface="Cambria Math" panose="02040503050406030204" pitchFamily="18" charset="0"/>
                      </a:rPr>
                      <m:t>𝑛</m:t>
                    </m:r>
                  </m:oMath>
                </a14:m>
                <a:r>
                  <a:rPr lang="en-GB" sz="2200" dirty="0">
                    <a:cs typeface="Times New Roman" panose="02020603050405020304" pitchFamily="18" charset="0"/>
                  </a:rPr>
                  <a:t>, keep the flipped spin</a:t>
                </a:r>
              </a:p>
              <a:p>
                <a:endParaRPr lang="en-GB" sz="2200" dirty="0">
                  <a:latin typeface="Times New Roman" panose="02020603050405020304" pitchFamily="18" charset="0"/>
                  <a:cs typeface="Times New Roman" panose="02020603050405020304" pitchFamily="18" charset="0"/>
                </a:endParaRPr>
              </a:p>
              <a:p>
                <a:endParaRPr lang="en-GB" sz="2300" b="0" dirty="0">
                  <a:latin typeface="Times New Roman" panose="02020603050405020304" pitchFamily="18" charset="0"/>
                  <a:cs typeface="Times New Roman" panose="02020603050405020304" pitchFamily="18" charset="0"/>
                </a:endParaRPr>
              </a:p>
              <a:p>
                <a:endParaRPr lang="en-GB" sz="2400" dirty="0">
                  <a:latin typeface="Times New Roman" panose="02020603050405020304" pitchFamily="18" charset="0"/>
                  <a:cs typeface="Times New Roman" panose="02020603050405020304" pitchFamily="18" charset="0"/>
                </a:endParaRPr>
              </a:p>
              <a:p>
                <a:endParaRPr lang="en-GB" dirty="0"/>
              </a:p>
            </p:txBody>
          </p:sp>
        </mc:Choice>
        <mc:Fallback xmlns="">
          <p:sp>
            <p:nvSpPr>
              <p:cNvPr id="2" name="TextBox 1">
                <a:extLst>
                  <a:ext uri="{FF2B5EF4-FFF2-40B4-BE49-F238E27FC236}">
                    <a16:creationId xmlns:a16="http://schemas.microsoft.com/office/drawing/2014/main" id="{1839DCA3-5F84-FB8B-36E3-88482DBF3260}"/>
                  </a:ext>
                </a:extLst>
              </p:cNvPr>
              <p:cNvSpPr txBox="1">
                <a:spLocks noRot="1" noChangeAspect="1" noMove="1" noResize="1" noEditPoints="1" noAdjustHandles="1" noChangeArrowheads="1" noChangeShapeType="1" noTextEdit="1"/>
              </p:cNvSpPr>
              <p:nvPr/>
            </p:nvSpPr>
            <p:spPr>
              <a:xfrm>
                <a:off x="8152552" y="9425484"/>
                <a:ext cx="6727827" cy="6935232"/>
              </a:xfrm>
              <a:prstGeom prst="rect">
                <a:avLst/>
              </a:prstGeom>
              <a:blipFill>
                <a:blip r:embed="rId7"/>
                <a:stretch>
                  <a:fillRect l="-1178" t="-615" r="-172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03B3631-D305-E958-4D19-49F235DEC2C0}"/>
                  </a:ext>
                </a:extLst>
              </p:cNvPr>
              <p:cNvSpPr txBox="1"/>
              <p:nvPr/>
            </p:nvSpPr>
            <p:spPr>
              <a:xfrm>
                <a:off x="15296904" y="11775033"/>
                <a:ext cx="5883278" cy="2426498"/>
              </a:xfrm>
              <a:prstGeom prst="rect">
                <a:avLst/>
              </a:prstGeom>
              <a:noFill/>
            </p:spPr>
            <p:txBody>
              <a:bodyPr wrap="square" rtlCol="0">
                <a:spAutoFit/>
              </a:bodyPr>
              <a:lstStyle/>
              <a:p>
                <a:r>
                  <a:rPr lang="en-GB" dirty="0"/>
                  <a:t>Fig. 2: Plot of average magnetisation per spin against number of sweeps of the Monte Carlo algorithm. These are the results of a 32 x 32 lattice, with B = -0.05, J = 0.5, and </a:t>
                </a:r>
                <a:r>
                  <a:rPr lang="en-GB" dirty="0" err="1"/>
                  <a:t>kT</a:t>
                </a:r>
                <a:r>
                  <a:rPr lang="en-GB" dirty="0"/>
                  <a:t> = 1.  Average magnetisation was calculated using </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den>
                      </m:f>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𝛼</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𝑆</m:t>
                              </m:r>
                            </m:e>
                            <m:sub>
                              <m:r>
                                <a:rPr lang="en-GB" b="0" i="1" smtClean="0">
                                  <a:latin typeface="Cambria Math" panose="02040503050406030204" pitchFamily="18" charset="0"/>
                                </a:rPr>
                                <m:t>𝛼</m:t>
                              </m:r>
                            </m:sub>
                          </m:sSub>
                        </m:e>
                      </m:nary>
                    </m:oMath>
                  </m:oMathPara>
                </a14:m>
                <a:endParaRPr lang="en-GB" dirty="0"/>
              </a:p>
              <a:p>
                <a:endParaRPr lang="en-GB" dirty="0"/>
              </a:p>
              <a:p>
                <a:endParaRPr lang="en-GB" dirty="0"/>
              </a:p>
            </p:txBody>
          </p:sp>
        </mc:Choice>
        <mc:Fallback xmlns="">
          <p:sp>
            <p:nvSpPr>
              <p:cNvPr id="3" name="TextBox 2">
                <a:extLst>
                  <a:ext uri="{FF2B5EF4-FFF2-40B4-BE49-F238E27FC236}">
                    <a16:creationId xmlns:a16="http://schemas.microsoft.com/office/drawing/2014/main" id="{003B3631-D305-E958-4D19-49F235DEC2C0}"/>
                  </a:ext>
                </a:extLst>
              </p:cNvPr>
              <p:cNvSpPr txBox="1">
                <a:spLocks noRot="1" noChangeAspect="1" noMove="1" noResize="1" noEditPoints="1" noAdjustHandles="1" noChangeArrowheads="1" noChangeShapeType="1" noTextEdit="1"/>
              </p:cNvSpPr>
              <p:nvPr/>
            </p:nvSpPr>
            <p:spPr>
              <a:xfrm>
                <a:off x="15296904" y="11775033"/>
                <a:ext cx="5883278" cy="2426498"/>
              </a:xfrm>
              <a:prstGeom prst="rect">
                <a:avLst/>
              </a:prstGeom>
              <a:blipFill>
                <a:blip r:embed="rId8"/>
                <a:stretch>
                  <a:fillRect l="-829" t="-1256"/>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5D484BA2-0C2B-4BCF-3EE0-C2653B153733}"/>
              </a:ext>
            </a:extLst>
          </p:cNvPr>
          <p:cNvSpPr txBox="1"/>
          <p:nvPr/>
        </p:nvSpPr>
        <p:spPr>
          <a:xfrm>
            <a:off x="6071346" y="12585704"/>
            <a:ext cx="787400" cy="446276"/>
          </a:xfrm>
          <a:prstGeom prst="rect">
            <a:avLst/>
          </a:prstGeom>
          <a:noFill/>
        </p:spPr>
        <p:txBody>
          <a:bodyPr wrap="square" rtlCol="0">
            <a:spAutoFit/>
          </a:bodyPr>
          <a:lstStyle/>
          <a:p>
            <a:r>
              <a:rPr lang="en-GB" sz="2200" dirty="0"/>
              <a:t> </a:t>
            </a:r>
            <a:r>
              <a:rPr lang="en-GB" sz="2200" dirty="0">
                <a:latin typeface="Cambria Math" panose="02040503050406030204" pitchFamily="18" charset="0"/>
                <a:ea typeface="Cambria Math" panose="02040503050406030204" pitchFamily="18" charset="0"/>
              </a:rPr>
              <a:t>(1)</a:t>
            </a:r>
          </a:p>
        </p:txBody>
      </p:sp>
      <p:sp>
        <p:nvSpPr>
          <p:cNvPr id="7" name="TextBox 6">
            <a:extLst>
              <a:ext uri="{FF2B5EF4-FFF2-40B4-BE49-F238E27FC236}">
                <a16:creationId xmlns:a16="http://schemas.microsoft.com/office/drawing/2014/main" id="{A9303212-0DA3-0102-8B95-DFFAE24D5ADA}"/>
              </a:ext>
            </a:extLst>
          </p:cNvPr>
          <p:cNvSpPr txBox="1"/>
          <p:nvPr/>
        </p:nvSpPr>
        <p:spPr>
          <a:xfrm>
            <a:off x="13245099" y="7113399"/>
            <a:ext cx="1406525" cy="446276"/>
          </a:xfrm>
          <a:prstGeom prst="rect">
            <a:avLst/>
          </a:prstGeom>
          <a:noFill/>
        </p:spPr>
        <p:txBody>
          <a:bodyPr wrap="square">
            <a:spAutoFit/>
          </a:bodyPr>
          <a:lstStyle/>
          <a:p>
            <a:r>
              <a:rPr lang="en-GB" sz="2200" dirty="0"/>
              <a:t> </a:t>
            </a:r>
            <a:r>
              <a:rPr lang="en-GB" sz="2200" dirty="0">
                <a:latin typeface="Cambria Math" panose="02040503050406030204" pitchFamily="18" charset="0"/>
                <a:ea typeface="Cambria Math" panose="02040503050406030204" pitchFamily="18" charset="0"/>
              </a:rPr>
              <a:t>(2)</a:t>
            </a:r>
          </a:p>
        </p:txBody>
      </p:sp>
      <p:sp>
        <p:nvSpPr>
          <p:cNvPr id="8" name="TextBox 7">
            <a:extLst>
              <a:ext uri="{FF2B5EF4-FFF2-40B4-BE49-F238E27FC236}">
                <a16:creationId xmlns:a16="http://schemas.microsoft.com/office/drawing/2014/main" id="{54E4EF3C-0D16-5929-F8B3-FF75F149963B}"/>
              </a:ext>
            </a:extLst>
          </p:cNvPr>
          <p:cNvSpPr txBox="1"/>
          <p:nvPr/>
        </p:nvSpPr>
        <p:spPr>
          <a:xfrm>
            <a:off x="4127501" y="5921486"/>
            <a:ext cx="2997199" cy="3139321"/>
          </a:xfrm>
          <a:prstGeom prst="rect">
            <a:avLst/>
          </a:prstGeom>
          <a:noFill/>
        </p:spPr>
        <p:txBody>
          <a:bodyPr wrap="square" rtlCol="0">
            <a:spAutoFit/>
          </a:bodyPr>
          <a:lstStyle/>
          <a:p>
            <a:r>
              <a:rPr lang="en-GB" dirty="0"/>
              <a:t>Fig. 1: Periodic lattice (i.e. edges wrap around) with randomly assigned spins. Red = spin-up, Blue = spin-down . </a:t>
            </a:r>
          </a:p>
          <a:p>
            <a:r>
              <a:rPr lang="en-GB" dirty="0"/>
              <a:t>The four nearest neighbours of the centre square are shown using white borders and numbers.</a:t>
            </a:r>
          </a:p>
          <a:p>
            <a:endParaRPr lang="en-GB" dirty="0"/>
          </a:p>
          <a:p>
            <a:endParaRPr lang="en-GB" dirty="0"/>
          </a:p>
        </p:txBody>
      </p:sp>
      <p:sp>
        <p:nvSpPr>
          <p:cNvPr id="19" name="TextBox 18">
            <a:extLst>
              <a:ext uri="{FF2B5EF4-FFF2-40B4-BE49-F238E27FC236}">
                <a16:creationId xmlns:a16="http://schemas.microsoft.com/office/drawing/2014/main" id="{A19BBED8-59C1-49AB-935C-0CFD9CF8878B}"/>
              </a:ext>
            </a:extLst>
          </p:cNvPr>
          <p:cNvSpPr txBox="1"/>
          <p:nvPr/>
        </p:nvSpPr>
        <p:spPr>
          <a:xfrm>
            <a:off x="13245099" y="11444343"/>
            <a:ext cx="1406525" cy="446276"/>
          </a:xfrm>
          <a:prstGeom prst="rect">
            <a:avLst/>
          </a:prstGeom>
          <a:noFill/>
        </p:spPr>
        <p:txBody>
          <a:bodyPr wrap="square">
            <a:spAutoFit/>
          </a:bodyPr>
          <a:lstStyle/>
          <a:p>
            <a:r>
              <a:rPr lang="en-GB" sz="2300" dirty="0"/>
              <a:t> </a:t>
            </a:r>
            <a:r>
              <a:rPr lang="en-GB" sz="2200" dirty="0">
                <a:latin typeface="Cambria Math" panose="02040503050406030204" pitchFamily="18" charset="0"/>
                <a:ea typeface="Cambria Math" panose="02040503050406030204" pitchFamily="18" charset="0"/>
              </a:rPr>
              <a:t>(3)</a:t>
            </a:r>
          </a:p>
        </p:txBody>
      </p:sp>
      <p:sp>
        <p:nvSpPr>
          <p:cNvPr id="20" name="TextBox 19">
            <a:extLst>
              <a:ext uri="{FF2B5EF4-FFF2-40B4-BE49-F238E27FC236}">
                <a16:creationId xmlns:a16="http://schemas.microsoft.com/office/drawing/2014/main" id="{217423D3-2942-FAD2-63B6-5B9D19F5B673}"/>
              </a:ext>
            </a:extLst>
          </p:cNvPr>
          <p:cNvSpPr txBox="1"/>
          <p:nvPr/>
        </p:nvSpPr>
        <p:spPr>
          <a:xfrm>
            <a:off x="15094989" y="4655829"/>
            <a:ext cx="5956300" cy="5170646"/>
          </a:xfrm>
          <a:prstGeom prst="rect">
            <a:avLst/>
          </a:prstGeom>
          <a:noFill/>
        </p:spPr>
        <p:txBody>
          <a:bodyPr wrap="square" rtlCol="0">
            <a:spAutoFit/>
          </a:bodyPr>
          <a:lstStyle/>
          <a:p>
            <a:r>
              <a:rPr lang="en-GB" sz="2200" dirty="0"/>
              <a:t>Fig. 2 shows the average magnetisation as a function of sweeps (one sweep corresponds to applying the metropolis algorithm across the entire lattice), for B = -0.05 and J = 0.5. This plot clearly demonstrates the Ising model’s ability to predict the evolution of a ferromagnetic system towards a steady state.</a:t>
            </a:r>
          </a:p>
          <a:p>
            <a:endParaRPr lang="en-GB" sz="2200" dirty="0">
              <a:solidFill>
                <a:srgbClr val="FF0000"/>
              </a:solidFill>
            </a:endParaRPr>
          </a:p>
          <a:p>
            <a:r>
              <a:rPr lang="en-GB" sz="2200" dirty="0">
                <a:solidFill>
                  <a:srgbClr val="FF0000"/>
                </a:solidFill>
              </a:rPr>
              <a:t>Despite being no exact solution for these parameters (unlike </a:t>
            </a:r>
            <a:r>
              <a:rPr lang="en-GB" sz="2200" dirty="0" err="1">
                <a:solidFill>
                  <a:srgbClr val="FF0000"/>
                </a:solidFill>
              </a:rPr>
              <a:t>onsagers</a:t>
            </a:r>
            <a:r>
              <a:rPr lang="en-GB" sz="2200" dirty="0">
                <a:solidFill>
                  <a:srgbClr val="FF0000"/>
                </a:solidFill>
              </a:rPr>
              <a:t> solution for B = 0), we can use MFT to get an approximate result to compare to. For these parameters MFT gives &lt;M&gt; = 0.96, which is slightly larger than our value, although expected due to its (use sources here). </a:t>
            </a:r>
          </a:p>
        </p:txBody>
      </p:sp>
      <p:sp>
        <p:nvSpPr>
          <p:cNvPr id="21" name="TextBox 20">
            <a:extLst>
              <a:ext uri="{FF2B5EF4-FFF2-40B4-BE49-F238E27FC236}">
                <a16:creationId xmlns:a16="http://schemas.microsoft.com/office/drawing/2014/main" id="{626E3E7C-2884-1700-669C-B943C5240910}"/>
              </a:ext>
            </a:extLst>
          </p:cNvPr>
          <p:cNvSpPr txBox="1"/>
          <p:nvPr/>
        </p:nvSpPr>
        <p:spPr>
          <a:xfrm>
            <a:off x="15245864" y="14139191"/>
            <a:ext cx="5883278" cy="1051057"/>
          </a:xfrm>
          <a:prstGeom prst="rect">
            <a:avLst/>
          </a:prstGeom>
          <a:noFill/>
        </p:spPr>
        <p:txBody>
          <a:bodyPr wrap="square" rtlCol="0">
            <a:spAutoFit/>
          </a:bodyPr>
          <a:lstStyle/>
          <a:p>
            <a:pPr marL="228600" indent="-228600">
              <a:buAutoNum type="arabicPeriod"/>
            </a:pPr>
            <a:r>
              <a:rPr lang="de-DE" sz="880" dirty="0"/>
              <a:t>Ising, E. Beitrag zur Theorie des Ferromagnetismus. </a:t>
            </a:r>
            <a:r>
              <a:rPr lang="de-DE" sz="880" i="1" dirty="0"/>
              <a:t>Z. Physik</a:t>
            </a:r>
            <a:r>
              <a:rPr lang="de-DE" sz="880" dirty="0"/>
              <a:t> </a:t>
            </a:r>
            <a:r>
              <a:rPr lang="de-DE" sz="880" b="1" dirty="0"/>
              <a:t>31</a:t>
            </a:r>
            <a:r>
              <a:rPr lang="de-DE" sz="880" dirty="0"/>
              <a:t>, 253–258 (1925). </a:t>
            </a:r>
            <a:r>
              <a:rPr lang="de-DE" sz="880" dirty="0">
                <a:hlinkClick r:id="rId9"/>
              </a:rPr>
              <a:t>https://doi.org/10.1007/BF02980577</a:t>
            </a:r>
            <a:endParaRPr lang="de-DE" sz="880" dirty="0"/>
          </a:p>
          <a:p>
            <a:pPr marL="228600" indent="-228600">
              <a:buAutoNum type="arabicPeriod"/>
            </a:pPr>
            <a:r>
              <a:rPr lang="en-GB" sz="880" dirty="0"/>
              <a:t>Onsager, L. Crystal Statistics. I. A Two-Dimensional Model with an Order-Disorder Transition. </a:t>
            </a:r>
            <a:r>
              <a:rPr lang="en-GB" sz="880" i="1" dirty="0"/>
              <a:t>Phys. Rev.</a:t>
            </a:r>
            <a:r>
              <a:rPr lang="en-GB" sz="880" dirty="0"/>
              <a:t> </a:t>
            </a:r>
            <a:r>
              <a:rPr lang="en-GB" sz="880" b="1" dirty="0"/>
              <a:t>65</a:t>
            </a:r>
            <a:r>
              <a:rPr lang="en-GB" sz="880" dirty="0"/>
              <a:t>, 117–149 (1944). </a:t>
            </a:r>
            <a:r>
              <a:rPr lang="en-GB" sz="880" dirty="0">
                <a:hlinkClick r:id="rId10"/>
              </a:rPr>
              <a:t>https://doi.org/10.1103/PhysRev.65.117</a:t>
            </a:r>
            <a:endParaRPr lang="en-GB" sz="880" dirty="0"/>
          </a:p>
          <a:p>
            <a:pPr marL="228600" indent="-228600">
              <a:buAutoNum type="arabicPeriod"/>
            </a:pPr>
            <a:r>
              <a:rPr lang="en-GB" sz="880" dirty="0"/>
              <a:t>Metropolis, N., Rosenbluth, A., Rosenbluth, M., Teller, A., and Teller, E. (1953). Equations of state calculations by fast computing machines. J. Chem. Phys., 21(6): 10871092.</a:t>
            </a:r>
          </a:p>
          <a:p>
            <a:r>
              <a:rPr lang="en-GB" sz="880" dirty="0"/>
              <a:t>Generative AI in the form of ChatGPT was occasionally used to improve clarity of writing only. </a:t>
            </a:r>
          </a:p>
        </p:txBody>
      </p:sp>
      <p:sp>
        <p:nvSpPr>
          <p:cNvPr id="30" name="TextBox 29">
            <a:extLst>
              <a:ext uri="{FF2B5EF4-FFF2-40B4-BE49-F238E27FC236}">
                <a16:creationId xmlns:a16="http://schemas.microsoft.com/office/drawing/2014/main" id="{836CFCAC-8948-8E8A-3984-A78C8B77E7B5}"/>
              </a:ext>
            </a:extLst>
          </p:cNvPr>
          <p:cNvSpPr txBox="1"/>
          <p:nvPr/>
        </p:nvSpPr>
        <p:spPr>
          <a:xfrm>
            <a:off x="19878675" y="13031980"/>
            <a:ext cx="1000871" cy="369332"/>
          </a:xfrm>
          <a:prstGeom prst="rect">
            <a:avLst/>
          </a:prstGeom>
          <a:noFill/>
        </p:spPr>
        <p:txBody>
          <a:bodyPr wrap="square">
            <a:spAutoFit/>
          </a:bodyPr>
          <a:lstStyle/>
          <a:p>
            <a:r>
              <a:rPr lang="en-GB" sz="1800" dirty="0"/>
              <a:t> </a:t>
            </a:r>
            <a:r>
              <a:rPr lang="en-GB" sz="1800" dirty="0">
                <a:latin typeface="Cambria Math" panose="02040503050406030204" pitchFamily="18" charset="0"/>
                <a:ea typeface="Cambria Math" panose="02040503050406030204" pitchFamily="18" charset="0"/>
              </a:rPr>
              <a:t>(4)</a:t>
            </a:r>
          </a:p>
        </p:txBody>
      </p:sp>
      <p:pic>
        <p:nvPicPr>
          <p:cNvPr id="35" name="Picture 34">
            <a:extLst>
              <a:ext uri="{FF2B5EF4-FFF2-40B4-BE49-F238E27FC236}">
                <a16:creationId xmlns:a16="http://schemas.microsoft.com/office/drawing/2014/main" id="{19E29F33-E3C1-2F32-4EA5-8FBEC81207FF}"/>
              </a:ext>
            </a:extLst>
          </p:cNvPr>
          <p:cNvPicPr>
            <a:picLocks noChangeAspect="1"/>
          </p:cNvPicPr>
          <p:nvPr/>
        </p:nvPicPr>
        <p:blipFill>
          <a:blip r:embed="rId11"/>
          <a:stretch>
            <a:fillRect/>
          </a:stretch>
        </p:blipFill>
        <p:spPr>
          <a:xfrm>
            <a:off x="17552226" y="-552650"/>
            <a:ext cx="3953427" cy="2857899"/>
          </a:xfrm>
          <a:prstGeom prst="rect">
            <a:avLst/>
          </a:prstGeom>
        </p:spPr>
      </p:pic>
    </p:spTree>
    <p:extLst>
      <p:ext uri="{BB962C8B-B14F-4D97-AF65-F5344CB8AC3E}">
        <p14:creationId xmlns:p14="http://schemas.microsoft.com/office/powerpoint/2010/main" val="392312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6E0DDDC5-0DB8-3939-5181-0953E494E9B7}"/>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D1ED56FD-0EF5-87FD-00BF-3598E50CA99E}"/>
              </a:ext>
            </a:extLst>
          </p:cNvPr>
          <p:cNvSpPr/>
          <p:nvPr/>
        </p:nvSpPr>
        <p:spPr>
          <a:xfrm>
            <a:off x="254483" y="7824583"/>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1. The Ising Model</a:t>
            </a:r>
          </a:p>
        </p:txBody>
      </p:sp>
      <p:sp>
        <p:nvSpPr>
          <p:cNvPr id="4" name="Rectangle 3">
            <a:extLst>
              <a:ext uri="{FF2B5EF4-FFF2-40B4-BE49-F238E27FC236}">
                <a16:creationId xmlns:a16="http://schemas.microsoft.com/office/drawing/2014/main" id="{A240CA9B-DDF3-C24E-9D84-6AFC1D7F15EA}"/>
              </a:ext>
            </a:extLst>
          </p:cNvPr>
          <p:cNvSpPr/>
          <p:nvPr/>
        </p:nvSpPr>
        <p:spPr>
          <a:xfrm>
            <a:off x="-1" y="0"/>
            <a:ext cx="21383625" cy="17526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ferromagnet transitions using the Ising model</a:t>
            </a:r>
          </a:p>
          <a:p>
            <a:pPr algn="ctr"/>
            <a:endParaRPr lang="en-GB" dirty="0"/>
          </a:p>
        </p:txBody>
      </p:sp>
      <p:sp>
        <p:nvSpPr>
          <p:cNvPr id="10" name="Rectangle 9">
            <a:extLst>
              <a:ext uri="{FF2B5EF4-FFF2-40B4-BE49-F238E27FC236}">
                <a16:creationId xmlns:a16="http://schemas.microsoft.com/office/drawing/2014/main" id="{03B65CB9-4FFC-9617-4AA8-EC79EF924BC4}"/>
              </a:ext>
            </a:extLst>
          </p:cNvPr>
          <p:cNvSpPr/>
          <p:nvPr/>
        </p:nvSpPr>
        <p:spPr>
          <a:xfrm>
            <a:off x="7902575" y="5470835"/>
            <a:ext cx="6594474" cy="782943"/>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15" name="Rectangle 14">
            <a:extLst>
              <a:ext uri="{FF2B5EF4-FFF2-40B4-BE49-F238E27FC236}">
                <a16:creationId xmlns:a16="http://schemas.microsoft.com/office/drawing/2014/main" id="{1A919CB1-8954-F26E-CCA8-B7DDD559A614}"/>
              </a:ext>
            </a:extLst>
          </p:cNvPr>
          <p:cNvSpPr/>
          <p:nvPr/>
        </p:nvSpPr>
        <p:spPr>
          <a:xfrm>
            <a:off x="7792330" y="9617052"/>
            <a:ext cx="6704718" cy="7334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16" name="Rectangle 15">
            <a:extLst>
              <a:ext uri="{FF2B5EF4-FFF2-40B4-BE49-F238E27FC236}">
                <a16:creationId xmlns:a16="http://schemas.microsoft.com/office/drawing/2014/main" id="{9B118A0C-1550-7344-0B90-13995992BCF5}"/>
              </a:ext>
            </a:extLst>
          </p:cNvPr>
          <p:cNvSpPr/>
          <p:nvPr/>
        </p:nvSpPr>
        <p:spPr>
          <a:xfrm>
            <a:off x="15094989" y="1893520"/>
            <a:ext cx="5956300" cy="60405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18" name="Rectangle 17">
            <a:extLst>
              <a:ext uri="{FF2B5EF4-FFF2-40B4-BE49-F238E27FC236}">
                <a16:creationId xmlns:a16="http://schemas.microsoft.com/office/drawing/2014/main" id="{503E3F01-2986-0A35-0A61-49763BDFBE3F}"/>
              </a:ext>
            </a:extLst>
          </p:cNvPr>
          <p:cNvSpPr/>
          <p:nvPr/>
        </p:nvSpPr>
        <p:spPr>
          <a:xfrm>
            <a:off x="15274922" y="13725793"/>
            <a:ext cx="5956300" cy="41339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pic>
        <p:nvPicPr>
          <p:cNvPr id="22" name="Picture 21" descr="A graph with a line&#10;&#10;AI-generated content may be incorrect.">
            <a:extLst>
              <a:ext uri="{FF2B5EF4-FFF2-40B4-BE49-F238E27FC236}">
                <a16:creationId xmlns:a16="http://schemas.microsoft.com/office/drawing/2014/main" id="{B4275F30-B430-7FAB-EAC1-FCB9548AABEB}"/>
              </a:ext>
            </a:extLst>
          </p:cNvPr>
          <p:cNvPicPr>
            <a:picLocks noChangeAspect="1"/>
          </p:cNvPicPr>
          <p:nvPr/>
        </p:nvPicPr>
        <p:blipFill>
          <a:blip r:embed="rId4">
            <a:extLst>
              <a:ext uri="{28A0092B-C50C-407E-A947-70E740481C1C}">
                <a14:useLocalDpi xmlns:a14="http://schemas.microsoft.com/office/drawing/2010/main" val="0"/>
              </a:ext>
            </a:extLst>
          </a:blip>
          <a:srcRect l="1802" t="6597" r="8775" b="1459"/>
          <a:stretch>
            <a:fillRect/>
          </a:stretch>
        </p:blipFill>
        <p:spPr>
          <a:xfrm>
            <a:off x="15094989" y="7172952"/>
            <a:ext cx="6034153" cy="4653325"/>
          </a:xfrm>
          <a:prstGeom prst="rect">
            <a:avLst/>
          </a:prstGeom>
        </p:spPr>
      </p:pic>
      <p:sp>
        <p:nvSpPr>
          <p:cNvPr id="27" name="Rectangle 26">
            <a:extLst>
              <a:ext uri="{FF2B5EF4-FFF2-40B4-BE49-F238E27FC236}">
                <a16:creationId xmlns:a16="http://schemas.microsoft.com/office/drawing/2014/main" id="{80D94915-ED38-DEBF-826F-86E487E9560A}"/>
              </a:ext>
            </a:extLst>
          </p:cNvPr>
          <p:cNvSpPr/>
          <p:nvPr/>
        </p:nvSpPr>
        <p:spPr>
          <a:xfrm>
            <a:off x="11433104" y="3283924"/>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E1C64E21-89FC-9D57-A6CD-56C277DA64F4}"/>
              </a:ext>
            </a:extLst>
          </p:cNvPr>
          <p:cNvSpPr/>
          <p:nvPr/>
        </p:nvSpPr>
        <p:spPr>
          <a:xfrm>
            <a:off x="9460872" y="3283925"/>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9895CBF-8655-9F30-1742-3585B56CBBBB}"/>
                  </a:ext>
                </a:extLst>
              </p:cNvPr>
              <p:cNvSpPr txBox="1"/>
              <p:nvPr/>
            </p:nvSpPr>
            <p:spPr>
              <a:xfrm>
                <a:off x="15296904" y="11775033"/>
                <a:ext cx="5883278" cy="2426498"/>
              </a:xfrm>
              <a:prstGeom prst="rect">
                <a:avLst/>
              </a:prstGeom>
              <a:noFill/>
            </p:spPr>
            <p:txBody>
              <a:bodyPr wrap="square" rtlCol="0">
                <a:spAutoFit/>
              </a:bodyPr>
              <a:lstStyle/>
              <a:p>
                <a:r>
                  <a:rPr lang="en-GB" dirty="0"/>
                  <a:t>Fig. 2: Plot of average magnetisation per spin against number of sweeps of the Monte Carlo algorithm. These are the results of a 32 x 32 lattice, with B = -0.05, J = 0.5, and </a:t>
                </a:r>
                <a:r>
                  <a:rPr lang="en-GB" dirty="0" err="1"/>
                  <a:t>kT</a:t>
                </a:r>
                <a:r>
                  <a:rPr lang="en-GB" dirty="0"/>
                  <a:t> = 1.  Average magnetisation was calculated using </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den>
                      </m:f>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𝛼</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𝑆</m:t>
                              </m:r>
                            </m:e>
                            <m:sub>
                              <m:r>
                                <a:rPr lang="en-GB" b="0" i="1" smtClean="0">
                                  <a:latin typeface="Cambria Math" panose="02040503050406030204" pitchFamily="18" charset="0"/>
                                </a:rPr>
                                <m:t>𝛼</m:t>
                              </m:r>
                            </m:sub>
                          </m:sSub>
                        </m:e>
                      </m:nary>
                    </m:oMath>
                  </m:oMathPara>
                </a14:m>
                <a:endParaRPr lang="en-GB" dirty="0"/>
              </a:p>
              <a:p>
                <a:endParaRPr lang="en-GB" dirty="0"/>
              </a:p>
              <a:p>
                <a:endParaRPr lang="en-GB" dirty="0"/>
              </a:p>
            </p:txBody>
          </p:sp>
        </mc:Choice>
        <mc:Fallback xmlns="">
          <p:sp>
            <p:nvSpPr>
              <p:cNvPr id="3" name="TextBox 2">
                <a:extLst>
                  <a:ext uri="{FF2B5EF4-FFF2-40B4-BE49-F238E27FC236}">
                    <a16:creationId xmlns:a16="http://schemas.microsoft.com/office/drawing/2014/main" id="{29895CBF-8655-9F30-1742-3585B56CBBBB}"/>
                  </a:ext>
                </a:extLst>
              </p:cNvPr>
              <p:cNvSpPr txBox="1">
                <a:spLocks noRot="1" noChangeAspect="1" noMove="1" noResize="1" noEditPoints="1" noAdjustHandles="1" noChangeArrowheads="1" noChangeShapeType="1" noTextEdit="1"/>
              </p:cNvSpPr>
              <p:nvPr/>
            </p:nvSpPr>
            <p:spPr>
              <a:xfrm>
                <a:off x="15296904" y="11775033"/>
                <a:ext cx="5883278" cy="2426498"/>
              </a:xfrm>
              <a:prstGeom prst="rect">
                <a:avLst/>
              </a:prstGeom>
              <a:blipFill>
                <a:blip r:embed="rId5"/>
                <a:stretch>
                  <a:fillRect l="-829" t="-1256"/>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D2184238-7C4D-A956-50CB-25154D278530}"/>
              </a:ext>
            </a:extLst>
          </p:cNvPr>
          <p:cNvSpPr txBox="1"/>
          <p:nvPr/>
        </p:nvSpPr>
        <p:spPr>
          <a:xfrm>
            <a:off x="4572746" y="8044834"/>
            <a:ext cx="2997199" cy="646331"/>
          </a:xfrm>
          <a:prstGeom prst="rect">
            <a:avLst/>
          </a:prstGeom>
          <a:noFill/>
        </p:spPr>
        <p:txBody>
          <a:bodyPr wrap="square" rtlCol="0">
            <a:spAutoFit/>
          </a:bodyPr>
          <a:lstStyle/>
          <a:p>
            <a:endParaRPr lang="en-GB" dirty="0"/>
          </a:p>
          <a:p>
            <a:endParaRPr lang="en-GB"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C6A4001-92BB-2CB1-C366-5EFD77BABCC4}"/>
                  </a:ext>
                </a:extLst>
              </p:cNvPr>
              <p:cNvSpPr txBox="1"/>
              <p:nvPr/>
            </p:nvSpPr>
            <p:spPr>
              <a:xfrm>
                <a:off x="15094989" y="2782466"/>
                <a:ext cx="5956300" cy="7017306"/>
              </a:xfrm>
              <a:prstGeom prst="rect">
                <a:avLst/>
              </a:prstGeom>
              <a:noFill/>
            </p:spPr>
            <p:txBody>
              <a:bodyPr wrap="square" rtlCol="0">
                <a:spAutoFit/>
              </a:bodyPr>
              <a:lstStyle/>
              <a:p>
                <a:r>
                  <a:rPr lang="en-GB" dirty="0"/>
                  <a:t>Fig. 2 shows the average magnetisation as a function of sweeps, for  a 32x32 lattice with B = -0.05 and J = 0.5. We define the steady state region as the point where the running average magnetisation doesn’t fluctuate by more than 5% of the difference between the initial and final value. Using this classification, we obtain the average magnetisation of the steady state region to be: </a:t>
                </a:r>
                <a14:m>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=0.9…±0.00…</m:t>
                    </m:r>
                  </m:oMath>
                </a14:m>
                <a:r>
                  <a:rPr lang="en-GB" dirty="0">
                    <a:solidFill>
                      <a:srgbClr val="FF0000"/>
                    </a:solidFill>
                  </a:rPr>
                  <a:t>, where the error is the standard error in this region. </a:t>
                </a:r>
              </a:p>
              <a:p>
                <a:r>
                  <a:rPr lang="en-GB" dirty="0">
                    <a:solidFill>
                      <a:srgbClr val="FF0000"/>
                    </a:solidFill>
                  </a:rPr>
                  <a:t>Despite being no exact solution for these parameters (unlike </a:t>
                </a:r>
                <a:r>
                  <a:rPr lang="en-GB" dirty="0" err="1">
                    <a:solidFill>
                      <a:srgbClr val="FF0000"/>
                    </a:solidFill>
                  </a:rPr>
                  <a:t>onsagers</a:t>
                </a:r>
                <a:r>
                  <a:rPr lang="en-GB" dirty="0">
                    <a:solidFill>
                      <a:srgbClr val="FF0000"/>
                    </a:solidFill>
                  </a:rPr>
                  <a:t> solution for B = 0), we can use MFT to get an approximate result to compare to. MFT tells us that </a:t>
                </a:r>
                <a14:m>
                  <m:oMath xmlns:m="http://schemas.openxmlformats.org/officeDocument/2006/math">
                    <m:r>
                      <a:rPr lang="en-GB" b="0" i="1" smtClean="0">
                        <a:solidFill>
                          <a:srgbClr val="FF0000"/>
                        </a:solidFill>
                        <a:latin typeface="Cambria Math" panose="02040503050406030204" pitchFamily="18" charset="0"/>
                      </a:rPr>
                      <m:t>&lt;</m:t>
                    </m:r>
                    <m:sSub>
                      <m:sSubPr>
                        <m:ctrlPr>
                          <a:rPr lang="en-GB" b="0" i="1" smtClean="0">
                            <a:solidFill>
                              <a:srgbClr val="FF0000"/>
                            </a:solidFill>
                            <a:latin typeface="Cambria Math" panose="02040503050406030204" pitchFamily="18" charset="0"/>
                          </a:rPr>
                        </m:ctrlPr>
                      </m:sSubPr>
                      <m:e>
                        <m:r>
                          <a:rPr lang="en-GB" b="0" i="1" smtClean="0">
                            <a:solidFill>
                              <a:srgbClr val="FF0000"/>
                            </a:solidFill>
                            <a:latin typeface="Cambria Math" panose="02040503050406030204" pitchFamily="18" charset="0"/>
                          </a:rPr>
                          <m:t>𝑀</m:t>
                        </m:r>
                      </m:e>
                      <m:sub>
                        <m:r>
                          <a:rPr lang="en-GB" b="0" i="1" smtClean="0">
                            <a:solidFill>
                              <a:srgbClr val="FF0000"/>
                            </a:solidFill>
                            <a:latin typeface="Cambria Math" panose="02040503050406030204" pitchFamily="18" charset="0"/>
                          </a:rPr>
                          <m:t>𝑀𝐹𝑇</m:t>
                        </m:r>
                      </m:sub>
                    </m:sSub>
                    <m:r>
                      <a:rPr lang="en-GB" b="0" i="1" smtClean="0">
                        <a:solidFill>
                          <a:srgbClr val="FF0000"/>
                        </a:solidFill>
                        <a:latin typeface="Cambria Math" panose="02040503050406030204" pitchFamily="18" charset="0"/>
                      </a:rPr>
                      <m:t>≻=</m:t>
                    </m:r>
                    <m:func>
                      <m:funcPr>
                        <m:ctrlPr>
                          <a:rPr lang="en-GB" b="0" i="1" smtClean="0">
                            <a:solidFill>
                              <a:srgbClr val="FF0000"/>
                            </a:solidFill>
                            <a:latin typeface="Cambria Math" panose="02040503050406030204" pitchFamily="18" charset="0"/>
                          </a:rPr>
                        </m:ctrlPr>
                      </m:funcPr>
                      <m:fName>
                        <m:r>
                          <m:rPr>
                            <m:sty m:val="p"/>
                          </m:rPr>
                          <a:rPr lang="en-GB" b="0" i="0" smtClean="0">
                            <a:solidFill>
                              <a:srgbClr val="FF0000"/>
                            </a:solidFill>
                            <a:latin typeface="Cambria Math" panose="02040503050406030204" pitchFamily="18" charset="0"/>
                          </a:rPr>
                          <m:t>tanh</m:t>
                        </m:r>
                      </m:fName>
                      <m:e>
                        <m:d>
                          <m:dPr>
                            <m:begChr m:val="["/>
                            <m:endChr m:val="]"/>
                            <m:ctrlPr>
                              <a:rPr lang="en-GB" b="0" i="1" smtClean="0">
                                <a:solidFill>
                                  <a:srgbClr val="FF0000"/>
                                </a:solidFill>
                                <a:latin typeface="Cambria Math" panose="02040503050406030204" pitchFamily="18" charset="0"/>
                              </a:rPr>
                            </m:ctrlPr>
                          </m:dPr>
                          <m:e>
                            <m:r>
                              <a:rPr lang="en-GB" b="0" i="1" smtClean="0">
                                <a:solidFill>
                                  <a:srgbClr val="FF0000"/>
                                </a:solidFill>
                                <a:latin typeface="Cambria Math" panose="02040503050406030204" pitchFamily="18" charset="0"/>
                              </a:rPr>
                              <m:t>𝛽</m:t>
                            </m:r>
                            <m:d>
                              <m:dPr>
                                <m:ctrlPr>
                                  <a:rPr lang="en-GB" b="0" i="1" smtClean="0">
                                    <a:solidFill>
                                      <a:srgbClr val="FF0000"/>
                                    </a:solidFill>
                                    <a:latin typeface="Cambria Math" panose="02040503050406030204" pitchFamily="18" charset="0"/>
                                  </a:rPr>
                                </m:ctrlPr>
                              </m:dPr>
                              <m:e>
                                <m:r>
                                  <a:rPr lang="en-GB" b="0" i="1" smtClean="0">
                                    <a:solidFill>
                                      <a:srgbClr val="FF0000"/>
                                    </a:solidFill>
                                    <a:latin typeface="Cambria Math" panose="02040503050406030204" pitchFamily="18" charset="0"/>
                                  </a:rPr>
                                  <m:t>𝑧𝐽𝑀</m:t>
                                </m:r>
                                <m:r>
                                  <a:rPr lang="en-GB" b="0" i="1" smtClean="0">
                                    <a:solidFill>
                                      <a:srgbClr val="FF0000"/>
                                    </a:solidFill>
                                    <a:latin typeface="Cambria Math" panose="02040503050406030204" pitchFamily="18" charset="0"/>
                                  </a:rPr>
                                  <m:t>+</m:t>
                                </m:r>
                                <m:r>
                                  <a:rPr lang="en-GB" b="0" i="1" smtClean="0">
                                    <a:solidFill>
                                      <a:srgbClr val="FF0000"/>
                                    </a:solidFill>
                                    <a:latin typeface="Cambria Math" panose="02040503050406030204" pitchFamily="18" charset="0"/>
                                  </a:rPr>
                                  <m:t>𝐵</m:t>
                                </m:r>
                              </m:e>
                            </m:d>
                          </m:e>
                        </m:d>
                      </m:e>
                    </m:func>
                  </m:oMath>
                </a14:m>
                <a:r>
                  <a:rPr lang="en-GB" dirty="0">
                    <a:solidFill>
                      <a:srgbClr val="FF0000"/>
                    </a:solidFill>
                  </a:rPr>
                  <a:t>, For these parameters we get  &lt;M&gt; = 0.96, which is slightly larger than our value, although expected since MFT ignores fluctuations, and hence </a:t>
                </a:r>
                <a:r>
                  <a:rPr lang="en-GB" dirty="0" err="1">
                    <a:solidFill>
                      <a:srgbClr val="FF0000"/>
                    </a:solidFill>
                  </a:rPr>
                  <a:t>overesitmates</a:t>
                </a:r>
                <a:r>
                  <a:rPr lang="en-GB" dirty="0">
                    <a:solidFill>
                      <a:srgbClr val="FF0000"/>
                    </a:solidFill>
                  </a:rPr>
                  <a:t> spins tendency to order. [</a:t>
                </a:r>
                <a:r>
                  <a:rPr lang="en-GB" dirty="0" err="1">
                    <a:solidFill>
                      <a:srgbClr val="FF0000"/>
                    </a:solidFill>
                  </a:rPr>
                  <a:t>sOURCE</a:t>
                </a:r>
                <a:r>
                  <a:rPr lang="en-GB" dirty="0">
                    <a:solidFill>
                      <a:srgbClr val="FF0000"/>
                    </a:solidFill>
                  </a:rPr>
                  <a:t>]. Another value  we can compare to is from an </a:t>
                </a:r>
                <a:r>
                  <a:rPr lang="en-GB" dirty="0" err="1">
                    <a:solidFill>
                      <a:srgbClr val="FF0000"/>
                    </a:solidFill>
                  </a:rPr>
                  <a:t>ansatza</a:t>
                </a:r>
                <a:r>
                  <a:rPr lang="en-GB" dirty="0">
                    <a:solidFill>
                      <a:srgbClr val="FF0000"/>
                    </a:solidFill>
                  </a:rPr>
                  <a:t> approach, by Moorad Alexanian, where a value of  </a:t>
                </a:r>
                <a14:m>
                  <m:oMath xmlns:m="http://schemas.openxmlformats.org/officeDocument/2006/math">
                    <m:r>
                      <a:rPr lang="en-GB" b="0" i="1" smtClean="0">
                        <a:solidFill>
                          <a:srgbClr val="FF0000"/>
                        </a:solidFill>
                        <a:latin typeface="Cambria Math" panose="02040503050406030204" pitchFamily="18" charset="0"/>
                      </a:rPr>
                      <m:t>&lt;</m:t>
                    </m:r>
                    <m:sSub>
                      <m:sSubPr>
                        <m:ctrlPr>
                          <a:rPr lang="en-GB" b="0" i="1" smtClean="0">
                            <a:solidFill>
                              <a:srgbClr val="FF0000"/>
                            </a:solidFill>
                            <a:latin typeface="Cambria Math" panose="02040503050406030204" pitchFamily="18" charset="0"/>
                          </a:rPr>
                        </m:ctrlPr>
                      </m:sSubPr>
                      <m:e>
                        <m:r>
                          <a:rPr lang="en-GB" b="0" i="1" smtClean="0">
                            <a:solidFill>
                              <a:srgbClr val="FF0000"/>
                            </a:solidFill>
                            <a:latin typeface="Cambria Math" panose="02040503050406030204" pitchFamily="18" charset="0"/>
                          </a:rPr>
                          <m:t>𝑀</m:t>
                        </m:r>
                      </m:e>
                      <m:sub>
                        <m:r>
                          <a:rPr lang="en-GB" b="0" i="1" smtClean="0">
                            <a:solidFill>
                              <a:srgbClr val="FF0000"/>
                            </a:solidFill>
                            <a:latin typeface="Cambria Math" panose="02040503050406030204" pitchFamily="18" charset="0"/>
                          </a:rPr>
                          <m:t>𝑎𝑛𝑠𝑎𝑡𝑧</m:t>
                        </m:r>
                      </m:sub>
                    </m:sSub>
                    <m:r>
                      <a:rPr lang="en-GB" b="0" i="1" smtClean="0">
                        <a:solidFill>
                          <a:srgbClr val="FF0000"/>
                        </a:solidFill>
                        <a:latin typeface="Cambria Math" panose="02040503050406030204" pitchFamily="18" charset="0"/>
                      </a:rPr>
                      <m:t>&gt; = </m:t>
                    </m:r>
                  </m:oMath>
                </a14:m>
                <a:r>
                  <a:rPr lang="en-GB" dirty="0">
                    <a:solidFill>
                      <a:srgbClr val="FF0000"/>
                    </a:solidFill>
                  </a:rPr>
                  <a:t> is obtained. Although the latter is a relatively new and unexplored approach, our value clearly seems to be in agreement with both models, and the expectation that spins will align with the external field [source]</a:t>
                </a:r>
              </a:p>
              <a:p>
                <a:endParaRPr lang="en-GB" dirty="0">
                  <a:solidFill>
                    <a:srgbClr val="FF0000"/>
                  </a:solidFill>
                </a:endParaRPr>
              </a:p>
              <a:p>
                <a:r>
                  <a:rPr lang="en-GB" dirty="0">
                    <a:solidFill>
                      <a:srgbClr val="FF0000"/>
                    </a:solidFill>
                  </a:rPr>
                  <a:t>A short visualisation on how the grid changes with sweeps can be seen here as well:</a:t>
                </a:r>
              </a:p>
            </p:txBody>
          </p:sp>
        </mc:Choice>
        <mc:Fallback xmlns="">
          <p:sp>
            <p:nvSpPr>
              <p:cNvPr id="20" name="TextBox 19">
                <a:extLst>
                  <a:ext uri="{FF2B5EF4-FFF2-40B4-BE49-F238E27FC236}">
                    <a16:creationId xmlns:a16="http://schemas.microsoft.com/office/drawing/2014/main" id="{7C6A4001-92BB-2CB1-C366-5EFD77BABCC4}"/>
                  </a:ext>
                </a:extLst>
              </p:cNvPr>
              <p:cNvSpPr txBox="1">
                <a:spLocks noRot="1" noChangeAspect="1" noMove="1" noResize="1" noEditPoints="1" noAdjustHandles="1" noChangeArrowheads="1" noChangeShapeType="1" noTextEdit="1"/>
              </p:cNvSpPr>
              <p:nvPr/>
            </p:nvSpPr>
            <p:spPr>
              <a:xfrm>
                <a:off x="15094989" y="2782466"/>
                <a:ext cx="5956300" cy="7017306"/>
              </a:xfrm>
              <a:prstGeom prst="rect">
                <a:avLst/>
              </a:prstGeom>
              <a:blipFill>
                <a:blip r:embed="rId6"/>
                <a:stretch>
                  <a:fillRect l="-819" t="-347" r="-1331" b="-434"/>
                </a:stretch>
              </a:blipFill>
            </p:spPr>
            <p:txBody>
              <a:bodyPr/>
              <a:lstStyle/>
              <a:p>
                <a:r>
                  <a:rPr lang="en-GB">
                    <a:noFill/>
                  </a:rPr>
                  <a:t> </a:t>
                </a:r>
              </a:p>
            </p:txBody>
          </p:sp>
        </mc:Fallback>
      </mc:AlternateContent>
      <p:sp>
        <p:nvSpPr>
          <p:cNvPr id="21" name="TextBox 20">
            <a:extLst>
              <a:ext uri="{FF2B5EF4-FFF2-40B4-BE49-F238E27FC236}">
                <a16:creationId xmlns:a16="http://schemas.microsoft.com/office/drawing/2014/main" id="{8845CC71-136F-2467-9666-87A55A560264}"/>
              </a:ext>
            </a:extLst>
          </p:cNvPr>
          <p:cNvSpPr txBox="1"/>
          <p:nvPr/>
        </p:nvSpPr>
        <p:spPr>
          <a:xfrm>
            <a:off x="15245864" y="14139191"/>
            <a:ext cx="5883278" cy="1051057"/>
          </a:xfrm>
          <a:prstGeom prst="rect">
            <a:avLst/>
          </a:prstGeom>
          <a:noFill/>
        </p:spPr>
        <p:txBody>
          <a:bodyPr wrap="square" rtlCol="0">
            <a:spAutoFit/>
          </a:bodyPr>
          <a:lstStyle/>
          <a:p>
            <a:pPr marL="228600" indent="-228600">
              <a:buAutoNum type="arabicPeriod"/>
            </a:pPr>
            <a:r>
              <a:rPr lang="de-DE" sz="880" dirty="0"/>
              <a:t>Ising, E. Beitrag zur Theorie des Ferromagnetismus. </a:t>
            </a:r>
            <a:r>
              <a:rPr lang="de-DE" sz="880" i="1" dirty="0"/>
              <a:t>Z. Physik</a:t>
            </a:r>
            <a:r>
              <a:rPr lang="de-DE" sz="880" dirty="0"/>
              <a:t> </a:t>
            </a:r>
            <a:r>
              <a:rPr lang="de-DE" sz="880" b="1" dirty="0"/>
              <a:t>31</a:t>
            </a:r>
            <a:r>
              <a:rPr lang="de-DE" sz="880" dirty="0"/>
              <a:t>, 253–258 (1925). </a:t>
            </a:r>
            <a:r>
              <a:rPr lang="de-DE" sz="880" dirty="0">
                <a:hlinkClick r:id="rId7"/>
              </a:rPr>
              <a:t>https://doi.org/10.1007/BF02980577</a:t>
            </a:r>
            <a:endParaRPr lang="de-DE" sz="880" dirty="0"/>
          </a:p>
          <a:p>
            <a:pPr marL="228600" indent="-228600">
              <a:buAutoNum type="arabicPeriod"/>
            </a:pPr>
            <a:r>
              <a:rPr lang="en-GB" sz="880" dirty="0"/>
              <a:t>Onsager, L. Crystal Statistics. I. A Two-Dimensional Model with an Order-Disorder Transition. </a:t>
            </a:r>
            <a:r>
              <a:rPr lang="en-GB" sz="880" i="1" dirty="0"/>
              <a:t>Phys. Rev.</a:t>
            </a:r>
            <a:r>
              <a:rPr lang="en-GB" sz="880" dirty="0"/>
              <a:t> </a:t>
            </a:r>
            <a:r>
              <a:rPr lang="en-GB" sz="880" b="1" dirty="0"/>
              <a:t>65</a:t>
            </a:r>
            <a:r>
              <a:rPr lang="en-GB" sz="880" dirty="0"/>
              <a:t>, 117–149 (1944). </a:t>
            </a:r>
            <a:r>
              <a:rPr lang="en-GB" sz="880" dirty="0">
                <a:hlinkClick r:id="rId8"/>
              </a:rPr>
              <a:t>https://doi.org/10.1103/PhysRev.65.117</a:t>
            </a:r>
            <a:endParaRPr lang="en-GB" sz="880" dirty="0"/>
          </a:p>
          <a:p>
            <a:pPr marL="228600" indent="-228600">
              <a:buAutoNum type="arabicPeriod"/>
            </a:pPr>
            <a:r>
              <a:rPr lang="en-GB" sz="880" dirty="0"/>
              <a:t>Metropolis, N., Rosenbluth, A., Rosenbluth, M., Teller, A., and Teller, E. (1953). Equations of state calculations by fast computing machines. J. Chem. Phys., 21(6): 10871092.</a:t>
            </a:r>
          </a:p>
          <a:p>
            <a:r>
              <a:rPr lang="en-GB" sz="880" dirty="0"/>
              <a:t>Generative AI in the form of ChatGPT was occasionally used to improve clarity of writing only. </a:t>
            </a:r>
          </a:p>
        </p:txBody>
      </p:sp>
      <p:sp>
        <p:nvSpPr>
          <p:cNvPr id="30" name="TextBox 29">
            <a:extLst>
              <a:ext uri="{FF2B5EF4-FFF2-40B4-BE49-F238E27FC236}">
                <a16:creationId xmlns:a16="http://schemas.microsoft.com/office/drawing/2014/main" id="{4CC81B12-3B69-9AAD-9DB2-332FE2682615}"/>
              </a:ext>
            </a:extLst>
          </p:cNvPr>
          <p:cNvSpPr txBox="1"/>
          <p:nvPr/>
        </p:nvSpPr>
        <p:spPr>
          <a:xfrm>
            <a:off x="19878675" y="13031980"/>
            <a:ext cx="1000871" cy="369332"/>
          </a:xfrm>
          <a:prstGeom prst="rect">
            <a:avLst/>
          </a:prstGeom>
          <a:noFill/>
        </p:spPr>
        <p:txBody>
          <a:bodyPr wrap="square">
            <a:spAutoFit/>
          </a:bodyPr>
          <a:lstStyle/>
          <a:p>
            <a:r>
              <a:rPr lang="en-GB" sz="1800" dirty="0"/>
              <a:t> </a:t>
            </a:r>
            <a:r>
              <a:rPr lang="en-GB" sz="1800" dirty="0">
                <a:latin typeface="Cambria Math" panose="02040503050406030204" pitchFamily="18" charset="0"/>
                <a:ea typeface="Cambria Math" panose="02040503050406030204" pitchFamily="18" charset="0"/>
              </a:rPr>
              <a:t>(4)</a:t>
            </a:r>
          </a:p>
        </p:txBody>
      </p:sp>
      <p:pic>
        <p:nvPicPr>
          <p:cNvPr id="35" name="Picture 34">
            <a:extLst>
              <a:ext uri="{FF2B5EF4-FFF2-40B4-BE49-F238E27FC236}">
                <a16:creationId xmlns:a16="http://schemas.microsoft.com/office/drawing/2014/main" id="{C012C070-50B9-0B63-FDDA-39472113FB86}"/>
              </a:ext>
            </a:extLst>
          </p:cNvPr>
          <p:cNvPicPr>
            <a:picLocks noChangeAspect="1"/>
          </p:cNvPicPr>
          <p:nvPr/>
        </p:nvPicPr>
        <p:blipFill>
          <a:blip r:embed="rId9"/>
          <a:stretch>
            <a:fillRect/>
          </a:stretch>
        </p:blipFill>
        <p:spPr>
          <a:xfrm>
            <a:off x="17552226" y="-552650"/>
            <a:ext cx="3953427" cy="2857899"/>
          </a:xfrm>
          <a:prstGeom prst="rect">
            <a:avLst/>
          </a:prstGeom>
        </p:spPr>
      </p:pic>
      <p:sp>
        <p:nvSpPr>
          <p:cNvPr id="6" name="Rectangle 5">
            <a:extLst>
              <a:ext uri="{FF2B5EF4-FFF2-40B4-BE49-F238E27FC236}">
                <a16:creationId xmlns:a16="http://schemas.microsoft.com/office/drawing/2014/main" id="{892C111F-CE5E-6321-A584-675664C9A98B}"/>
              </a:ext>
            </a:extLst>
          </p:cNvPr>
          <p:cNvSpPr/>
          <p:nvPr/>
        </p:nvSpPr>
        <p:spPr>
          <a:xfrm>
            <a:off x="332336" y="1816764"/>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Summary</a:t>
            </a:r>
          </a:p>
        </p:txBody>
      </p:sp>
      <p:sp>
        <p:nvSpPr>
          <p:cNvPr id="9" name="Rectangle 8">
            <a:extLst>
              <a:ext uri="{FF2B5EF4-FFF2-40B4-BE49-F238E27FC236}">
                <a16:creationId xmlns:a16="http://schemas.microsoft.com/office/drawing/2014/main" id="{AF7615E7-8CE0-2B1A-7C39-8EC35BAF246D}"/>
              </a:ext>
            </a:extLst>
          </p:cNvPr>
          <p:cNvSpPr/>
          <p:nvPr/>
        </p:nvSpPr>
        <p:spPr>
          <a:xfrm>
            <a:off x="398303" y="3726685"/>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7AD2541E-DF2F-3612-E300-1362FB43EA71}"/>
              </a:ext>
            </a:extLst>
          </p:cNvPr>
          <p:cNvSpPr txBox="1"/>
          <p:nvPr/>
        </p:nvSpPr>
        <p:spPr>
          <a:xfrm>
            <a:off x="398303" y="4580921"/>
            <a:ext cx="7056132" cy="3139321"/>
          </a:xfrm>
          <a:prstGeom prst="rect">
            <a:avLst/>
          </a:prstGeom>
          <a:noFill/>
        </p:spPr>
        <p:txBody>
          <a:bodyPr wrap="square" rtlCol="0">
            <a:spAutoFit/>
          </a:bodyPr>
          <a:lstStyle/>
          <a:p>
            <a:r>
              <a:rPr lang="en-GB" dirty="0"/>
              <a:t>Since being discovered in (….) magnetism has been of interest to humans due to its various uses throughout the centuries, from being used as compasses to enhance exploration, to more recent times using it as data storage in the form of hard drives. There have been multiple theories that can successfully describe ferromagnetism, notably MFT theory and the Heisenberg model, but none as simple to model and easy to solve as the Ising model, all whilst still having significant ability to model essential physics &amp; even non-physics (stock markets, social sciences etc..). For this reason, in this project we focus on the Ising model due its simplicity to code, and run simulations.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55F56EA-E08B-1311-D384-C1262477D9B2}"/>
                  </a:ext>
                </a:extLst>
              </p:cNvPr>
              <p:cNvSpPr txBox="1"/>
              <p:nvPr/>
            </p:nvSpPr>
            <p:spPr>
              <a:xfrm>
                <a:off x="332332" y="8646317"/>
                <a:ext cx="6972300" cy="1499257"/>
              </a:xfrm>
              <a:prstGeom prst="rect">
                <a:avLst/>
              </a:prstGeom>
              <a:noFill/>
            </p:spPr>
            <p:txBody>
              <a:bodyPr wrap="square" rtlCol="0">
                <a:spAutoFit/>
              </a:bodyPr>
              <a:lstStyle/>
              <a:p>
                <a:r>
                  <a:rPr lang="en-GB" dirty="0"/>
                  <a:t>For the 2D Ising model case, we create a periodic lattice 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where each point is randomly assigned a spin value of either +1 (red) or -1 (blue), representing spin-up and spin-down states respectively (see fig.1 for a visual).</a:t>
                </a:r>
              </a:p>
              <a:p>
                <a:endParaRPr lang="en-GB" dirty="0"/>
              </a:p>
            </p:txBody>
          </p:sp>
        </mc:Choice>
        <mc:Fallback xmlns="">
          <p:sp>
            <p:nvSpPr>
              <p:cNvPr id="14" name="TextBox 13">
                <a:extLst>
                  <a:ext uri="{FF2B5EF4-FFF2-40B4-BE49-F238E27FC236}">
                    <a16:creationId xmlns:a16="http://schemas.microsoft.com/office/drawing/2014/main" id="{655F56EA-E08B-1311-D384-C1262477D9B2}"/>
                  </a:ext>
                </a:extLst>
              </p:cNvPr>
              <p:cNvSpPr txBox="1">
                <a:spLocks noRot="1" noChangeAspect="1" noMove="1" noResize="1" noEditPoints="1" noAdjustHandles="1" noChangeArrowheads="1" noChangeShapeType="1" noTextEdit="1"/>
              </p:cNvSpPr>
              <p:nvPr/>
            </p:nvSpPr>
            <p:spPr>
              <a:xfrm>
                <a:off x="332332" y="8646317"/>
                <a:ext cx="6972300" cy="1499257"/>
              </a:xfrm>
              <a:prstGeom prst="rect">
                <a:avLst/>
              </a:prstGeom>
              <a:blipFill>
                <a:blip r:embed="rId10"/>
                <a:stretch>
                  <a:fillRect l="-787" t="-1626"/>
                </a:stretch>
              </a:blipFill>
            </p:spPr>
            <p:txBody>
              <a:bodyPr/>
              <a:lstStyle/>
              <a:p>
                <a:r>
                  <a:rPr lang="en-GB">
                    <a:noFill/>
                  </a:rPr>
                  <a:t> </a:t>
                </a:r>
              </a:p>
            </p:txBody>
          </p:sp>
        </mc:Fallback>
      </mc:AlternateContent>
      <p:pic>
        <p:nvPicPr>
          <p:cNvPr id="17" name="Picture 16" descr="A screenshot of a game&#10;&#10;AI-generated content may be incorrect.">
            <a:extLst>
              <a:ext uri="{FF2B5EF4-FFF2-40B4-BE49-F238E27FC236}">
                <a16:creationId xmlns:a16="http://schemas.microsoft.com/office/drawing/2014/main" id="{51DD7C1E-2018-FDD3-FAAD-0E6B0EA629AD}"/>
              </a:ext>
            </a:extLst>
          </p:cNvPr>
          <p:cNvPicPr>
            <a:picLocks noChangeAspect="1"/>
          </p:cNvPicPr>
          <p:nvPr/>
        </p:nvPicPr>
        <p:blipFill>
          <a:blip r:embed="rId11">
            <a:extLst>
              <a:ext uri="{28A0092B-C50C-407E-A947-70E740481C1C}">
                <a14:useLocalDpi xmlns:a14="http://schemas.microsoft.com/office/drawing/2010/main" val="0"/>
              </a:ext>
            </a:extLst>
          </a:blip>
          <a:srcRect r="53893" b="67039"/>
          <a:stretch>
            <a:fillRect/>
          </a:stretch>
        </p:blipFill>
        <p:spPr>
          <a:xfrm>
            <a:off x="332336" y="9933488"/>
            <a:ext cx="3205792" cy="3241830"/>
          </a:xfrm>
          <a:prstGeom prst="rect">
            <a:avLst/>
          </a:prstGeom>
        </p:spPr>
      </p:pic>
      <p:sp>
        <p:nvSpPr>
          <p:cNvPr id="24" name="TextBox 23">
            <a:extLst>
              <a:ext uri="{FF2B5EF4-FFF2-40B4-BE49-F238E27FC236}">
                <a16:creationId xmlns:a16="http://schemas.microsoft.com/office/drawing/2014/main" id="{CF7D2A1C-DB6E-D471-1EC3-FC8A46162E04}"/>
              </a:ext>
            </a:extLst>
          </p:cNvPr>
          <p:cNvSpPr txBox="1"/>
          <p:nvPr/>
        </p:nvSpPr>
        <p:spPr>
          <a:xfrm>
            <a:off x="3677289" y="10163265"/>
            <a:ext cx="2997199" cy="3139321"/>
          </a:xfrm>
          <a:prstGeom prst="rect">
            <a:avLst/>
          </a:prstGeom>
          <a:noFill/>
        </p:spPr>
        <p:txBody>
          <a:bodyPr wrap="square" rtlCol="0">
            <a:spAutoFit/>
          </a:bodyPr>
          <a:lstStyle/>
          <a:p>
            <a:r>
              <a:rPr lang="en-GB" dirty="0"/>
              <a:t>Fig. 1: Periodic lattice (i.e. edges wrap around) with randomly assigned spins. Red = spin-up, Blue = spin-down . </a:t>
            </a:r>
          </a:p>
          <a:p>
            <a:r>
              <a:rPr lang="en-GB" dirty="0"/>
              <a:t>The four nearest neighbours of the centre square are shown using white borders and numbers.</a:t>
            </a:r>
          </a:p>
          <a:p>
            <a:endParaRPr lang="en-GB" dirty="0"/>
          </a:p>
          <a:p>
            <a:endParaRPr lang="en-GB"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2651737-6572-D1E8-1C50-D306FEBA235C}"/>
                  </a:ext>
                </a:extLst>
              </p:cNvPr>
              <p:cNvSpPr txBox="1"/>
              <p:nvPr/>
            </p:nvSpPr>
            <p:spPr>
              <a:xfrm>
                <a:off x="332336" y="13245222"/>
                <a:ext cx="6533800" cy="2031325"/>
              </a:xfrm>
              <a:prstGeom prst="rect">
                <a:avLst/>
              </a:prstGeom>
              <a:noFill/>
            </p:spPr>
            <p:txBody>
              <a:bodyPr wrap="square">
                <a:spAutoFit/>
              </a:bodyPr>
              <a:lstStyle/>
              <a:p>
                <a:r>
                  <a:rPr lang="en-GB" sz="1800" dirty="0"/>
                  <a:t>The Ising model tells us the total energy of the lattice comes from two sources: the interaction between the spins and an external magnetic field </a:t>
                </a:r>
                <a14:m>
                  <m:oMath xmlns:m="http://schemas.openxmlformats.org/officeDocument/2006/math">
                    <m:r>
                      <a:rPr lang="en-GB" sz="1800" i="1" dirty="0" smtClean="0">
                        <a:latin typeface="Cambria Math" panose="02040503050406030204" pitchFamily="18" charset="0"/>
                      </a:rPr>
                      <m:t>𝐵</m:t>
                    </m:r>
                  </m:oMath>
                </a14:m>
                <a:r>
                  <a:rPr lang="en-GB" sz="1800" dirty="0"/>
                  <a:t>, and the interaction between neighbouring spins[1,2]. For simplicity, the 2D Ising model only considers interactions between the four nearest neighbours, highlighted in white in Fig 1.</a:t>
                </a:r>
              </a:p>
              <a:p>
                <a:endParaRPr lang="en-GB" sz="1800" dirty="0"/>
              </a:p>
            </p:txBody>
          </p:sp>
        </mc:Choice>
        <mc:Fallback xmlns="">
          <p:sp>
            <p:nvSpPr>
              <p:cNvPr id="31" name="TextBox 30">
                <a:extLst>
                  <a:ext uri="{FF2B5EF4-FFF2-40B4-BE49-F238E27FC236}">
                    <a16:creationId xmlns:a16="http://schemas.microsoft.com/office/drawing/2014/main" id="{52651737-6572-D1E8-1C50-D306FEBA235C}"/>
                  </a:ext>
                </a:extLst>
              </p:cNvPr>
              <p:cNvSpPr txBox="1">
                <a:spLocks noRot="1" noChangeAspect="1" noMove="1" noResize="1" noEditPoints="1" noAdjustHandles="1" noChangeArrowheads="1" noChangeShapeType="1" noTextEdit="1"/>
              </p:cNvSpPr>
              <p:nvPr/>
            </p:nvSpPr>
            <p:spPr>
              <a:xfrm>
                <a:off x="332336" y="13245222"/>
                <a:ext cx="6533800" cy="2031325"/>
              </a:xfrm>
              <a:prstGeom prst="rect">
                <a:avLst/>
              </a:prstGeom>
              <a:blipFill>
                <a:blip r:embed="rId12"/>
                <a:stretch>
                  <a:fillRect l="-840" t="-150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FC5C75A-5CD2-7863-55A2-ABA4439B5475}"/>
                  </a:ext>
                </a:extLst>
              </p:cNvPr>
              <p:cNvSpPr txBox="1"/>
              <p:nvPr/>
            </p:nvSpPr>
            <p:spPr>
              <a:xfrm>
                <a:off x="7792330" y="1918913"/>
                <a:ext cx="6814965" cy="3845220"/>
              </a:xfrm>
              <a:prstGeom prst="rect">
                <a:avLst/>
              </a:prstGeom>
              <a:noFill/>
            </p:spPr>
            <p:txBody>
              <a:bodyPr wrap="square">
                <a:spAutoFit/>
              </a:bodyPr>
              <a:lstStyle/>
              <a:p>
                <a:r>
                  <a:rPr lang="en-GB" sz="1800" dirty="0"/>
                  <a:t>Mathematically this energy </a:t>
                </a:r>
                <a14:m>
                  <m:oMath xmlns:m="http://schemas.openxmlformats.org/officeDocument/2006/math">
                    <m:r>
                      <a:rPr lang="en-GB" sz="1800" b="0" i="1" smtClean="0">
                        <a:latin typeface="Cambria Math" panose="02040503050406030204" pitchFamily="18" charset="0"/>
                      </a:rPr>
                      <m:t>𝐸</m:t>
                    </m:r>
                  </m:oMath>
                </a14:m>
                <a:r>
                  <a:rPr lang="en-GB" sz="1800" dirty="0"/>
                  <a:t>, can be written as: </a:t>
                </a:r>
              </a:p>
              <a:p>
                <a:endParaRPr lang="en-GB" sz="1800" dirty="0"/>
              </a:p>
              <a:p>
                <a:pPr/>
                <a14:m>
                  <m:oMathPara xmlns:m="http://schemas.openxmlformats.org/officeDocument/2006/math">
                    <m:oMathParaPr>
                      <m:jc m:val="centerGroup"/>
                    </m:oMathParaPr>
                    <m:oMath xmlns:m="http://schemas.openxmlformats.org/officeDocument/2006/math">
                      <m:r>
                        <a:rPr lang="en-GB" sz="1800" i="1">
                          <a:latin typeface="Cambria Math" panose="02040503050406030204" pitchFamily="18" charset="0"/>
                        </a:rPr>
                        <m:t>𝐸</m:t>
                      </m:r>
                      <m:r>
                        <a:rPr lang="en-GB" sz="1800" i="1">
                          <a:latin typeface="Cambria Math" panose="02040503050406030204" pitchFamily="18" charset="0"/>
                        </a:rPr>
                        <m:t>=−</m:t>
                      </m:r>
                      <m:r>
                        <a:rPr lang="en-GB" sz="1800" i="1">
                          <a:latin typeface="Cambria Math" panose="02040503050406030204" pitchFamily="18" charset="0"/>
                        </a:rPr>
                        <m:t>𝐵</m:t>
                      </m:r>
                      <m:nary>
                        <m:naryPr>
                          <m:chr m:val="∑"/>
                          <m:supHide m:val="on"/>
                          <m:ctrlPr>
                            <a:rPr lang="en-GB" sz="1800" i="1">
                              <a:latin typeface="Cambria Math" panose="02040503050406030204" pitchFamily="18" charset="0"/>
                            </a:rPr>
                          </m:ctrlPr>
                        </m:naryPr>
                        <m:sub>
                          <m:r>
                            <m:rPr>
                              <m:sty m:val="p"/>
                              <m:brk m:alnAt="7"/>
                            </m:rPr>
                            <a:rPr lang="el-GR" sz="1800" i="1">
                              <a:latin typeface="Cambria Math" panose="02040503050406030204" pitchFamily="18" charset="0"/>
                            </a:rPr>
                            <m:t>α</m:t>
                          </m:r>
                        </m:sub>
                        <m:sup/>
                        <m:e>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brk m:alnAt="7"/>
                                </m:rPr>
                                <a:rPr lang="el-GR" sz="1800" i="1">
                                  <a:latin typeface="Cambria Math" panose="02040503050406030204" pitchFamily="18" charset="0"/>
                                </a:rPr>
                                <m:t>α</m:t>
                              </m:r>
                            </m:sub>
                          </m:sSub>
                        </m:e>
                      </m:nary>
                      <m:r>
                        <a:rPr lang="en-GB" sz="1800">
                          <a:latin typeface="Cambria Math" panose="02040503050406030204" pitchFamily="18" charset="0"/>
                        </a:rPr>
                        <m:t> −</m:t>
                      </m:r>
                      <m:r>
                        <m:rPr>
                          <m:sty m:val="p"/>
                        </m:rPr>
                        <a:rPr lang="en-GB" sz="1800">
                          <a:latin typeface="Cambria Math" panose="02040503050406030204" pitchFamily="18" charset="0"/>
                        </a:rPr>
                        <m:t>J</m:t>
                      </m:r>
                      <m:nary>
                        <m:naryPr>
                          <m:chr m:val="∑"/>
                          <m:supHide m:val="on"/>
                          <m:ctrlPr>
                            <a:rPr lang="en-GB" sz="1800" i="1">
                              <a:latin typeface="Cambria Math" panose="02040503050406030204" pitchFamily="18" charset="0"/>
                            </a:rPr>
                          </m:ctrlPr>
                        </m:naryPr>
                        <m:sub>
                          <m:r>
                            <m:rPr>
                              <m:brk m:alnAt="7"/>
                            </m:rPr>
                            <a:rPr lang="en-GB" sz="1800" i="1">
                              <a:latin typeface="Cambria Math" panose="02040503050406030204" pitchFamily="18" charset="0"/>
                            </a:rPr>
                            <m:t>&lt;</m:t>
                          </m:r>
                          <m:r>
                            <m:rPr>
                              <m:sty m:val="p"/>
                            </m:rPr>
                            <a:rPr lang="el-GR" sz="1800" i="1">
                              <a:latin typeface="Cambria Math" panose="02040503050406030204" pitchFamily="18" charset="0"/>
                            </a:rPr>
                            <m:t>αβ</m:t>
                          </m:r>
                          <m:r>
                            <a:rPr lang="en-GB" sz="1800" i="1">
                              <a:latin typeface="Cambria Math" panose="02040503050406030204" pitchFamily="18" charset="0"/>
                            </a:rPr>
                            <m:t>&gt;</m:t>
                          </m:r>
                        </m:sub>
                        <m:sup/>
                        <m:e>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brk m:alnAt="7"/>
                                </m:rPr>
                                <a:rPr lang="el-GR" sz="1800" i="1">
                                  <a:latin typeface="Cambria Math" panose="02040503050406030204" pitchFamily="18" charset="0"/>
                                </a:rPr>
                                <m:t>α</m:t>
                              </m:r>
                            </m:sub>
                          </m:sSub>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rPr>
                                <a:rPr lang="el-GR" sz="1800" i="1">
                                  <a:latin typeface="Cambria Math" panose="02040503050406030204" pitchFamily="18" charset="0"/>
                                </a:rPr>
                                <m:t>β</m:t>
                              </m:r>
                            </m:sub>
                          </m:sSub>
                        </m:e>
                      </m:nary>
                      <m:r>
                        <a:rPr lang="en-GB" sz="1800" b="0" i="0" smtClean="0">
                          <a:latin typeface="Cambria Math" panose="02040503050406030204" pitchFamily="18" charset="0"/>
                        </a:rPr>
                        <m:t>, </m:t>
                      </m:r>
                    </m:oMath>
                  </m:oMathPara>
                </a14:m>
                <a:endParaRPr lang="en-GB" dirty="0"/>
              </a:p>
              <a:p>
                <a:endParaRPr lang="en-GB" sz="1800" dirty="0"/>
              </a:p>
              <a:p>
                <a:endParaRPr lang="en-GB" sz="1800" dirty="0"/>
              </a:p>
              <a:p>
                <a:r>
                  <a:rPr lang="en-GB" sz="1800" dirty="0"/>
                  <a:t>where </a:t>
                </a:r>
                <a14:m>
                  <m:oMath xmlns:m="http://schemas.openxmlformats.org/officeDocument/2006/math">
                    <m:r>
                      <a:rPr lang="el-GR" sz="1800" i="1" dirty="0" smtClean="0">
                        <a:latin typeface="Cambria Math" panose="02040503050406030204" pitchFamily="18" charset="0"/>
                        <a:ea typeface="Cambria Math" panose="02040503050406030204" pitchFamily="18" charset="0"/>
                      </a:rPr>
                      <m:t>𝛼</m:t>
                    </m:r>
                  </m:oMath>
                </a14:m>
                <a:r>
                  <a:rPr lang="en-GB" sz="1800" dirty="0"/>
                  <a:t> is the summation over each lattice point (i.e. over all </a:t>
                </a:r>
                <a14:m>
                  <m:oMath xmlns:m="http://schemas.openxmlformats.org/officeDocument/2006/math">
                    <m:r>
                      <a:rPr lang="en-GB" sz="1800" i="1" dirty="0">
                        <a:latin typeface="Cambria Math" panose="02040503050406030204" pitchFamily="18" charset="0"/>
                      </a:rPr>
                      <m:t>𝑖</m:t>
                    </m:r>
                  </m:oMath>
                </a14:m>
                <a:r>
                  <a:rPr lang="en-GB" sz="1800" dirty="0"/>
                  <a:t> and </a:t>
                </a:r>
                <a14:m>
                  <m:oMath xmlns:m="http://schemas.openxmlformats.org/officeDocument/2006/math">
                    <m:r>
                      <a:rPr lang="en-GB" sz="1800" i="1" dirty="0">
                        <a:latin typeface="Cambria Math" panose="02040503050406030204" pitchFamily="18" charset="0"/>
                      </a:rPr>
                      <m:t>𝑗</m:t>
                    </m:r>
                  </m:oMath>
                </a14:m>
                <a:r>
                  <a:rPr lang="en-GB" sz="1800" dirty="0"/>
                  <a:t>), and</a:t>
                </a:r>
                <a14:m>
                  <m:oMath xmlns:m="http://schemas.openxmlformats.org/officeDocument/2006/math">
                    <m:r>
                      <a:rPr lang="en-GB" sz="1800" i="1" dirty="0" smtClean="0">
                        <a:latin typeface="Cambria Math" panose="02040503050406030204" pitchFamily="18" charset="0"/>
                      </a:rPr>
                      <m:t> </m:t>
                    </m:r>
                    <m:r>
                      <a:rPr lang="el-GR" sz="1800" i="1" dirty="0">
                        <a:latin typeface="Cambria Math" panose="02040503050406030204" pitchFamily="18" charset="0"/>
                      </a:rPr>
                      <m:t>𝛽</m:t>
                    </m:r>
                    <m:r>
                      <a:rPr lang="en-GB" sz="1800" i="1" dirty="0">
                        <a:latin typeface="Cambria Math" panose="02040503050406030204" pitchFamily="18" charset="0"/>
                      </a:rPr>
                      <m:t> </m:t>
                    </m:r>
                  </m:oMath>
                </a14:m>
                <a:r>
                  <a:rPr lang="en-GB" sz="1800" dirty="0"/>
                  <a:t>is the summation of the four nearest neighbours: </a:t>
                </a:r>
                <a14:m>
                  <m:oMath xmlns:m="http://schemas.openxmlformats.org/officeDocument/2006/math">
                    <m:d>
                      <m:dPr>
                        <m:ctrlPr>
                          <a:rPr lang="en-GB" sz="1800" i="1" dirty="0">
                            <a:latin typeface="Cambria Math" panose="02040503050406030204" pitchFamily="18" charset="0"/>
                          </a:rPr>
                        </m:ctrlPr>
                      </m:dPr>
                      <m:e>
                        <m:r>
                          <a:rPr lang="en-GB" sz="1800" i="1" dirty="0">
                            <a:latin typeface="Cambria Math" panose="02040503050406030204" pitchFamily="18" charset="0"/>
                          </a:rPr>
                          <m:t>𝑖</m:t>
                        </m:r>
                        <m:r>
                          <a:rPr lang="en-GB" sz="1800" i="1" dirty="0">
                            <a:latin typeface="Cambria Math" panose="02040503050406030204" pitchFamily="18" charset="0"/>
                          </a:rPr>
                          <m:t>−1,</m:t>
                        </m:r>
                        <m:r>
                          <a:rPr lang="en-GB" sz="1800" i="1" dirty="0">
                            <a:latin typeface="Cambria Math" panose="02040503050406030204" pitchFamily="18" charset="0"/>
                          </a:rPr>
                          <m:t>𝑗</m:t>
                        </m:r>
                      </m:e>
                    </m:d>
                  </m:oMath>
                </a14:m>
                <a:r>
                  <a:rPr lang="en-GB" sz="1800" dirty="0"/>
                  <a:t>, </a:t>
                </a:r>
                <a14:m>
                  <m:oMath xmlns:m="http://schemas.openxmlformats.org/officeDocument/2006/math">
                    <m:d>
                      <m:dPr>
                        <m:ctrlPr>
                          <a:rPr lang="en-GB" sz="1800" i="1" dirty="0">
                            <a:latin typeface="Cambria Math" panose="02040503050406030204" pitchFamily="18" charset="0"/>
                          </a:rPr>
                        </m:ctrlPr>
                      </m:dPr>
                      <m:e>
                        <m:r>
                          <a:rPr lang="en-GB" sz="1800" i="1" dirty="0">
                            <a:latin typeface="Cambria Math" panose="02040503050406030204" pitchFamily="18" charset="0"/>
                          </a:rPr>
                          <m:t>𝑖</m:t>
                        </m:r>
                        <m:r>
                          <a:rPr lang="en-GB" sz="1800" i="1" dirty="0">
                            <a:latin typeface="Cambria Math" panose="02040503050406030204" pitchFamily="18" charset="0"/>
                          </a:rPr>
                          <m:t>+1,</m:t>
                        </m:r>
                        <m:r>
                          <a:rPr lang="en-GB" sz="1800" i="1" dirty="0">
                            <a:latin typeface="Cambria Math" panose="02040503050406030204" pitchFamily="18" charset="0"/>
                          </a:rPr>
                          <m:t>𝑗</m:t>
                        </m:r>
                      </m:e>
                    </m:d>
                    <m:r>
                      <a:rPr lang="en-GB" sz="1800" dirty="0">
                        <a:latin typeface="Cambria Math" panose="02040503050406030204" pitchFamily="18" charset="0"/>
                      </a:rPr>
                      <m:t>, </m:t>
                    </m:r>
                    <m:r>
                      <a:rPr lang="en-GB" sz="1800" i="1" dirty="0">
                        <a:latin typeface="Cambria Math" panose="02040503050406030204" pitchFamily="18" charset="0"/>
                      </a:rPr>
                      <m:t>(</m:t>
                    </m:r>
                    <m:r>
                      <a:rPr lang="en-GB" sz="1800" i="1" dirty="0" err="1">
                        <a:latin typeface="Cambria Math" panose="02040503050406030204" pitchFamily="18" charset="0"/>
                      </a:rPr>
                      <m:t>𝑖</m:t>
                    </m:r>
                    <m:r>
                      <a:rPr lang="en-GB" sz="1800" i="1" dirty="0">
                        <a:latin typeface="Cambria Math" panose="02040503050406030204" pitchFamily="18" charset="0"/>
                      </a:rPr>
                      <m:t> ,</m:t>
                    </m:r>
                    <m:r>
                      <a:rPr lang="en-GB" sz="1800" i="1" dirty="0">
                        <a:latin typeface="Cambria Math" panose="02040503050406030204" pitchFamily="18" charset="0"/>
                      </a:rPr>
                      <m:t>𝑗</m:t>
                    </m:r>
                    <m:r>
                      <a:rPr lang="en-GB" sz="1800" i="1" dirty="0">
                        <a:latin typeface="Cambria Math" panose="02040503050406030204" pitchFamily="18" charset="0"/>
                      </a:rPr>
                      <m:t>−1) </m:t>
                    </m:r>
                  </m:oMath>
                </a14:m>
                <a:r>
                  <a:rPr lang="en-GB" sz="1800" dirty="0"/>
                  <a:t>and </a:t>
                </a:r>
                <a14:m>
                  <m:oMath xmlns:m="http://schemas.openxmlformats.org/officeDocument/2006/math">
                    <m:d>
                      <m:dPr>
                        <m:ctrlPr>
                          <a:rPr lang="en-GB" sz="1800" i="1" dirty="0" err="1">
                            <a:latin typeface="Cambria Math" panose="02040503050406030204" pitchFamily="18" charset="0"/>
                          </a:rPr>
                        </m:ctrlPr>
                      </m:dPr>
                      <m:e>
                        <m:r>
                          <a:rPr lang="en-GB" sz="1800" i="1" dirty="0" err="1">
                            <a:latin typeface="Cambria Math" panose="02040503050406030204" pitchFamily="18" charset="0"/>
                          </a:rPr>
                          <m:t>𝑖</m:t>
                        </m:r>
                        <m:r>
                          <a:rPr lang="en-GB" sz="1800" i="1" dirty="0">
                            <a:latin typeface="Cambria Math" panose="02040503050406030204" pitchFamily="18" charset="0"/>
                          </a:rPr>
                          <m:t>, </m:t>
                        </m:r>
                        <m:r>
                          <a:rPr lang="en-GB" sz="1800" i="1" dirty="0">
                            <a:latin typeface="Cambria Math" panose="02040503050406030204" pitchFamily="18" charset="0"/>
                          </a:rPr>
                          <m:t>𝑗</m:t>
                        </m:r>
                        <m:r>
                          <a:rPr lang="en-GB" sz="1800" i="1" dirty="0">
                            <a:latin typeface="Cambria Math" panose="02040503050406030204" pitchFamily="18" charset="0"/>
                          </a:rPr>
                          <m:t>+1</m:t>
                        </m:r>
                      </m:e>
                    </m:d>
                  </m:oMath>
                </a14:m>
                <a:r>
                  <a:rPr lang="en-GB" sz="1800" dirty="0"/>
                  <a:t>[2].</a:t>
                </a:r>
                <a:r>
                  <a:rPr lang="en-GB" dirty="0"/>
                  <a:t> J is the interaction strength between neighbouring spins, with J &gt; 0 and J &lt; 0 corresponding with the tendency for neighbouring spins to align or anti-align, respectively.</a:t>
                </a:r>
              </a:p>
              <a:p>
                <a:endParaRPr lang="en-GB" sz="1800" dirty="0"/>
              </a:p>
            </p:txBody>
          </p:sp>
        </mc:Choice>
        <mc:Fallback xmlns="">
          <p:sp>
            <p:nvSpPr>
              <p:cNvPr id="36" name="TextBox 35">
                <a:extLst>
                  <a:ext uri="{FF2B5EF4-FFF2-40B4-BE49-F238E27FC236}">
                    <a16:creationId xmlns:a16="http://schemas.microsoft.com/office/drawing/2014/main" id="{8FC5C75A-5CD2-7863-55A2-ABA4439B5475}"/>
                  </a:ext>
                </a:extLst>
              </p:cNvPr>
              <p:cNvSpPr txBox="1">
                <a:spLocks noRot="1" noChangeAspect="1" noMove="1" noResize="1" noEditPoints="1" noAdjustHandles="1" noChangeArrowheads="1" noChangeShapeType="1" noTextEdit="1"/>
              </p:cNvSpPr>
              <p:nvPr/>
            </p:nvSpPr>
            <p:spPr>
              <a:xfrm>
                <a:off x="7792330" y="1918913"/>
                <a:ext cx="6814965" cy="3845220"/>
              </a:xfrm>
              <a:prstGeom prst="rect">
                <a:avLst/>
              </a:prstGeom>
              <a:blipFill>
                <a:blip r:embed="rId13"/>
                <a:stretch>
                  <a:fillRect l="-716" t="-792" r="-89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AEED639-5B31-0B92-A7E9-FBF6C72EFCA5}"/>
                  </a:ext>
                </a:extLst>
              </p:cNvPr>
              <p:cNvSpPr txBox="1"/>
              <p:nvPr/>
            </p:nvSpPr>
            <p:spPr>
              <a:xfrm>
                <a:off x="7902573" y="6245181"/>
                <a:ext cx="6594475" cy="3257558"/>
              </a:xfrm>
              <a:prstGeom prst="rect">
                <a:avLst/>
              </a:prstGeom>
              <a:noFill/>
            </p:spPr>
            <p:txBody>
              <a:bodyPr wrap="square">
                <a:spAutoFit/>
              </a:bodyPr>
              <a:lstStyle/>
              <a:p>
                <a:r>
                  <a:rPr lang="en-GB" sz="1800" dirty="0"/>
                  <a:t>Even using a small lattice, checking each possible state configuration would be impossible. To address this and remove configurations that are extremely unlikely, we consider the partition function, </a:t>
                </a:r>
                <a14:m>
                  <m:oMath xmlns:m="http://schemas.openxmlformats.org/officeDocument/2006/math">
                    <m:r>
                      <a:rPr lang="en-GB" sz="1800" b="0" i="1" smtClean="0">
                        <a:latin typeface="Cambria Math" panose="02040503050406030204" pitchFamily="18" charset="0"/>
                      </a:rPr>
                      <m:t>𝑍</m:t>
                    </m:r>
                  </m:oMath>
                </a14:m>
                <a:r>
                  <a:rPr lang="en-GB" sz="1800" dirty="0"/>
                  <a:t>. This helps us determine which  states are most probable at a given temperature, so we can restrict our consideration to these configurations only. We define the partition function as </a:t>
                </a:r>
              </a:p>
              <a:p>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𝑍</m:t>
                      </m:r>
                      <m:r>
                        <a:rPr lang="en-GB" sz="1800" b="0" i="1" smtClean="0">
                          <a:latin typeface="Cambria Math" panose="02040503050406030204" pitchFamily="18" charset="0"/>
                        </a:rPr>
                        <m:t>= </m:t>
                      </m:r>
                      <m:nary>
                        <m:naryPr>
                          <m:chr m:val="∑"/>
                          <m:supHide m:val="on"/>
                          <m:ctrlPr>
                            <a:rPr lang="en-GB" sz="1800" b="0" i="1" smtClean="0">
                              <a:latin typeface="Cambria Math" panose="02040503050406030204" pitchFamily="18" charset="0"/>
                            </a:rPr>
                          </m:ctrlPr>
                        </m:naryPr>
                        <m:sub>
                          <m:r>
                            <m:rPr>
                              <m:brk m:alnAt="7"/>
                            </m:rPr>
                            <a:rPr lang="en-GB" sz="1800" b="0" i="1" smtClean="0">
                              <a:latin typeface="Cambria Math" panose="02040503050406030204" pitchFamily="18" charset="0"/>
                            </a:rPr>
                            <m:t>𝑖</m:t>
                          </m:r>
                        </m:sub>
                        <m:sup/>
                        <m:e>
                          <m:r>
                            <m:rPr>
                              <m:sty m:val="p"/>
                            </m:rPr>
                            <a:rPr lang="en-GB" sz="1800" b="0" i="0" smtClean="0">
                              <a:latin typeface="Cambria Math" panose="02040503050406030204" pitchFamily="18" charset="0"/>
                            </a:rPr>
                            <m:t>exp</m:t>
                          </m:r>
                          <m:r>
                            <a:rPr lang="en-GB" sz="1800" b="0" i="1" smtClean="0">
                              <a:latin typeface="Cambria Math" panose="02040503050406030204" pitchFamily="18" charset="0"/>
                            </a:rPr>
                            <m:t>⁡</m:t>
                          </m:r>
                          <m:f>
                            <m:fPr>
                              <m:type m:val="skw"/>
                              <m:ctrlPr>
                                <a:rPr lang="en-GB" sz="1800" b="0" i="1" smtClean="0">
                                  <a:latin typeface="Cambria Math" panose="02040503050406030204" pitchFamily="18" charset="0"/>
                                </a:rPr>
                              </m:ctrlPr>
                            </m:fPr>
                            <m:num>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num>
                            <m:den>
                              <m:r>
                                <a:rPr lang="en-GB" sz="1800" b="0" i="1" smtClean="0">
                                  <a:latin typeface="Cambria Math" panose="02040503050406030204" pitchFamily="18" charset="0"/>
                                </a:rPr>
                                <m:t>𝑘𝑇</m:t>
                              </m:r>
                            </m:den>
                          </m:f>
                        </m:e>
                      </m:nary>
                      <m:r>
                        <a:rPr lang="en-GB" sz="1800" b="0" i="0" smtClean="0">
                          <a:latin typeface="Cambria Math" panose="02040503050406030204" pitchFamily="18" charset="0"/>
                        </a:rPr>
                        <m:t>,</m:t>
                      </m:r>
                    </m:oMath>
                  </m:oMathPara>
                </a14:m>
                <a:endParaRPr lang="en-GB" sz="1800" dirty="0"/>
              </a:p>
              <a:p>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a:t>
                </a:r>
              </a:p>
            </p:txBody>
          </p:sp>
        </mc:Choice>
        <mc:Fallback xmlns="">
          <p:sp>
            <p:nvSpPr>
              <p:cNvPr id="38" name="TextBox 37">
                <a:extLst>
                  <a:ext uri="{FF2B5EF4-FFF2-40B4-BE49-F238E27FC236}">
                    <a16:creationId xmlns:a16="http://schemas.microsoft.com/office/drawing/2014/main" id="{7AEED639-5B31-0B92-A7E9-FBF6C72EFCA5}"/>
                  </a:ext>
                </a:extLst>
              </p:cNvPr>
              <p:cNvSpPr txBox="1">
                <a:spLocks noRot="1" noChangeAspect="1" noMove="1" noResize="1" noEditPoints="1" noAdjustHandles="1" noChangeArrowheads="1" noChangeShapeType="1" noTextEdit="1"/>
              </p:cNvSpPr>
              <p:nvPr/>
            </p:nvSpPr>
            <p:spPr>
              <a:xfrm>
                <a:off x="7902573" y="6245181"/>
                <a:ext cx="6594475" cy="3257558"/>
              </a:xfrm>
              <a:prstGeom prst="rect">
                <a:avLst/>
              </a:prstGeom>
              <a:blipFill>
                <a:blip r:embed="rId14"/>
                <a:stretch>
                  <a:fillRect l="-739" t="-748" r="-1201" b="-205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91F82223-2651-859E-10E1-C728920C25FF}"/>
                  </a:ext>
                </a:extLst>
              </p:cNvPr>
              <p:cNvSpPr txBox="1"/>
              <p:nvPr/>
            </p:nvSpPr>
            <p:spPr>
              <a:xfrm>
                <a:off x="7792329" y="10370922"/>
                <a:ext cx="6704718" cy="5632568"/>
              </a:xfrm>
              <a:prstGeom prst="rect">
                <a:avLst/>
              </a:prstGeom>
              <a:noFill/>
            </p:spPr>
            <p:txBody>
              <a:bodyPr wrap="square">
                <a:spAutoFit/>
              </a:bodyPr>
              <a:lstStyle/>
              <a:p>
                <a:r>
                  <a:rPr lang="en-GB" sz="1800" dirty="0">
                    <a:cs typeface="Times New Roman" panose="02020603050405020304" pitchFamily="18" charset="0"/>
                  </a:rPr>
                  <a:t>By flipping the spin of one lattice site and calculating the change in energy, we can use the partition function to see how likely this change is to occur. Since flipping a spin only effects the 4 nearest neighbours, we find the change in energy to be given by: </a:t>
                </a:r>
              </a:p>
              <a:p>
                <a:endParaRPr lang="en-GB" sz="1800" dirty="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m:rPr>
                          <m:sty m:val="p"/>
                        </m:rPr>
                        <a:rPr lang="en-GB" sz="1800" b="0" i="0" smtClean="0">
                          <a:latin typeface="Cambria Math" panose="02040503050406030204" pitchFamily="18" charset="0"/>
                          <a:cs typeface="Times New Roman" panose="02020603050405020304" pitchFamily="18" charset="0"/>
                        </a:rPr>
                        <m:t>Δ</m:t>
                      </m:r>
                      <m:r>
                        <a:rPr lang="en-GB" sz="1800" b="0" i="1" smtClean="0">
                          <a:latin typeface="Cambria Math" panose="02040503050406030204" pitchFamily="18" charset="0"/>
                          <a:cs typeface="Times New Roman" panose="02020603050405020304" pitchFamily="18" charset="0"/>
                        </a:rPr>
                        <m:t>𝐸</m:t>
                      </m:r>
                      <m:r>
                        <a:rPr lang="en-GB" sz="1800" b="0" i="1" smtClean="0">
                          <a:latin typeface="Cambria Math" panose="02040503050406030204" pitchFamily="18" charset="0"/>
                          <a:cs typeface="Times New Roman" panose="02020603050405020304" pitchFamily="18" charset="0"/>
                        </a:rPr>
                        <m:t>=−2</m:t>
                      </m:r>
                      <m:d>
                        <m:dPr>
                          <m:begChr m:val="["/>
                          <m:endChr m:val="]"/>
                          <m:ctrlPr>
                            <a:rPr lang="en-GB" sz="1800" b="0" i="1" smtClean="0">
                              <a:latin typeface="Cambria Math" panose="02040503050406030204" pitchFamily="18" charset="0"/>
                              <a:cs typeface="Times New Roman" panose="02020603050405020304" pitchFamily="18" charset="0"/>
                            </a:rPr>
                          </m:ctrlPr>
                        </m:dPr>
                        <m:e>
                          <m:r>
                            <a:rPr lang="en-GB" sz="1800" b="0" i="1" smtClean="0">
                              <a:latin typeface="Cambria Math" panose="02040503050406030204" pitchFamily="18" charset="0"/>
                              <a:cs typeface="Times New Roman" panose="02020603050405020304" pitchFamily="18" charset="0"/>
                            </a:rPr>
                            <m:t>𝐽𝑓</m:t>
                          </m:r>
                          <m:r>
                            <a:rPr lang="en-GB" sz="1800" b="0" i="1" smtClean="0">
                              <a:latin typeface="Cambria Math" panose="02040503050406030204" pitchFamily="18" charset="0"/>
                              <a:cs typeface="Times New Roman" panose="02020603050405020304" pitchFamily="18" charset="0"/>
                            </a:rPr>
                            <m:t>+</m:t>
                          </m:r>
                          <m:r>
                            <a:rPr lang="en-GB" sz="1800" b="0" i="1" smtClean="0">
                              <a:latin typeface="Cambria Math" panose="02040503050406030204" pitchFamily="18" charset="0"/>
                              <a:cs typeface="Times New Roman" panose="02020603050405020304" pitchFamily="18" charset="0"/>
                            </a:rPr>
                            <m:t>𝐵</m:t>
                          </m:r>
                        </m:e>
                      </m:d>
                      <m:sSub>
                        <m:sSubPr>
                          <m:ctrlPr>
                            <a:rPr lang="en-GB" sz="1800" b="0" i="1" smtClean="0">
                              <a:latin typeface="Cambria Math" panose="02040503050406030204" pitchFamily="18" charset="0"/>
                              <a:cs typeface="Times New Roman" panose="02020603050405020304" pitchFamily="18" charset="0"/>
                            </a:rPr>
                          </m:ctrlPr>
                        </m:sSubPr>
                        <m:e>
                          <m:r>
                            <a:rPr lang="en-GB" sz="1800" b="0" i="1" smtClean="0">
                              <a:latin typeface="Cambria Math" panose="02040503050406030204" pitchFamily="18" charset="0"/>
                              <a:cs typeface="Times New Roman" panose="02020603050405020304" pitchFamily="18" charset="0"/>
                            </a:rPr>
                            <m:t>𝑆</m:t>
                          </m:r>
                        </m:e>
                        <m:sub>
                          <m:r>
                            <m:rPr>
                              <m:sty m:val="p"/>
                            </m:rPr>
                            <a:rPr lang="en-GB" sz="1800" b="0" i="1" smtClean="0">
                              <a:latin typeface="Cambria Math" panose="02040503050406030204" pitchFamily="18" charset="0"/>
                              <a:cs typeface="Times New Roman" panose="02020603050405020304" pitchFamily="18" charset="0"/>
                            </a:rPr>
                            <m:t>α</m:t>
                          </m:r>
                        </m:sub>
                      </m:sSub>
                      <m:r>
                        <a:rPr lang="en-GB" sz="1800" b="0" i="0" smtClean="0">
                          <a:latin typeface="Cambria Math" panose="02040503050406030204" pitchFamily="18" charset="0"/>
                          <a:cs typeface="Times New Roman" panose="02020603050405020304" pitchFamily="18" charset="0"/>
                        </a:rPr>
                        <m:t>,</m:t>
                      </m:r>
                    </m:oMath>
                  </m:oMathPara>
                </a14:m>
                <a:endParaRPr lang="en-GB" sz="1800" b="0" dirty="0">
                  <a:cs typeface="Times New Roman" panose="02020603050405020304" pitchFamily="18" charset="0"/>
                </a:endParaRPr>
              </a:p>
              <a:p>
                <a:endParaRPr lang="en-GB" sz="1800" b="0" dirty="0">
                  <a:cs typeface="Times New Roman" panose="02020603050405020304" pitchFamily="18" charset="0"/>
                </a:endParaRPr>
              </a:p>
              <a:p>
                <a:r>
                  <a:rPr lang="en-GB" sz="1800" dirty="0">
                    <a:cs typeface="Times New Roman" panose="02020603050405020304" pitchFamily="18" charset="0"/>
                  </a:rPr>
                  <a:t>where f is the sum of the flipped site’s 4 nearest neighbours, and the negative sign ensures fully aligned spins correlate to a lower energy state. Whether or not we keep the flipped state depends on whether it meets the following criteria: </a:t>
                </a:r>
              </a:p>
              <a:p>
                <a:pPr marL="342900" indent="-342900">
                  <a:buAutoNum type="arabicParenR"/>
                </a:pPr>
                <a:r>
                  <a:rPr lang="en-GB" sz="1800" dirty="0">
                    <a:cs typeface="Times New Roman" panose="02020603050405020304" pitchFamily="18" charset="0"/>
                  </a:rPr>
                  <a:t>If </a:t>
                </a:r>
                <a14:m>
                  <m:oMath xmlns:m="http://schemas.openxmlformats.org/officeDocument/2006/math">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exp</m:t>
                        </m:r>
                      </m:fName>
                      <m:e>
                        <m:d>
                          <m:dPr>
                            <m:ctrlPr>
                              <a:rPr lang="en-GB" sz="1800" i="1">
                                <a:latin typeface="Cambria Math" panose="02040503050406030204" pitchFamily="18" charset="0"/>
                              </a:rPr>
                            </m:ctrlPr>
                          </m:dPr>
                          <m:e>
                            <m:f>
                              <m:fPr>
                                <m:type m:val="skw"/>
                                <m:ctrlPr>
                                  <a:rPr lang="en-GB" sz="1800" i="1">
                                    <a:latin typeface="Cambria Math" panose="02040503050406030204" pitchFamily="18" charset="0"/>
                                  </a:rPr>
                                </m:ctrlPr>
                              </m:fPr>
                              <m:num>
                                <m:r>
                                  <m:rPr>
                                    <m:sty m:val="p"/>
                                  </m:rPr>
                                  <a:rPr lang="en-GB" sz="1800">
                                    <a:latin typeface="Cambria Math" panose="02040503050406030204" pitchFamily="18" charset="0"/>
                                  </a:rPr>
                                  <m:t>Δ</m:t>
                                </m:r>
                                <m:r>
                                  <a:rPr lang="en-GB" sz="1800" i="1">
                                    <a:latin typeface="Cambria Math" panose="02040503050406030204" pitchFamily="18" charset="0"/>
                                  </a:rPr>
                                  <m:t>𝐸</m:t>
                                </m:r>
                              </m:num>
                              <m:den>
                                <m:r>
                                  <a:rPr lang="en-GB" sz="1800" i="1">
                                    <a:latin typeface="Cambria Math" panose="02040503050406030204" pitchFamily="18" charset="0"/>
                                  </a:rPr>
                                  <m:t>𝑘𝑇</m:t>
                                </m:r>
                              </m:den>
                            </m:f>
                          </m:e>
                        </m:d>
                      </m:e>
                    </m:func>
                    <m:r>
                      <a:rPr lang="en-GB" sz="1800" i="1">
                        <a:latin typeface="Cambria Math" panose="02040503050406030204" pitchFamily="18" charset="0"/>
                      </a:rPr>
                      <m:t>&gt;1  </m:t>
                    </m:r>
                  </m:oMath>
                </a14:m>
                <a:r>
                  <a:rPr lang="en-GB" sz="1800" dirty="0">
                    <a:cs typeface="Times New Roman" panose="02020603050405020304" pitchFamily="18" charset="0"/>
                  </a:rPr>
                  <a:t>keep the flipped spin</a:t>
                </a:r>
              </a:p>
              <a:p>
                <a:r>
                  <a:rPr lang="en-GB" sz="1800" dirty="0">
                    <a:cs typeface="Times New Roman" panose="02020603050405020304" pitchFamily="18" charset="0"/>
                  </a:rPr>
                  <a:t>If not, generate a random number, </a:t>
                </a:r>
                <a14:m>
                  <m:oMath xmlns:m="http://schemas.openxmlformats.org/officeDocument/2006/math">
                    <m:r>
                      <a:rPr lang="en-GB" sz="1800" i="1" dirty="0">
                        <a:latin typeface="Cambria Math" panose="02040503050406030204" pitchFamily="18" charset="0"/>
                      </a:rPr>
                      <m:t>𝑛</m:t>
                    </m:r>
                  </m:oMath>
                </a14:m>
                <a:r>
                  <a:rPr lang="en-GB" sz="1800" dirty="0">
                    <a:cs typeface="Times New Roman" panose="02020603050405020304" pitchFamily="18" charset="0"/>
                  </a:rPr>
                  <a:t>, between 0 and 1. If </a:t>
                </a:r>
                <a14:m>
                  <m:oMath xmlns:m="http://schemas.openxmlformats.org/officeDocument/2006/math">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exp</m:t>
                        </m:r>
                      </m:fName>
                      <m:e>
                        <m:d>
                          <m:dPr>
                            <m:ctrlPr>
                              <a:rPr lang="en-GB" sz="1800" i="1">
                                <a:latin typeface="Cambria Math" panose="02040503050406030204" pitchFamily="18" charset="0"/>
                              </a:rPr>
                            </m:ctrlPr>
                          </m:dPr>
                          <m:e>
                            <m:f>
                              <m:fPr>
                                <m:type m:val="skw"/>
                                <m:ctrlPr>
                                  <a:rPr lang="en-GB" sz="1800" i="1">
                                    <a:latin typeface="Cambria Math" panose="02040503050406030204" pitchFamily="18" charset="0"/>
                                  </a:rPr>
                                </m:ctrlPr>
                              </m:fPr>
                              <m:num>
                                <m:r>
                                  <m:rPr>
                                    <m:sty m:val="p"/>
                                  </m:rPr>
                                  <a:rPr lang="en-GB" sz="1800">
                                    <a:latin typeface="Cambria Math" panose="02040503050406030204" pitchFamily="18" charset="0"/>
                                  </a:rPr>
                                  <m:t>Δ</m:t>
                                </m:r>
                                <m:r>
                                  <a:rPr lang="en-GB" sz="1800" i="1">
                                    <a:latin typeface="Cambria Math" panose="02040503050406030204" pitchFamily="18" charset="0"/>
                                  </a:rPr>
                                  <m:t>𝐸</m:t>
                                </m:r>
                              </m:num>
                              <m:den>
                                <m:r>
                                  <a:rPr lang="en-GB" sz="1800" i="1">
                                    <a:latin typeface="Cambria Math" panose="02040503050406030204" pitchFamily="18" charset="0"/>
                                  </a:rPr>
                                  <m:t>𝑘𝑇</m:t>
                                </m:r>
                              </m:den>
                            </m:f>
                          </m:e>
                        </m:d>
                      </m:e>
                    </m:func>
                    <m:r>
                      <a:rPr lang="en-GB" sz="1800" i="1">
                        <a:latin typeface="Cambria Math" panose="02040503050406030204" pitchFamily="18" charset="0"/>
                      </a:rPr>
                      <m:t>&gt;</m:t>
                    </m:r>
                    <m:r>
                      <a:rPr lang="en-GB" sz="1800" i="1">
                        <a:latin typeface="Cambria Math" panose="02040503050406030204" pitchFamily="18" charset="0"/>
                      </a:rPr>
                      <m:t>𝑛</m:t>
                    </m:r>
                  </m:oMath>
                </a14:m>
                <a:r>
                  <a:rPr lang="en-GB" sz="1800" dirty="0">
                    <a:cs typeface="Times New Roman" panose="02020603050405020304" pitchFamily="18" charset="0"/>
                  </a:rPr>
                  <a:t>, keep the flipped spin</a:t>
                </a:r>
              </a:p>
              <a:p>
                <a:r>
                  <a:rPr lang="en-GB" dirty="0">
                    <a:cs typeface="Times New Roman" panose="02020603050405020304" pitchFamily="18" charset="0"/>
                  </a:rPr>
                  <a:t>3) If neither condition is met, retain original spin</a:t>
                </a:r>
              </a:p>
              <a:p>
                <a:r>
                  <a:rPr lang="en-GB" dirty="0">
                    <a:cs typeface="Times New Roman" panose="02020603050405020304" pitchFamily="18" charset="0"/>
                  </a:rPr>
                  <a:t>We then repeat these steps for every lattice point (a sweep), applying periodic boundary conditions where necessary. This entire process is an implementation of the well-known metropolis algorithm [3].</a:t>
                </a:r>
              </a:p>
              <a:p>
                <a:pPr marL="342900" indent="-342900">
                  <a:buAutoNum type="arabicParenR"/>
                </a:pPr>
                <a:endParaRPr lang="en-GB" sz="1800" dirty="0">
                  <a:cs typeface="Times New Roman" panose="02020603050405020304" pitchFamily="18" charset="0"/>
                </a:endParaRPr>
              </a:p>
            </p:txBody>
          </p:sp>
        </mc:Choice>
        <mc:Fallback xmlns="">
          <p:sp>
            <p:nvSpPr>
              <p:cNvPr id="40" name="TextBox 39">
                <a:extLst>
                  <a:ext uri="{FF2B5EF4-FFF2-40B4-BE49-F238E27FC236}">
                    <a16:creationId xmlns:a16="http://schemas.microsoft.com/office/drawing/2014/main" id="{91F82223-2651-859E-10E1-C728920C25FF}"/>
                  </a:ext>
                </a:extLst>
              </p:cNvPr>
              <p:cNvSpPr txBox="1">
                <a:spLocks noRot="1" noChangeAspect="1" noMove="1" noResize="1" noEditPoints="1" noAdjustHandles="1" noChangeArrowheads="1" noChangeShapeType="1" noTextEdit="1"/>
              </p:cNvSpPr>
              <p:nvPr/>
            </p:nvSpPr>
            <p:spPr>
              <a:xfrm>
                <a:off x="7792329" y="10370922"/>
                <a:ext cx="6704718" cy="5632568"/>
              </a:xfrm>
              <a:prstGeom prst="rect">
                <a:avLst/>
              </a:prstGeom>
              <a:blipFill>
                <a:blip r:embed="rId15"/>
                <a:stretch>
                  <a:fillRect l="-818" t="-433" r="-1182"/>
                </a:stretch>
              </a:blipFill>
            </p:spPr>
            <p:txBody>
              <a:bodyPr/>
              <a:lstStyle/>
              <a:p>
                <a:r>
                  <a:rPr lang="en-GB">
                    <a:noFill/>
                  </a:rPr>
                  <a:t> </a:t>
                </a:r>
              </a:p>
            </p:txBody>
          </p:sp>
        </mc:Fallback>
      </mc:AlternateContent>
      <p:sp>
        <p:nvSpPr>
          <p:cNvPr id="41" name="TextBox 40">
            <a:extLst>
              <a:ext uri="{FF2B5EF4-FFF2-40B4-BE49-F238E27FC236}">
                <a16:creationId xmlns:a16="http://schemas.microsoft.com/office/drawing/2014/main" id="{7C1679DD-AA00-9A42-EB9B-6CAA8E4AB53C}"/>
              </a:ext>
            </a:extLst>
          </p:cNvPr>
          <p:cNvSpPr txBox="1"/>
          <p:nvPr/>
        </p:nvSpPr>
        <p:spPr>
          <a:xfrm>
            <a:off x="371256" y="2616928"/>
            <a:ext cx="6894451" cy="1477328"/>
          </a:xfrm>
          <a:prstGeom prst="rect">
            <a:avLst/>
          </a:prstGeom>
          <a:noFill/>
        </p:spPr>
        <p:txBody>
          <a:bodyPr wrap="square" rtlCol="0">
            <a:spAutoFit/>
          </a:bodyPr>
          <a:lstStyle/>
          <a:p>
            <a:r>
              <a:rPr lang="en-GB" dirty="0"/>
              <a:t>Ferromagnetic phase transitions can be modelled using a simple 2D Ising model. Using this model, and  Monte-Carlo methods, specifically by the metropolis algorithm, we determine the average </a:t>
            </a:r>
            <a:r>
              <a:rPr lang="en-GB" dirty="0" err="1"/>
              <a:t>mangetisation</a:t>
            </a:r>
            <a:r>
              <a:rPr lang="en-GB" dirty="0"/>
              <a:t> in the steady state region and compare to literature values.</a:t>
            </a:r>
          </a:p>
        </p:txBody>
      </p:sp>
    </p:spTree>
    <p:extLst>
      <p:ext uri="{BB962C8B-B14F-4D97-AF65-F5344CB8AC3E}">
        <p14:creationId xmlns:p14="http://schemas.microsoft.com/office/powerpoint/2010/main" val="3192666939"/>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5230152B-F261-89CD-810B-498F7EC2DD29}"/>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DFB1B1CF-33BB-3855-71CB-23117E5BBF9E}"/>
              </a:ext>
            </a:extLst>
          </p:cNvPr>
          <p:cNvSpPr/>
          <p:nvPr/>
        </p:nvSpPr>
        <p:spPr>
          <a:xfrm>
            <a:off x="254483" y="7824583"/>
            <a:ext cx="6972300" cy="757570"/>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1. The Ising Model</a:t>
            </a:r>
          </a:p>
        </p:txBody>
      </p:sp>
      <p:sp>
        <p:nvSpPr>
          <p:cNvPr id="4" name="Rectangle 3">
            <a:extLst>
              <a:ext uri="{FF2B5EF4-FFF2-40B4-BE49-F238E27FC236}">
                <a16:creationId xmlns:a16="http://schemas.microsoft.com/office/drawing/2014/main" id="{0A9DA1E6-64EF-5D37-B319-EFA70F5CA4D6}"/>
              </a:ext>
            </a:extLst>
          </p:cNvPr>
          <p:cNvSpPr/>
          <p:nvPr/>
        </p:nvSpPr>
        <p:spPr>
          <a:xfrm>
            <a:off x="-1" y="0"/>
            <a:ext cx="21383625" cy="17526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a ferromagnet using the Ising </a:t>
            </a:r>
            <a:r>
              <a:rPr lang="en-GB" sz="4800" b="1" dirty="0" err="1">
                <a:solidFill>
                  <a:srgbClr val="FAF9F6"/>
                </a:solidFill>
                <a:latin typeface="ADLaM Display" panose="02010000000000000000" pitchFamily="2" charset="0"/>
                <a:ea typeface="ADLaM Display" panose="02010000000000000000" pitchFamily="2" charset="0"/>
                <a:cs typeface="ADLaM Display" panose="02010000000000000000" pitchFamily="2" charset="0"/>
              </a:rPr>
              <a:t>moadel</a:t>
            </a:r>
            <a:endPar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GB" dirty="0"/>
          </a:p>
        </p:txBody>
      </p:sp>
      <p:sp>
        <p:nvSpPr>
          <p:cNvPr id="10" name="Rectangle 9">
            <a:extLst>
              <a:ext uri="{FF2B5EF4-FFF2-40B4-BE49-F238E27FC236}">
                <a16:creationId xmlns:a16="http://schemas.microsoft.com/office/drawing/2014/main" id="{ECF0EEBC-F1AE-EE74-D8C3-FC7AE1033A5E}"/>
              </a:ext>
            </a:extLst>
          </p:cNvPr>
          <p:cNvSpPr/>
          <p:nvPr/>
        </p:nvSpPr>
        <p:spPr>
          <a:xfrm>
            <a:off x="7902575" y="5470835"/>
            <a:ext cx="6594474" cy="782943"/>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15" name="Rectangle 14">
            <a:extLst>
              <a:ext uri="{FF2B5EF4-FFF2-40B4-BE49-F238E27FC236}">
                <a16:creationId xmlns:a16="http://schemas.microsoft.com/office/drawing/2014/main" id="{9E78A4F6-E94D-59AB-ABC2-A3C7780F8FF0}"/>
              </a:ext>
            </a:extLst>
          </p:cNvPr>
          <p:cNvSpPr/>
          <p:nvPr/>
        </p:nvSpPr>
        <p:spPr>
          <a:xfrm>
            <a:off x="7792330" y="9617052"/>
            <a:ext cx="6704718" cy="733470"/>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16" name="Rectangle 15">
            <a:extLst>
              <a:ext uri="{FF2B5EF4-FFF2-40B4-BE49-F238E27FC236}">
                <a16:creationId xmlns:a16="http://schemas.microsoft.com/office/drawing/2014/main" id="{2D24FFCA-E0FC-52E7-1A0A-1A6BD2045659}"/>
              </a:ext>
            </a:extLst>
          </p:cNvPr>
          <p:cNvSpPr/>
          <p:nvPr/>
        </p:nvSpPr>
        <p:spPr>
          <a:xfrm>
            <a:off x="15094989" y="1893520"/>
            <a:ext cx="5956300" cy="604058"/>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18" name="Rectangle 17">
            <a:extLst>
              <a:ext uri="{FF2B5EF4-FFF2-40B4-BE49-F238E27FC236}">
                <a16:creationId xmlns:a16="http://schemas.microsoft.com/office/drawing/2014/main" id="{6A4477E6-C2B5-0BB8-3AC7-90F2FB6B2549}"/>
              </a:ext>
            </a:extLst>
          </p:cNvPr>
          <p:cNvSpPr/>
          <p:nvPr/>
        </p:nvSpPr>
        <p:spPr>
          <a:xfrm>
            <a:off x="15274922" y="13725793"/>
            <a:ext cx="5956300" cy="41339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pic>
        <p:nvPicPr>
          <p:cNvPr id="22" name="Picture 21" descr="A graph with a line&#10;&#10;AI-generated content may be incorrect.">
            <a:extLst>
              <a:ext uri="{FF2B5EF4-FFF2-40B4-BE49-F238E27FC236}">
                <a16:creationId xmlns:a16="http://schemas.microsoft.com/office/drawing/2014/main" id="{8903B232-76EF-B377-1850-6BC67442F2C8}"/>
              </a:ext>
            </a:extLst>
          </p:cNvPr>
          <p:cNvPicPr>
            <a:picLocks noChangeAspect="1"/>
          </p:cNvPicPr>
          <p:nvPr/>
        </p:nvPicPr>
        <p:blipFill>
          <a:blip r:embed="rId3">
            <a:extLst>
              <a:ext uri="{28A0092B-C50C-407E-A947-70E740481C1C}">
                <a14:useLocalDpi xmlns:a14="http://schemas.microsoft.com/office/drawing/2010/main" val="0"/>
              </a:ext>
            </a:extLst>
          </a:blip>
          <a:srcRect l="1802" t="6597" r="8775" b="1459"/>
          <a:stretch>
            <a:fillRect/>
          </a:stretch>
        </p:blipFill>
        <p:spPr>
          <a:xfrm>
            <a:off x="15094989" y="7172952"/>
            <a:ext cx="6034153" cy="4653325"/>
          </a:xfrm>
          <a:prstGeom prst="rect">
            <a:avLst/>
          </a:prstGeom>
        </p:spPr>
      </p:pic>
      <p:sp>
        <p:nvSpPr>
          <p:cNvPr id="27" name="Rectangle 26">
            <a:extLst>
              <a:ext uri="{FF2B5EF4-FFF2-40B4-BE49-F238E27FC236}">
                <a16:creationId xmlns:a16="http://schemas.microsoft.com/office/drawing/2014/main" id="{435DEF5D-2558-4B2D-D735-997A4B35A2AF}"/>
              </a:ext>
            </a:extLst>
          </p:cNvPr>
          <p:cNvSpPr/>
          <p:nvPr/>
        </p:nvSpPr>
        <p:spPr>
          <a:xfrm>
            <a:off x="11433104" y="3283924"/>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901FC4FF-1B5A-BB68-0320-2224EEE5D071}"/>
              </a:ext>
            </a:extLst>
          </p:cNvPr>
          <p:cNvSpPr/>
          <p:nvPr/>
        </p:nvSpPr>
        <p:spPr>
          <a:xfrm>
            <a:off x="9460872" y="3283925"/>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11A710E2-BD60-BA9D-AB4C-65E8BDF1A729}"/>
                  </a:ext>
                </a:extLst>
              </p:cNvPr>
              <p:cNvSpPr txBox="1"/>
              <p:nvPr/>
            </p:nvSpPr>
            <p:spPr>
              <a:xfrm>
                <a:off x="15296904" y="11775033"/>
                <a:ext cx="5883278" cy="2426498"/>
              </a:xfrm>
              <a:prstGeom prst="rect">
                <a:avLst/>
              </a:prstGeom>
              <a:noFill/>
            </p:spPr>
            <p:txBody>
              <a:bodyPr wrap="square" rtlCol="0">
                <a:spAutoFit/>
              </a:bodyPr>
              <a:lstStyle/>
              <a:p>
                <a:r>
                  <a:rPr lang="en-GB" dirty="0"/>
                  <a:t>Fig. 2: Plot of average magnetisation per spin against number of sweeps of the Monte Carlo algorithm for a 32x32 lattice, with B = -0.05, J = 0.5, and </a:t>
                </a:r>
                <a:r>
                  <a:rPr lang="en-GB" dirty="0" err="1"/>
                  <a:t>kT</a:t>
                </a:r>
                <a:r>
                  <a:rPr lang="en-GB" dirty="0"/>
                  <a:t> = 1.  Average magnetisation was calculated using </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den>
                      </m:f>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𝛼</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𝑆</m:t>
                              </m:r>
                            </m:e>
                            <m:sub>
                              <m:r>
                                <a:rPr lang="en-GB" b="0" i="1" smtClean="0">
                                  <a:latin typeface="Cambria Math" panose="02040503050406030204" pitchFamily="18" charset="0"/>
                                </a:rPr>
                                <m:t>𝛼</m:t>
                              </m:r>
                            </m:sub>
                          </m:sSub>
                        </m:e>
                      </m:nary>
                    </m:oMath>
                  </m:oMathPara>
                </a14:m>
                <a:endParaRPr lang="en-GB" dirty="0"/>
              </a:p>
              <a:p>
                <a:endParaRPr lang="en-GB" dirty="0"/>
              </a:p>
              <a:p>
                <a:endParaRPr lang="en-GB" dirty="0"/>
              </a:p>
            </p:txBody>
          </p:sp>
        </mc:Choice>
        <mc:Fallback>
          <p:sp>
            <p:nvSpPr>
              <p:cNvPr id="3" name="TextBox 2">
                <a:extLst>
                  <a:ext uri="{FF2B5EF4-FFF2-40B4-BE49-F238E27FC236}">
                    <a16:creationId xmlns:a16="http://schemas.microsoft.com/office/drawing/2014/main" id="{11A710E2-BD60-BA9D-AB4C-65E8BDF1A729}"/>
                  </a:ext>
                </a:extLst>
              </p:cNvPr>
              <p:cNvSpPr txBox="1">
                <a:spLocks noRot="1" noChangeAspect="1" noMove="1" noResize="1" noEditPoints="1" noAdjustHandles="1" noChangeArrowheads="1" noChangeShapeType="1" noTextEdit="1"/>
              </p:cNvSpPr>
              <p:nvPr/>
            </p:nvSpPr>
            <p:spPr>
              <a:xfrm>
                <a:off x="15296904" y="11775033"/>
                <a:ext cx="5883278" cy="2426498"/>
              </a:xfrm>
              <a:prstGeom prst="rect">
                <a:avLst/>
              </a:prstGeom>
              <a:blipFill>
                <a:blip r:embed="rId4"/>
                <a:stretch>
                  <a:fillRect l="-829" t="-125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12BE4D39-9AC3-2578-0851-980CC0DE1973}"/>
                  </a:ext>
                </a:extLst>
              </p:cNvPr>
              <p:cNvSpPr txBox="1"/>
              <p:nvPr/>
            </p:nvSpPr>
            <p:spPr>
              <a:xfrm>
                <a:off x="15094989" y="2497578"/>
                <a:ext cx="5956300" cy="2585323"/>
              </a:xfrm>
              <a:prstGeom prst="rect">
                <a:avLst/>
              </a:prstGeom>
              <a:noFill/>
            </p:spPr>
            <p:txBody>
              <a:bodyPr wrap="square" rtlCol="0">
                <a:spAutoFit/>
              </a:bodyPr>
              <a:lstStyle/>
              <a:p>
                <a:r>
                  <a:rPr lang="en-GB" dirty="0"/>
                  <a:t>Fig. 2 shows the average magnetisation as a function of sweeps, for  a 32x32 lattice with B = -0.05 and J = 0.5. We define the steady state region as the point where the running average magnetisation doesn’t fluctuate by more than 5% of the difference between the initial and final value. Using this classification, we obtain the average magnetisation of the steady state region to be: </a:t>
                </a:r>
                <a14:m>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=0.9…±0.00…</m:t>
                    </m:r>
                  </m:oMath>
                </a14:m>
                <a:r>
                  <a:rPr lang="en-GB" dirty="0">
                    <a:solidFill>
                      <a:srgbClr val="FF0000"/>
                    </a:solidFill>
                  </a:rPr>
                  <a:t>,</a:t>
                </a:r>
              </a:p>
              <a:p>
                <a:endParaRPr lang="en-GB" dirty="0">
                  <a:solidFill>
                    <a:srgbClr val="FF0000"/>
                  </a:solidFill>
                </a:endParaRPr>
              </a:p>
            </p:txBody>
          </p:sp>
        </mc:Choice>
        <mc:Fallback>
          <p:sp>
            <p:nvSpPr>
              <p:cNvPr id="20" name="TextBox 19">
                <a:extLst>
                  <a:ext uri="{FF2B5EF4-FFF2-40B4-BE49-F238E27FC236}">
                    <a16:creationId xmlns:a16="http://schemas.microsoft.com/office/drawing/2014/main" id="{12BE4D39-9AC3-2578-0851-980CC0DE1973}"/>
                  </a:ext>
                </a:extLst>
              </p:cNvPr>
              <p:cNvSpPr txBox="1">
                <a:spLocks noRot="1" noChangeAspect="1" noMove="1" noResize="1" noEditPoints="1" noAdjustHandles="1" noChangeArrowheads="1" noChangeShapeType="1" noTextEdit="1"/>
              </p:cNvSpPr>
              <p:nvPr/>
            </p:nvSpPr>
            <p:spPr>
              <a:xfrm>
                <a:off x="15094989" y="2497578"/>
                <a:ext cx="5956300" cy="2585323"/>
              </a:xfrm>
              <a:prstGeom prst="rect">
                <a:avLst/>
              </a:prstGeom>
              <a:blipFill>
                <a:blip r:embed="rId5"/>
                <a:stretch>
                  <a:fillRect l="-819" t="-1179"/>
                </a:stretch>
              </a:blipFill>
            </p:spPr>
            <p:txBody>
              <a:bodyPr/>
              <a:lstStyle/>
              <a:p>
                <a:r>
                  <a:rPr lang="en-GB">
                    <a:noFill/>
                  </a:rPr>
                  <a:t> </a:t>
                </a:r>
              </a:p>
            </p:txBody>
          </p:sp>
        </mc:Fallback>
      </mc:AlternateContent>
      <p:sp>
        <p:nvSpPr>
          <p:cNvPr id="21" name="TextBox 20">
            <a:extLst>
              <a:ext uri="{FF2B5EF4-FFF2-40B4-BE49-F238E27FC236}">
                <a16:creationId xmlns:a16="http://schemas.microsoft.com/office/drawing/2014/main" id="{374CBD14-F8EA-A039-C40E-E814DCC6D25C}"/>
              </a:ext>
            </a:extLst>
          </p:cNvPr>
          <p:cNvSpPr txBox="1"/>
          <p:nvPr/>
        </p:nvSpPr>
        <p:spPr>
          <a:xfrm>
            <a:off x="15245864" y="14139191"/>
            <a:ext cx="5883278" cy="1051057"/>
          </a:xfrm>
          <a:prstGeom prst="rect">
            <a:avLst/>
          </a:prstGeom>
          <a:noFill/>
        </p:spPr>
        <p:txBody>
          <a:bodyPr wrap="square" rtlCol="0">
            <a:spAutoFit/>
          </a:bodyPr>
          <a:lstStyle/>
          <a:p>
            <a:pPr marL="228600" indent="-228600">
              <a:buAutoNum type="arabicPeriod"/>
            </a:pPr>
            <a:r>
              <a:rPr lang="de-DE" sz="880" dirty="0"/>
              <a:t>Ising, E. Beitrag zur Theorie des Ferromagnetismus. </a:t>
            </a:r>
            <a:r>
              <a:rPr lang="de-DE" sz="880" i="1" dirty="0"/>
              <a:t>Z. Physik</a:t>
            </a:r>
            <a:r>
              <a:rPr lang="de-DE" sz="880" dirty="0"/>
              <a:t> </a:t>
            </a:r>
            <a:r>
              <a:rPr lang="de-DE" sz="880" b="1" dirty="0"/>
              <a:t>31</a:t>
            </a:r>
            <a:r>
              <a:rPr lang="de-DE" sz="880" dirty="0"/>
              <a:t>, 253–258 (1925). </a:t>
            </a:r>
            <a:r>
              <a:rPr lang="de-DE" sz="880" dirty="0">
                <a:hlinkClick r:id="rId6"/>
              </a:rPr>
              <a:t>https://doi.org/10.1007/BF02980577</a:t>
            </a:r>
            <a:endParaRPr lang="de-DE" sz="880" dirty="0"/>
          </a:p>
          <a:p>
            <a:pPr marL="228600" indent="-228600">
              <a:buAutoNum type="arabicPeriod"/>
            </a:pPr>
            <a:r>
              <a:rPr lang="en-GB" sz="880" dirty="0"/>
              <a:t>Onsager, L. Crystal Statistics. I. A Two-Dimensional Model with an Order-Disorder Transition. </a:t>
            </a:r>
            <a:r>
              <a:rPr lang="en-GB" sz="880" i="1" dirty="0"/>
              <a:t>Phys. Rev.</a:t>
            </a:r>
            <a:r>
              <a:rPr lang="en-GB" sz="880" dirty="0"/>
              <a:t> </a:t>
            </a:r>
            <a:r>
              <a:rPr lang="en-GB" sz="880" b="1" dirty="0"/>
              <a:t>65</a:t>
            </a:r>
            <a:r>
              <a:rPr lang="en-GB" sz="880" dirty="0"/>
              <a:t>, 117–149 (1944). </a:t>
            </a:r>
            <a:r>
              <a:rPr lang="en-GB" sz="880" dirty="0">
                <a:hlinkClick r:id="rId7"/>
              </a:rPr>
              <a:t>https://doi.org/10.1103/PhysRev.65.117</a:t>
            </a:r>
            <a:endParaRPr lang="en-GB" sz="880" dirty="0"/>
          </a:p>
          <a:p>
            <a:pPr marL="228600" indent="-228600">
              <a:buAutoNum type="arabicPeriod"/>
            </a:pPr>
            <a:r>
              <a:rPr lang="en-GB" sz="880" dirty="0"/>
              <a:t>Metropolis, N., Rosenbluth, A., Rosenbluth, M., Teller, A., and Teller, E. (1953). Equations of state calculations by fast computing machines. J. Chem. Phys., 21(6): 10871092.</a:t>
            </a:r>
          </a:p>
          <a:p>
            <a:r>
              <a:rPr lang="en-GB" sz="880" dirty="0"/>
              <a:t>Generative AI in the form of ChatGPT was occasionally used to improve clarity of writing only. </a:t>
            </a:r>
          </a:p>
        </p:txBody>
      </p:sp>
      <p:sp>
        <p:nvSpPr>
          <p:cNvPr id="30" name="TextBox 29">
            <a:extLst>
              <a:ext uri="{FF2B5EF4-FFF2-40B4-BE49-F238E27FC236}">
                <a16:creationId xmlns:a16="http://schemas.microsoft.com/office/drawing/2014/main" id="{37A4CB06-E77F-10E4-1A04-F13429301F1C}"/>
              </a:ext>
            </a:extLst>
          </p:cNvPr>
          <p:cNvSpPr txBox="1"/>
          <p:nvPr/>
        </p:nvSpPr>
        <p:spPr>
          <a:xfrm>
            <a:off x="19842390" y="13041164"/>
            <a:ext cx="1000871" cy="369332"/>
          </a:xfrm>
          <a:prstGeom prst="rect">
            <a:avLst/>
          </a:prstGeom>
          <a:noFill/>
        </p:spPr>
        <p:txBody>
          <a:bodyPr wrap="square">
            <a:spAutoFit/>
          </a:bodyPr>
          <a:lstStyle/>
          <a:p>
            <a:r>
              <a:rPr lang="en-GB" sz="1800" dirty="0"/>
              <a:t> </a:t>
            </a:r>
            <a:r>
              <a:rPr lang="en-GB" sz="1800" dirty="0">
                <a:latin typeface="Cambria Math" panose="02040503050406030204" pitchFamily="18" charset="0"/>
                <a:ea typeface="Cambria Math" panose="02040503050406030204" pitchFamily="18" charset="0"/>
              </a:rPr>
              <a:t>(4)</a:t>
            </a:r>
          </a:p>
        </p:txBody>
      </p:sp>
      <p:sp>
        <p:nvSpPr>
          <p:cNvPr id="6" name="Rectangle 5">
            <a:extLst>
              <a:ext uri="{FF2B5EF4-FFF2-40B4-BE49-F238E27FC236}">
                <a16:creationId xmlns:a16="http://schemas.microsoft.com/office/drawing/2014/main" id="{ED12F7F1-6B9E-8B9A-E8D9-8403D96DF5CD}"/>
              </a:ext>
            </a:extLst>
          </p:cNvPr>
          <p:cNvSpPr/>
          <p:nvPr/>
        </p:nvSpPr>
        <p:spPr>
          <a:xfrm>
            <a:off x="320454" y="1816764"/>
            <a:ext cx="6972300" cy="604058"/>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Summary</a:t>
            </a:r>
          </a:p>
        </p:txBody>
      </p:sp>
      <p:sp>
        <p:nvSpPr>
          <p:cNvPr id="9" name="Rectangle 8">
            <a:extLst>
              <a:ext uri="{FF2B5EF4-FFF2-40B4-BE49-F238E27FC236}">
                <a16:creationId xmlns:a16="http://schemas.microsoft.com/office/drawing/2014/main" id="{E9F58674-764E-AA1C-1BC2-7845326F540E}"/>
              </a:ext>
            </a:extLst>
          </p:cNvPr>
          <p:cNvSpPr/>
          <p:nvPr/>
        </p:nvSpPr>
        <p:spPr>
          <a:xfrm>
            <a:off x="398303" y="3726685"/>
            <a:ext cx="6972300" cy="757570"/>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9B18B4D5-EFE9-79E3-C04F-9D078FEDFBA7}"/>
              </a:ext>
            </a:extLst>
          </p:cNvPr>
          <p:cNvSpPr txBox="1"/>
          <p:nvPr/>
        </p:nvSpPr>
        <p:spPr>
          <a:xfrm>
            <a:off x="398303" y="4580921"/>
            <a:ext cx="7056132" cy="2862322"/>
          </a:xfrm>
          <a:prstGeom prst="rect">
            <a:avLst/>
          </a:prstGeom>
          <a:noFill/>
        </p:spPr>
        <p:txBody>
          <a:bodyPr wrap="square" rtlCol="0">
            <a:spAutoFit/>
          </a:bodyPr>
          <a:lstStyle/>
          <a:p>
            <a:r>
              <a:rPr lang="en-GB" dirty="0"/>
              <a:t>Magnetism has been of interest to humans for centuries, being used as compasses to enhance exploration, to modern data storage as magnetic hard drives. Many theories can successfully describe ferromagnetism, notably Mean Field Theory  (MFT) and the Heisenberg model, but none as simple to model  and solve as the Ising model. Despite its simplicity, it still captures essential physics, like phase transitions and the critical temperatures &amp;  is even widely used outside of physics, </a:t>
            </a:r>
            <a:r>
              <a:rPr lang="en-GB" dirty="0" err="1"/>
              <a:t>e.g</a:t>
            </a:r>
            <a:r>
              <a:rPr lang="en-GB" dirty="0"/>
              <a:t> to model financial markets. </a:t>
            </a:r>
          </a:p>
          <a:p>
            <a:r>
              <a:rPr lang="en-GB" dirty="0"/>
              <a:t>In this project, we use the Ising model due to its computational simplicity, and ability to reproduce key magnetic behaviour.</a:t>
            </a: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ECCC0842-0FD8-C4CA-36B8-96768826A73B}"/>
                  </a:ext>
                </a:extLst>
              </p:cNvPr>
              <p:cNvSpPr txBox="1"/>
              <p:nvPr/>
            </p:nvSpPr>
            <p:spPr>
              <a:xfrm>
                <a:off x="332332" y="8646317"/>
                <a:ext cx="6972300" cy="1499257"/>
              </a:xfrm>
              <a:prstGeom prst="rect">
                <a:avLst/>
              </a:prstGeom>
              <a:noFill/>
            </p:spPr>
            <p:txBody>
              <a:bodyPr wrap="square" rtlCol="0">
                <a:spAutoFit/>
              </a:bodyPr>
              <a:lstStyle/>
              <a:p>
                <a:r>
                  <a:rPr lang="en-GB" dirty="0"/>
                  <a:t>For the 2D Ising model case, we create a periodic lattice 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where each point is randomly assigned a spin value of either +1 (red) or -1 (blue), representing spin-up and spin-down states respectively (see fig.1 for a visual).</a:t>
                </a:r>
              </a:p>
              <a:p>
                <a:endParaRPr lang="en-GB" dirty="0"/>
              </a:p>
            </p:txBody>
          </p:sp>
        </mc:Choice>
        <mc:Fallback>
          <p:sp>
            <p:nvSpPr>
              <p:cNvPr id="14" name="TextBox 13">
                <a:extLst>
                  <a:ext uri="{FF2B5EF4-FFF2-40B4-BE49-F238E27FC236}">
                    <a16:creationId xmlns:a16="http://schemas.microsoft.com/office/drawing/2014/main" id="{ECCC0842-0FD8-C4CA-36B8-96768826A73B}"/>
                  </a:ext>
                </a:extLst>
              </p:cNvPr>
              <p:cNvSpPr txBox="1">
                <a:spLocks noRot="1" noChangeAspect="1" noMove="1" noResize="1" noEditPoints="1" noAdjustHandles="1" noChangeArrowheads="1" noChangeShapeType="1" noTextEdit="1"/>
              </p:cNvSpPr>
              <p:nvPr/>
            </p:nvSpPr>
            <p:spPr>
              <a:xfrm>
                <a:off x="332332" y="8646317"/>
                <a:ext cx="6972300" cy="1499257"/>
              </a:xfrm>
              <a:prstGeom prst="rect">
                <a:avLst/>
              </a:prstGeom>
              <a:blipFill>
                <a:blip r:embed="rId8"/>
                <a:stretch>
                  <a:fillRect l="-787" t="-1626"/>
                </a:stretch>
              </a:blipFill>
            </p:spPr>
            <p:txBody>
              <a:bodyPr/>
              <a:lstStyle/>
              <a:p>
                <a:r>
                  <a:rPr lang="en-GB">
                    <a:noFill/>
                  </a:rPr>
                  <a:t> </a:t>
                </a:r>
              </a:p>
            </p:txBody>
          </p:sp>
        </mc:Fallback>
      </mc:AlternateContent>
      <p:pic>
        <p:nvPicPr>
          <p:cNvPr id="17" name="Picture 16" descr="A screenshot of a game&#10;&#10;AI-generated content may be incorrect.">
            <a:extLst>
              <a:ext uri="{FF2B5EF4-FFF2-40B4-BE49-F238E27FC236}">
                <a16:creationId xmlns:a16="http://schemas.microsoft.com/office/drawing/2014/main" id="{BFC571F0-021C-E004-1EA0-1AA13EEC640B}"/>
              </a:ext>
            </a:extLst>
          </p:cNvPr>
          <p:cNvPicPr>
            <a:picLocks noChangeAspect="1"/>
          </p:cNvPicPr>
          <p:nvPr/>
        </p:nvPicPr>
        <p:blipFill>
          <a:blip r:embed="rId9">
            <a:extLst>
              <a:ext uri="{28A0092B-C50C-407E-A947-70E740481C1C}">
                <a14:useLocalDpi xmlns:a14="http://schemas.microsoft.com/office/drawing/2010/main" val="0"/>
              </a:ext>
            </a:extLst>
          </a:blip>
          <a:srcRect r="53893" b="67039"/>
          <a:stretch>
            <a:fillRect/>
          </a:stretch>
        </p:blipFill>
        <p:spPr>
          <a:xfrm>
            <a:off x="332336" y="9933488"/>
            <a:ext cx="3205792" cy="3241830"/>
          </a:xfrm>
          <a:prstGeom prst="rect">
            <a:avLst/>
          </a:prstGeom>
        </p:spPr>
      </p:pic>
      <p:sp>
        <p:nvSpPr>
          <p:cNvPr id="24" name="TextBox 23">
            <a:extLst>
              <a:ext uri="{FF2B5EF4-FFF2-40B4-BE49-F238E27FC236}">
                <a16:creationId xmlns:a16="http://schemas.microsoft.com/office/drawing/2014/main" id="{DC2AB347-99AA-3ABF-A252-6C2C70A08BB3}"/>
              </a:ext>
            </a:extLst>
          </p:cNvPr>
          <p:cNvSpPr txBox="1"/>
          <p:nvPr/>
        </p:nvSpPr>
        <p:spPr>
          <a:xfrm>
            <a:off x="3677289" y="10163265"/>
            <a:ext cx="2997199" cy="3139321"/>
          </a:xfrm>
          <a:prstGeom prst="rect">
            <a:avLst/>
          </a:prstGeom>
          <a:noFill/>
        </p:spPr>
        <p:txBody>
          <a:bodyPr wrap="square" rtlCol="0">
            <a:spAutoFit/>
          </a:bodyPr>
          <a:lstStyle/>
          <a:p>
            <a:r>
              <a:rPr lang="en-GB" dirty="0"/>
              <a:t>Fig. 1: Periodic lattice (i.e. edges wrap around) with randomly assigned spins. Red = spin-up, Blue = spin-down . </a:t>
            </a:r>
          </a:p>
          <a:p>
            <a:r>
              <a:rPr lang="en-GB" dirty="0"/>
              <a:t>The four nearest neighbours of the centre square are shown using white borders and numbers.</a:t>
            </a:r>
          </a:p>
          <a:p>
            <a:endParaRPr lang="en-GB" dirty="0"/>
          </a:p>
          <a:p>
            <a:endParaRPr lang="en-GB" dirty="0"/>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20C45908-DA06-32A4-28F1-0D4D4B6D4EB7}"/>
                  </a:ext>
                </a:extLst>
              </p:cNvPr>
              <p:cNvSpPr txBox="1"/>
              <p:nvPr/>
            </p:nvSpPr>
            <p:spPr>
              <a:xfrm>
                <a:off x="332336" y="13245222"/>
                <a:ext cx="6533800" cy="2031325"/>
              </a:xfrm>
              <a:prstGeom prst="rect">
                <a:avLst/>
              </a:prstGeom>
              <a:noFill/>
            </p:spPr>
            <p:txBody>
              <a:bodyPr wrap="square">
                <a:spAutoFit/>
              </a:bodyPr>
              <a:lstStyle/>
              <a:p>
                <a:r>
                  <a:rPr lang="en-GB" sz="1800" dirty="0"/>
                  <a:t>The Ising model tells us the total energy of the lattice comes from two sources: the interaction between the spins and an external magnetic field </a:t>
                </a:r>
                <a14:m>
                  <m:oMath xmlns:m="http://schemas.openxmlformats.org/officeDocument/2006/math">
                    <m:r>
                      <a:rPr lang="en-GB" sz="1800" i="1" dirty="0" smtClean="0">
                        <a:latin typeface="Cambria Math" panose="02040503050406030204" pitchFamily="18" charset="0"/>
                      </a:rPr>
                      <m:t>𝐵</m:t>
                    </m:r>
                  </m:oMath>
                </a14:m>
                <a:r>
                  <a:rPr lang="en-GB" sz="1800" dirty="0"/>
                  <a:t>, and the interaction between neighbouring spins[1,2]. For simplicity, the 2D Ising model only considers interactions between the four nearest neighbours, highlighted in white in Fig 1.</a:t>
                </a:r>
              </a:p>
              <a:p>
                <a:endParaRPr lang="en-GB" sz="1800" dirty="0"/>
              </a:p>
            </p:txBody>
          </p:sp>
        </mc:Choice>
        <mc:Fallback>
          <p:sp>
            <p:nvSpPr>
              <p:cNvPr id="31" name="TextBox 30">
                <a:extLst>
                  <a:ext uri="{FF2B5EF4-FFF2-40B4-BE49-F238E27FC236}">
                    <a16:creationId xmlns:a16="http://schemas.microsoft.com/office/drawing/2014/main" id="{20C45908-DA06-32A4-28F1-0D4D4B6D4EB7}"/>
                  </a:ext>
                </a:extLst>
              </p:cNvPr>
              <p:cNvSpPr txBox="1">
                <a:spLocks noRot="1" noChangeAspect="1" noMove="1" noResize="1" noEditPoints="1" noAdjustHandles="1" noChangeArrowheads="1" noChangeShapeType="1" noTextEdit="1"/>
              </p:cNvSpPr>
              <p:nvPr/>
            </p:nvSpPr>
            <p:spPr>
              <a:xfrm>
                <a:off x="332336" y="13245222"/>
                <a:ext cx="6533800" cy="2031325"/>
              </a:xfrm>
              <a:prstGeom prst="rect">
                <a:avLst/>
              </a:prstGeom>
              <a:blipFill>
                <a:blip r:embed="rId10"/>
                <a:stretch>
                  <a:fillRect l="-840" t="-1502"/>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66A688A-2F9C-593F-CF33-8325FABBBAA2}"/>
                  </a:ext>
                </a:extLst>
              </p:cNvPr>
              <p:cNvSpPr txBox="1"/>
              <p:nvPr/>
            </p:nvSpPr>
            <p:spPr>
              <a:xfrm>
                <a:off x="7792330" y="1918913"/>
                <a:ext cx="6814965" cy="3845220"/>
              </a:xfrm>
              <a:prstGeom prst="rect">
                <a:avLst/>
              </a:prstGeom>
              <a:noFill/>
            </p:spPr>
            <p:txBody>
              <a:bodyPr wrap="square">
                <a:spAutoFit/>
              </a:bodyPr>
              <a:lstStyle/>
              <a:p>
                <a:r>
                  <a:rPr lang="en-GB" sz="1800" dirty="0"/>
                  <a:t>Mathematically this energy </a:t>
                </a:r>
                <a14:m>
                  <m:oMath xmlns:m="http://schemas.openxmlformats.org/officeDocument/2006/math">
                    <m:r>
                      <a:rPr lang="en-GB" sz="1800" b="0" i="1" smtClean="0">
                        <a:latin typeface="Cambria Math" panose="02040503050406030204" pitchFamily="18" charset="0"/>
                      </a:rPr>
                      <m:t>𝐸</m:t>
                    </m:r>
                  </m:oMath>
                </a14:m>
                <a:r>
                  <a:rPr lang="en-GB" sz="1800" dirty="0"/>
                  <a:t>, can be written as: </a:t>
                </a:r>
              </a:p>
              <a:p>
                <a:endParaRPr lang="en-GB" sz="1800" dirty="0"/>
              </a:p>
              <a:p>
                <a:pPr/>
                <a14:m>
                  <m:oMathPara xmlns:m="http://schemas.openxmlformats.org/officeDocument/2006/math">
                    <m:oMathParaPr>
                      <m:jc m:val="centerGroup"/>
                    </m:oMathParaPr>
                    <m:oMath xmlns:m="http://schemas.openxmlformats.org/officeDocument/2006/math">
                      <m:r>
                        <a:rPr lang="en-GB" sz="1800" i="1">
                          <a:latin typeface="Cambria Math" panose="02040503050406030204" pitchFamily="18" charset="0"/>
                        </a:rPr>
                        <m:t>𝐸</m:t>
                      </m:r>
                      <m:r>
                        <a:rPr lang="en-GB" sz="1800" i="1">
                          <a:latin typeface="Cambria Math" panose="02040503050406030204" pitchFamily="18" charset="0"/>
                        </a:rPr>
                        <m:t>=−</m:t>
                      </m:r>
                      <m:r>
                        <a:rPr lang="en-GB" sz="1800" i="1">
                          <a:latin typeface="Cambria Math" panose="02040503050406030204" pitchFamily="18" charset="0"/>
                        </a:rPr>
                        <m:t>𝐵</m:t>
                      </m:r>
                      <m:nary>
                        <m:naryPr>
                          <m:chr m:val="∑"/>
                          <m:supHide m:val="on"/>
                          <m:ctrlPr>
                            <a:rPr lang="en-GB" sz="1800" i="1">
                              <a:latin typeface="Cambria Math" panose="02040503050406030204" pitchFamily="18" charset="0"/>
                            </a:rPr>
                          </m:ctrlPr>
                        </m:naryPr>
                        <m:sub>
                          <m:r>
                            <m:rPr>
                              <m:sty m:val="p"/>
                              <m:brk m:alnAt="7"/>
                            </m:rPr>
                            <a:rPr lang="el-GR" sz="1800" i="1">
                              <a:latin typeface="Cambria Math" panose="02040503050406030204" pitchFamily="18" charset="0"/>
                            </a:rPr>
                            <m:t>α</m:t>
                          </m:r>
                        </m:sub>
                        <m:sup/>
                        <m:e>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brk m:alnAt="7"/>
                                </m:rPr>
                                <a:rPr lang="el-GR" sz="1800" i="1">
                                  <a:latin typeface="Cambria Math" panose="02040503050406030204" pitchFamily="18" charset="0"/>
                                </a:rPr>
                                <m:t>α</m:t>
                              </m:r>
                            </m:sub>
                          </m:sSub>
                        </m:e>
                      </m:nary>
                      <m:r>
                        <a:rPr lang="en-GB" sz="1800">
                          <a:latin typeface="Cambria Math" panose="02040503050406030204" pitchFamily="18" charset="0"/>
                        </a:rPr>
                        <m:t> −</m:t>
                      </m:r>
                      <m:r>
                        <m:rPr>
                          <m:sty m:val="p"/>
                        </m:rPr>
                        <a:rPr lang="en-GB" sz="1800">
                          <a:latin typeface="Cambria Math" panose="02040503050406030204" pitchFamily="18" charset="0"/>
                        </a:rPr>
                        <m:t>J</m:t>
                      </m:r>
                      <m:nary>
                        <m:naryPr>
                          <m:chr m:val="∑"/>
                          <m:supHide m:val="on"/>
                          <m:ctrlPr>
                            <a:rPr lang="en-GB" sz="1800" i="1">
                              <a:latin typeface="Cambria Math" panose="02040503050406030204" pitchFamily="18" charset="0"/>
                            </a:rPr>
                          </m:ctrlPr>
                        </m:naryPr>
                        <m:sub>
                          <m:r>
                            <m:rPr>
                              <m:brk m:alnAt="7"/>
                            </m:rPr>
                            <a:rPr lang="en-GB" sz="1800" i="1">
                              <a:latin typeface="Cambria Math" panose="02040503050406030204" pitchFamily="18" charset="0"/>
                            </a:rPr>
                            <m:t>&lt;</m:t>
                          </m:r>
                          <m:r>
                            <m:rPr>
                              <m:sty m:val="p"/>
                            </m:rPr>
                            <a:rPr lang="el-GR" sz="1800" i="1">
                              <a:latin typeface="Cambria Math" panose="02040503050406030204" pitchFamily="18" charset="0"/>
                            </a:rPr>
                            <m:t>αβ</m:t>
                          </m:r>
                          <m:r>
                            <a:rPr lang="en-GB" sz="1800" i="1">
                              <a:latin typeface="Cambria Math" panose="02040503050406030204" pitchFamily="18" charset="0"/>
                            </a:rPr>
                            <m:t>&gt;</m:t>
                          </m:r>
                        </m:sub>
                        <m:sup/>
                        <m:e>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brk m:alnAt="7"/>
                                </m:rPr>
                                <a:rPr lang="el-GR" sz="1800" i="1">
                                  <a:latin typeface="Cambria Math" panose="02040503050406030204" pitchFamily="18" charset="0"/>
                                </a:rPr>
                                <m:t>α</m:t>
                              </m:r>
                            </m:sub>
                          </m:sSub>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rPr>
                                <a:rPr lang="el-GR" sz="1800" i="1">
                                  <a:latin typeface="Cambria Math" panose="02040503050406030204" pitchFamily="18" charset="0"/>
                                </a:rPr>
                                <m:t>β</m:t>
                              </m:r>
                            </m:sub>
                          </m:sSub>
                        </m:e>
                      </m:nary>
                      <m:r>
                        <a:rPr lang="en-GB" sz="1800" b="0" i="0" smtClean="0">
                          <a:latin typeface="Cambria Math" panose="02040503050406030204" pitchFamily="18" charset="0"/>
                        </a:rPr>
                        <m:t>, </m:t>
                      </m:r>
                    </m:oMath>
                  </m:oMathPara>
                </a14:m>
                <a:endParaRPr lang="en-GB" dirty="0"/>
              </a:p>
              <a:p>
                <a:endParaRPr lang="en-GB" sz="1800" dirty="0"/>
              </a:p>
              <a:p>
                <a:endParaRPr lang="en-GB" sz="1800" dirty="0"/>
              </a:p>
              <a:p>
                <a:r>
                  <a:rPr lang="en-GB" sz="1800" dirty="0"/>
                  <a:t>where </a:t>
                </a:r>
                <a14:m>
                  <m:oMath xmlns:m="http://schemas.openxmlformats.org/officeDocument/2006/math">
                    <m:r>
                      <a:rPr lang="el-GR" sz="1800" i="1" dirty="0" smtClean="0">
                        <a:latin typeface="Cambria Math" panose="02040503050406030204" pitchFamily="18" charset="0"/>
                        <a:ea typeface="Cambria Math" panose="02040503050406030204" pitchFamily="18" charset="0"/>
                      </a:rPr>
                      <m:t>𝛼</m:t>
                    </m:r>
                  </m:oMath>
                </a14:m>
                <a:r>
                  <a:rPr lang="en-GB" sz="1800" dirty="0"/>
                  <a:t> is the summation over each lattice point (i.e. over all </a:t>
                </a:r>
                <a14:m>
                  <m:oMath xmlns:m="http://schemas.openxmlformats.org/officeDocument/2006/math">
                    <m:r>
                      <a:rPr lang="en-GB" sz="1800" i="1" dirty="0">
                        <a:latin typeface="Cambria Math" panose="02040503050406030204" pitchFamily="18" charset="0"/>
                      </a:rPr>
                      <m:t>𝑖</m:t>
                    </m:r>
                  </m:oMath>
                </a14:m>
                <a:r>
                  <a:rPr lang="en-GB" sz="1800" dirty="0"/>
                  <a:t> and </a:t>
                </a:r>
                <a14:m>
                  <m:oMath xmlns:m="http://schemas.openxmlformats.org/officeDocument/2006/math">
                    <m:r>
                      <a:rPr lang="en-GB" sz="1800" i="1" dirty="0">
                        <a:latin typeface="Cambria Math" panose="02040503050406030204" pitchFamily="18" charset="0"/>
                      </a:rPr>
                      <m:t>𝑗</m:t>
                    </m:r>
                  </m:oMath>
                </a14:m>
                <a:r>
                  <a:rPr lang="en-GB" sz="1800" dirty="0"/>
                  <a:t>), and</a:t>
                </a:r>
                <a14:m>
                  <m:oMath xmlns:m="http://schemas.openxmlformats.org/officeDocument/2006/math">
                    <m:r>
                      <a:rPr lang="en-GB" sz="1800" i="1" dirty="0" smtClean="0">
                        <a:latin typeface="Cambria Math" panose="02040503050406030204" pitchFamily="18" charset="0"/>
                      </a:rPr>
                      <m:t> </m:t>
                    </m:r>
                    <m:r>
                      <a:rPr lang="el-GR" sz="1800" i="1" dirty="0">
                        <a:latin typeface="Cambria Math" panose="02040503050406030204" pitchFamily="18" charset="0"/>
                      </a:rPr>
                      <m:t>𝛽</m:t>
                    </m:r>
                    <m:r>
                      <a:rPr lang="en-GB" sz="1800" i="1" dirty="0">
                        <a:latin typeface="Cambria Math" panose="02040503050406030204" pitchFamily="18" charset="0"/>
                      </a:rPr>
                      <m:t> </m:t>
                    </m:r>
                  </m:oMath>
                </a14:m>
                <a:r>
                  <a:rPr lang="en-GB" sz="1800" dirty="0"/>
                  <a:t>is the summation of the four nearest neighbours: </a:t>
                </a:r>
                <a14:m>
                  <m:oMath xmlns:m="http://schemas.openxmlformats.org/officeDocument/2006/math">
                    <m:d>
                      <m:dPr>
                        <m:ctrlPr>
                          <a:rPr lang="en-GB" sz="1800" i="1" dirty="0">
                            <a:latin typeface="Cambria Math" panose="02040503050406030204" pitchFamily="18" charset="0"/>
                          </a:rPr>
                        </m:ctrlPr>
                      </m:dPr>
                      <m:e>
                        <m:r>
                          <a:rPr lang="en-GB" sz="1800" i="1" dirty="0">
                            <a:latin typeface="Cambria Math" panose="02040503050406030204" pitchFamily="18" charset="0"/>
                          </a:rPr>
                          <m:t>𝑖</m:t>
                        </m:r>
                        <m:r>
                          <a:rPr lang="en-GB" sz="1800" i="1" dirty="0">
                            <a:latin typeface="Cambria Math" panose="02040503050406030204" pitchFamily="18" charset="0"/>
                          </a:rPr>
                          <m:t>−1,</m:t>
                        </m:r>
                        <m:r>
                          <a:rPr lang="en-GB" sz="1800" i="1" dirty="0">
                            <a:latin typeface="Cambria Math" panose="02040503050406030204" pitchFamily="18" charset="0"/>
                          </a:rPr>
                          <m:t>𝑗</m:t>
                        </m:r>
                      </m:e>
                    </m:d>
                  </m:oMath>
                </a14:m>
                <a:r>
                  <a:rPr lang="en-GB" sz="1800" dirty="0"/>
                  <a:t>, </a:t>
                </a:r>
                <a14:m>
                  <m:oMath xmlns:m="http://schemas.openxmlformats.org/officeDocument/2006/math">
                    <m:d>
                      <m:dPr>
                        <m:ctrlPr>
                          <a:rPr lang="en-GB" sz="1800" i="1" dirty="0">
                            <a:latin typeface="Cambria Math" panose="02040503050406030204" pitchFamily="18" charset="0"/>
                          </a:rPr>
                        </m:ctrlPr>
                      </m:dPr>
                      <m:e>
                        <m:r>
                          <a:rPr lang="en-GB" sz="1800" i="1" dirty="0">
                            <a:latin typeface="Cambria Math" panose="02040503050406030204" pitchFamily="18" charset="0"/>
                          </a:rPr>
                          <m:t>𝑖</m:t>
                        </m:r>
                        <m:r>
                          <a:rPr lang="en-GB" sz="1800" i="1" dirty="0">
                            <a:latin typeface="Cambria Math" panose="02040503050406030204" pitchFamily="18" charset="0"/>
                          </a:rPr>
                          <m:t>+1,</m:t>
                        </m:r>
                        <m:r>
                          <a:rPr lang="en-GB" sz="1800" i="1" dirty="0">
                            <a:latin typeface="Cambria Math" panose="02040503050406030204" pitchFamily="18" charset="0"/>
                          </a:rPr>
                          <m:t>𝑗</m:t>
                        </m:r>
                      </m:e>
                    </m:d>
                    <m:r>
                      <a:rPr lang="en-GB" sz="1800" dirty="0">
                        <a:latin typeface="Cambria Math" panose="02040503050406030204" pitchFamily="18" charset="0"/>
                      </a:rPr>
                      <m:t>, </m:t>
                    </m:r>
                    <m:r>
                      <a:rPr lang="en-GB" sz="1800" i="1" dirty="0">
                        <a:latin typeface="Cambria Math" panose="02040503050406030204" pitchFamily="18" charset="0"/>
                      </a:rPr>
                      <m:t>(</m:t>
                    </m:r>
                    <m:r>
                      <a:rPr lang="en-GB" sz="1800" i="1" dirty="0" err="1">
                        <a:latin typeface="Cambria Math" panose="02040503050406030204" pitchFamily="18" charset="0"/>
                      </a:rPr>
                      <m:t>𝑖</m:t>
                    </m:r>
                    <m:r>
                      <a:rPr lang="en-GB" sz="1800" i="1" dirty="0">
                        <a:latin typeface="Cambria Math" panose="02040503050406030204" pitchFamily="18" charset="0"/>
                      </a:rPr>
                      <m:t> ,</m:t>
                    </m:r>
                    <m:r>
                      <a:rPr lang="en-GB" sz="1800" i="1" dirty="0">
                        <a:latin typeface="Cambria Math" panose="02040503050406030204" pitchFamily="18" charset="0"/>
                      </a:rPr>
                      <m:t>𝑗</m:t>
                    </m:r>
                    <m:r>
                      <a:rPr lang="en-GB" sz="1800" i="1" dirty="0">
                        <a:latin typeface="Cambria Math" panose="02040503050406030204" pitchFamily="18" charset="0"/>
                      </a:rPr>
                      <m:t>−1) </m:t>
                    </m:r>
                  </m:oMath>
                </a14:m>
                <a:r>
                  <a:rPr lang="en-GB" sz="1800" dirty="0"/>
                  <a:t>and </a:t>
                </a:r>
                <a14:m>
                  <m:oMath xmlns:m="http://schemas.openxmlformats.org/officeDocument/2006/math">
                    <m:d>
                      <m:dPr>
                        <m:ctrlPr>
                          <a:rPr lang="en-GB" sz="1800" i="1" dirty="0" err="1">
                            <a:latin typeface="Cambria Math" panose="02040503050406030204" pitchFamily="18" charset="0"/>
                          </a:rPr>
                        </m:ctrlPr>
                      </m:dPr>
                      <m:e>
                        <m:r>
                          <a:rPr lang="en-GB" sz="1800" i="1" dirty="0" err="1">
                            <a:latin typeface="Cambria Math" panose="02040503050406030204" pitchFamily="18" charset="0"/>
                          </a:rPr>
                          <m:t>𝑖</m:t>
                        </m:r>
                        <m:r>
                          <a:rPr lang="en-GB" sz="1800" i="1" dirty="0">
                            <a:latin typeface="Cambria Math" panose="02040503050406030204" pitchFamily="18" charset="0"/>
                          </a:rPr>
                          <m:t>, </m:t>
                        </m:r>
                        <m:r>
                          <a:rPr lang="en-GB" sz="1800" i="1" dirty="0">
                            <a:latin typeface="Cambria Math" panose="02040503050406030204" pitchFamily="18" charset="0"/>
                          </a:rPr>
                          <m:t>𝑗</m:t>
                        </m:r>
                        <m:r>
                          <a:rPr lang="en-GB" sz="1800" i="1" dirty="0">
                            <a:latin typeface="Cambria Math" panose="02040503050406030204" pitchFamily="18" charset="0"/>
                          </a:rPr>
                          <m:t>+1</m:t>
                        </m:r>
                      </m:e>
                    </m:d>
                  </m:oMath>
                </a14:m>
                <a:r>
                  <a:rPr lang="en-GB" sz="1800" dirty="0"/>
                  <a:t>[2].</a:t>
                </a:r>
                <a:r>
                  <a:rPr lang="en-GB" dirty="0"/>
                  <a:t> J is the interaction strength between neighbouring spins, with J &gt; 0 and J &lt; 0 corresponding with the tendency for neighbouring spins to align or anti-align, respectively.</a:t>
                </a:r>
              </a:p>
              <a:p>
                <a:endParaRPr lang="en-GB" sz="1800" dirty="0"/>
              </a:p>
            </p:txBody>
          </p:sp>
        </mc:Choice>
        <mc:Fallback>
          <p:sp>
            <p:nvSpPr>
              <p:cNvPr id="36" name="TextBox 35">
                <a:extLst>
                  <a:ext uri="{FF2B5EF4-FFF2-40B4-BE49-F238E27FC236}">
                    <a16:creationId xmlns:a16="http://schemas.microsoft.com/office/drawing/2014/main" id="{166A688A-2F9C-593F-CF33-8325FABBBAA2}"/>
                  </a:ext>
                </a:extLst>
              </p:cNvPr>
              <p:cNvSpPr txBox="1">
                <a:spLocks noRot="1" noChangeAspect="1" noMove="1" noResize="1" noEditPoints="1" noAdjustHandles="1" noChangeArrowheads="1" noChangeShapeType="1" noTextEdit="1"/>
              </p:cNvSpPr>
              <p:nvPr/>
            </p:nvSpPr>
            <p:spPr>
              <a:xfrm>
                <a:off x="7792330" y="1918913"/>
                <a:ext cx="6814965" cy="3845220"/>
              </a:xfrm>
              <a:prstGeom prst="rect">
                <a:avLst/>
              </a:prstGeom>
              <a:blipFill>
                <a:blip r:embed="rId11"/>
                <a:stretch>
                  <a:fillRect l="-716" t="-792" r="-89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54FFDFF2-E04F-E197-2F66-A422DE75EDF1}"/>
                  </a:ext>
                </a:extLst>
              </p:cNvPr>
              <p:cNvSpPr txBox="1"/>
              <p:nvPr/>
            </p:nvSpPr>
            <p:spPr>
              <a:xfrm>
                <a:off x="7902573" y="6245181"/>
                <a:ext cx="6594475" cy="3257558"/>
              </a:xfrm>
              <a:prstGeom prst="rect">
                <a:avLst/>
              </a:prstGeom>
              <a:noFill/>
            </p:spPr>
            <p:txBody>
              <a:bodyPr wrap="square">
                <a:spAutoFit/>
              </a:bodyPr>
              <a:lstStyle/>
              <a:p>
                <a:r>
                  <a:rPr lang="en-GB" sz="1800" dirty="0"/>
                  <a:t>Even using a small lattice, checking each possible state configuration would be impossible. To address this and remove configurations that are extremely unlikely, we consider the partition function, </a:t>
                </a:r>
                <a14:m>
                  <m:oMath xmlns:m="http://schemas.openxmlformats.org/officeDocument/2006/math">
                    <m:r>
                      <a:rPr lang="en-GB" sz="1800" b="0" i="1" smtClean="0">
                        <a:latin typeface="Cambria Math" panose="02040503050406030204" pitchFamily="18" charset="0"/>
                      </a:rPr>
                      <m:t>𝑍</m:t>
                    </m:r>
                  </m:oMath>
                </a14:m>
                <a:r>
                  <a:rPr lang="en-GB" sz="1800" dirty="0"/>
                  <a:t>. This helps us determine which  states are most probable at a given temperature, so we can restrict our consideration to these configurations only. We define the partition function as </a:t>
                </a:r>
              </a:p>
              <a:p>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𝑍</m:t>
                      </m:r>
                      <m:r>
                        <a:rPr lang="en-GB" sz="1800" b="0" i="1" smtClean="0">
                          <a:latin typeface="Cambria Math" panose="02040503050406030204" pitchFamily="18" charset="0"/>
                        </a:rPr>
                        <m:t>= </m:t>
                      </m:r>
                      <m:nary>
                        <m:naryPr>
                          <m:chr m:val="∑"/>
                          <m:supHide m:val="on"/>
                          <m:ctrlPr>
                            <a:rPr lang="en-GB" sz="1800" b="0" i="1" smtClean="0">
                              <a:latin typeface="Cambria Math" panose="02040503050406030204" pitchFamily="18" charset="0"/>
                            </a:rPr>
                          </m:ctrlPr>
                        </m:naryPr>
                        <m:sub>
                          <m:r>
                            <m:rPr>
                              <m:brk m:alnAt="7"/>
                            </m:rPr>
                            <a:rPr lang="en-GB" sz="1800" b="0" i="1" smtClean="0">
                              <a:latin typeface="Cambria Math" panose="02040503050406030204" pitchFamily="18" charset="0"/>
                            </a:rPr>
                            <m:t>𝑖</m:t>
                          </m:r>
                        </m:sub>
                        <m:sup/>
                        <m:e>
                          <m:r>
                            <m:rPr>
                              <m:sty m:val="p"/>
                            </m:rPr>
                            <a:rPr lang="en-GB" sz="1800" b="0" i="0" smtClean="0">
                              <a:latin typeface="Cambria Math" panose="02040503050406030204" pitchFamily="18" charset="0"/>
                            </a:rPr>
                            <m:t>exp</m:t>
                          </m:r>
                          <m:r>
                            <a:rPr lang="en-GB" sz="1800" b="0" i="1" smtClean="0">
                              <a:latin typeface="Cambria Math" panose="02040503050406030204" pitchFamily="18" charset="0"/>
                            </a:rPr>
                            <m:t>⁡</m:t>
                          </m:r>
                          <m:f>
                            <m:fPr>
                              <m:type m:val="skw"/>
                              <m:ctrlPr>
                                <a:rPr lang="en-GB" sz="1800" b="0" i="1" smtClean="0">
                                  <a:latin typeface="Cambria Math" panose="02040503050406030204" pitchFamily="18" charset="0"/>
                                </a:rPr>
                              </m:ctrlPr>
                            </m:fPr>
                            <m:num>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num>
                            <m:den>
                              <m:r>
                                <a:rPr lang="en-GB" sz="1800" b="0" i="1" smtClean="0">
                                  <a:latin typeface="Cambria Math" panose="02040503050406030204" pitchFamily="18" charset="0"/>
                                </a:rPr>
                                <m:t>𝑘𝑇</m:t>
                              </m:r>
                            </m:den>
                          </m:f>
                        </m:e>
                      </m:nary>
                      <m:r>
                        <a:rPr lang="en-GB" sz="1800" b="0" i="0" smtClean="0">
                          <a:latin typeface="Cambria Math" panose="02040503050406030204" pitchFamily="18" charset="0"/>
                        </a:rPr>
                        <m:t>,</m:t>
                      </m:r>
                    </m:oMath>
                  </m:oMathPara>
                </a14:m>
                <a:endParaRPr lang="en-GB" sz="1800" dirty="0"/>
              </a:p>
              <a:p>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a:t>
                </a:r>
              </a:p>
            </p:txBody>
          </p:sp>
        </mc:Choice>
        <mc:Fallback>
          <p:sp>
            <p:nvSpPr>
              <p:cNvPr id="38" name="TextBox 37">
                <a:extLst>
                  <a:ext uri="{FF2B5EF4-FFF2-40B4-BE49-F238E27FC236}">
                    <a16:creationId xmlns:a16="http://schemas.microsoft.com/office/drawing/2014/main" id="{54FFDFF2-E04F-E197-2F66-A422DE75EDF1}"/>
                  </a:ext>
                </a:extLst>
              </p:cNvPr>
              <p:cNvSpPr txBox="1">
                <a:spLocks noRot="1" noChangeAspect="1" noMove="1" noResize="1" noEditPoints="1" noAdjustHandles="1" noChangeArrowheads="1" noChangeShapeType="1" noTextEdit="1"/>
              </p:cNvSpPr>
              <p:nvPr/>
            </p:nvSpPr>
            <p:spPr>
              <a:xfrm>
                <a:off x="7902573" y="6245181"/>
                <a:ext cx="6594475" cy="3257558"/>
              </a:xfrm>
              <a:prstGeom prst="rect">
                <a:avLst/>
              </a:prstGeom>
              <a:blipFill>
                <a:blip r:embed="rId12"/>
                <a:stretch>
                  <a:fillRect l="-739" t="-748" r="-1201" b="-205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2D10B8A1-F4FF-7937-048C-409AF2D0E6ED}"/>
                  </a:ext>
                </a:extLst>
              </p:cNvPr>
              <p:cNvSpPr txBox="1"/>
              <p:nvPr/>
            </p:nvSpPr>
            <p:spPr>
              <a:xfrm>
                <a:off x="7792329" y="10370922"/>
                <a:ext cx="6704718" cy="5632568"/>
              </a:xfrm>
              <a:prstGeom prst="rect">
                <a:avLst/>
              </a:prstGeom>
              <a:noFill/>
            </p:spPr>
            <p:txBody>
              <a:bodyPr wrap="square">
                <a:spAutoFit/>
              </a:bodyPr>
              <a:lstStyle/>
              <a:p>
                <a:r>
                  <a:rPr lang="en-GB" sz="1800" dirty="0">
                    <a:cs typeface="Times New Roman" panose="02020603050405020304" pitchFamily="18" charset="0"/>
                  </a:rPr>
                  <a:t>By flipping the spin of one lattice site and calculating the change in energy, we can use the partition function to see how likely this change is to occur. Since flipping a spin only effects the 4 nearest neighbours, we find the change in energy to be given by: </a:t>
                </a:r>
              </a:p>
              <a:p>
                <a:endParaRPr lang="en-GB" sz="1800" dirty="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m:rPr>
                          <m:sty m:val="p"/>
                        </m:rPr>
                        <a:rPr lang="en-GB" sz="1800" b="0" i="0" smtClean="0">
                          <a:latin typeface="Cambria Math" panose="02040503050406030204" pitchFamily="18" charset="0"/>
                          <a:cs typeface="Times New Roman" panose="02020603050405020304" pitchFamily="18" charset="0"/>
                        </a:rPr>
                        <m:t>Δ</m:t>
                      </m:r>
                      <m:r>
                        <a:rPr lang="en-GB" sz="1800" b="0" i="1" smtClean="0">
                          <a:latin typeface="Cambria Math" panose="02040503050406030204" pitchFamily="18" charset="0"/>
                          <a:cs typeface="Times New Roman" panose="02020603050405020304" pitchFamily="18" charset="0"/>
                        </a:rPr>
                        <m:t>𝐸</m:t>
                      </m:r>
                      <m:r>
                        <a:rPr lang="en-GB" sz="1800" b="0" i="1" smtClean="0">
                          <a:latin typeface="Cambria Math" panose="02040503050406030204" pitchFamily="18" charset="0"/>
                          <a:cs typeface="Times New Roman" panose="02020603050405020304" pitchFamily="18" charset="0"/>
                        </a:rPr>
                        <m:t>=−2</m:t>
                      </m:r>
                      <m:d>
                        <m:dPr>
                          <m:begChr m:val="["/>
                          <m:endChr m:val="]"/>
                          <m:ctrlPr>
                            <a:rPr lang="en-GB" sz="1800" b="0" i="1" smtClean="0">
                              <a:latin typeface="Cambria Math" panose="02040503050406030204" pitchFamily="18" charset="0"/>
                              <a:cs typeface="Times New Roman" panose="02020603050405020304" pitchFamily="18" charset="0"/>
                            </a:rPr>
                          </m:ctrlPr>
                        </m:dPr>
                        <m:e>
                          <m:r>
                            <a:rPr lang="en-GB" sz="1800" b="0" i="1" smtClean="0">
                              <a:latin typeface="Cambria Math" panose="02040503050406030204" pitchFamily="18" charset="0"/>
                              <a:cs typeface="Times New Roman" panose="02020603050405020304" pitchFamily="18" charset="0"/>
                            </a:rPr>
                            <m:t>𝐽𝑓</m:t>
                          </m:r>
                          <m:r>
                            <a:rPr lang="en-GB" sz="1800" b="0" i="1" smtClean="0">
                              <a:latin typeface="Cambria Math" panose="02040503050406030204" pitchFamily="18" charset="0"/>
                              <a:cs typeface="Times New Roman" panose="02020603050405020304" pitchFamily="18" charset="0"/>
                            </a:rPr>
                            <m:t>+</m:t>
                          </m:r>
                          <m:r>
                            <a:rPr lang="en-GB" sz="1800" b="0" i="1" smtClean="0">
                              <a:latin typeface="Cambria Math" panose="02040503050406030204" pitchFamily="18" charset="0"/>
                              <a:cs typeface="Times New Roman" panose="02020603050405020304" pitchFamily="18" charset="0"/>
                            </a:rPr>
                            <m:t>𝐵</m:t>
                          </m:r>
                        </m:e>
                      </m:d>
                      <m:sSub>
                        <m:sSubPr>
                          <m:ctrlPr>
                            <a:rPr lang="en-GB" sz="1800" b="0" i="1" smtClean="0">
                              <a:latin typeface="Cambria Math" panose="02040503050406030204" pitchFamily="18" charset="0"/>
                              <a:cs typeface="Times New Roman" panose="02020603050405020304" pitchFamily="18" charset="0"/>
                            </a:rPr>
                          </m:ctrlPr>
                        </m:sSubPr>
                        <m:e>
                          <m:r>
                            <a:rPr lang="en-GB" sz="1800" b="0" i="1" smtClean="0">
                              <a:latin typeface="Cambria Math" panose="02040503050406030204" pitchFamily="18" charset="0"/>
                              <a:cs typeface="Times New Roman" panose="02020603050405020304" pitchFamily="18" charset="0"/>
                            </a:rPr>
                            <m:t>𝑆</m:t>
                          </m:r>
                        </m:e>
                        <m:sub>
                          <m:r>
                            <m:rPr>
                              <m:sty m:val="p"/>
                            </m:rPr>
                            <a:rPr lang="en-GB" sz="1800" b="0" i="1" smtClean="0">
                              <a:latin typeface="Cambria Math" panose="02040503050406030204" pitchFamily="18" charset="0"/>
                              <a:cs typeface="Times New Roman" panose="02020603050405020304" pitchFamily="18" charset="0"/>
                            </a:rPr>
                            <m:t>α</m:t>
                          </m:r>
                        </m:sub>
                      </m:sSub>
                      <m:r>
                        <a:rPr lang="en-GB" sz="1800" b="0" i="0" smtClean="0">
                          <a:latin typeface="Cambria Math" panose="02040503050406030204" pitchFamily="18" charset="0"/>
                          <a:cs typeface="Times New Roman" panose="02020603050405020304" pitchFamily="18" charset="0"/>
                        </a:rPr>
                        <m:t>,</m:t>
                      </m:r>
                    </m:oMath>
                  </m:oMathPara>
                </a14:m>
                <a:endParaRPr lang="en-GB" sz="1800" b="0" dirty="0">
                  <a:cs typeface="Times New Roman" panose="02020603050405020304" pitchFamily="18" charset="0"/>
                </a:endParaRPr>
              </a:p>
              <a:p>
                <a:endParaRPr lang="en-GB" sz="1800" b="0" dirty="0">
                  <a:cs typeface="Times New Roman" panose="02020603050405020304" pitchFamily="18" charset="0"/>
                </a:endParaRPr>
              </a:p>
              <a:p>
                <a:r>
                  <a:rPr lang="en-GB" sz="1800" dirty="0">
                    <a:cs typeface="Times New Roman" panose="02020603050405020304" pitchFamily="18" charset="0"/>
                  </a:rPr>
                  <a:t>where f is the sum of the flipped site’s 4 nearest neighbours, and the negative sign ensures fully aligned spins correlate to a lower energy state. Whether or not we keep the flipped state depends on whether it meets the following criteria: </a:t>
                </a:r>
              </a:p>
              <a:p>
                <a:pPr marL="342900" indent="-342900">
                  <a:buAutoNum type="arabicParenR"/>
                </a:pPr>
                <a:r>
                  <a:rPr lang="en-GB" sz="1800" dirty="0">
                    <a:cs typeface="Times New Roman" panose="02020603050405020304" pitchFamily="18" charset="0"/>
                  </a:rPr>
                  <a:t>If </a:t>
                </a:r>
                <a14:m>
                  <m:oMath xmlns:m="http://schemas.openxmlformats.org/officeDocument/2006/math">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exp</m:t>
                        </m:r>
                      </m:fName>
                      <m:e>
                        <m:d>
                          <m:dPr>
                            <m:ctrlPr>
                              <a:rPr lang="en-GB" sz="1800" i="1">
                                <a:latin typeface="Cambria Math" panose="02040503050406030204" pitchFamily="18" charset="0"/>
                              </a:rPr>
                            </m:ctrlPr>
                          </m:dPr>
                          <m:e>
                            <m:f>
                              <m:fPr>
                                <m:type m:val="skw"/>
                                <m:ctrlPr>
                                  <a:rPr lang="en-GB" sz="1800" i="1">
                                    <a:latin typeface="Cambria Math" panose="02040503050406030204" pitchFamily="18" charset="0"/>
                                  </a:rPr>
                                </m:ctrlPr>
                              </m:fPr>
                              <m:num>
                                <m:r>
                                  <m:rPr>
                                    <m:sty m:val="p"/>
                                  </m:rPr>
                                  <a:rPr lang="en-GB" sz="1800">
                                    <a:latin typeface="Cambria Math" panose="02040503050406030204" pitchFamily="18" charset="0"/>
                                  </a:rPr>
                                  <m:t>Δ</m:t>
                                </m:r>
                                <m:r>
                                  <a:rPr lang="en-GB" sz="1800" i="1">
                                    <a:latin typeface="Cambria Math" panose="02040503050406030204" pitchFamily="18" charset="0"/>
                                  </a:rPr>
                                  <m:t>𝐸</m:t>
                                </m:r>
                              </m:num>
                              <m:den>
                                <m:r>
                                  <a:rPr lang="en-GB" sz="1800" i="1">
                                    <a:latin typeface="Cambria Math" panose="02040503050406030204" pitchFamily="18" charset="0"/>
                                  </a:rPr>
                                  <m:t>𝑘𝑇</m:t>
                                </m:r>
                              </m:den>
                            </m:f>
                          </m:e>
                        </m:d>
                      </m:e>
                    </m:func>
                    <m:r>
                      <a:rPr lang="en-GB" sz="1800" i="1">
                        <a:latin typeface="Cambria Math" panose="02040503050406030204" pitchFamily="18" charset="0"/>
                      </a:rPr>
                      <m:t>&gt;1  </m:t>
                    </m:r>
                  </m:oMath>
                </a14:m>
                <a:r>
                  <a:rPr lang="en-GB" sz="1800" dirty="0">
                    <a:cs typeface="Times New Roman" panose="02020603050405020304" pitchFamily="18" charset="0"/>
                  </a:rPr>
                  <a:t>keep the flipped spin</a:t>
                </a:r>
              </a:p>
              <a:p>
                <a:r>
                  <a:rPr lang="en-GB" sz="1800" dirty="0">
                    <a:cs typeface="Times New Roman" panose="02020603050405020304" pitchFamily="18" charset="0"/>
                  </a:rPr>
                  <a:t>If not, generate a random number, </a:t>
                </a:r>
                <a14:m>
                  <m:oMath xmlns:m="http://schemas.openxmlformats.org/officeDocument/2006/math">
                    <m:r>
                      <a:rPr lang="en-GB" sz="1800" i="1" dirty="0">
                        <a:latin typeface="Cambria Math" panose="02040503050406030204" pitchFamily="18" charset="0"/>
                      </a:rPr>
                      <m:t>𝑛</m:t>
                    </m:r>
                  </m:oMath>
                </a14:m>
                <a:r>
                  <a:rPr lang="en-GB" sz="1800" dirty="0">
                    <a:cs typeface="Times New Roman" panose="02020603050405020304" pitchFamily="18" charset="0"/>
                  </a:rPr>
                  <a:t>, between 0 and 1. If </a:t>
                </a:r>
                <a14:m>
                  <m:oMath xmlns:m="http://schemas.openxmlformats.org/officeDocument/2006/math">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exp</m:t>
                        </m:r>
                      </m:fName>
                      <m:e>
                        <m:d>
                          <m:dPr>
                            <m:ctrlPr>
                              <a:rPr lang="en-GB" sz="1800" i="1">
                                <a:latin typeface="Cambria Math" panose="02040503050406030204" pitchFamily="18" charset="0"/>
                              </a:rPr>
                            </m:ctrlPr>
                          </m:dPr>
                          <m:e>
                            <m:f>
                              <m:fPr>
                                <m:type m:val="skw"/>
                                <m:ctrlPr>
                                  <a:rPr lang="en-GB" sz="1800" i="1">
                                    <a:latin typeface="Cambria Math" panose="02040503050406030204" pitchFamily="18" charset="0"/>
                                  </a:rPr>
                                </m:ctrlPr>
                              </m:fPr>
                              <m:num>
                                <m:r>
                                  <m:rPr>
                                    <m:sty m:val="p"/>
                                  </m:rPr>
                                  <a:rPr lang="en-GB" sz="1800">
                                    <a:latin typeface="Cambria Math" panose="02040503050406030204" pitchFamily="18" charset="0"/>
                                  </a:rPr>
                                  <m:t>Δ</m:t>
                                </m:r>
                                <m:r>
                                  <a:rPr lang="en-GB" sz="1800" i="1">
                                    <a:latin typeface="Cambria Math" panose="02040503050406030204" pitchFamily="18" charset="0"/>
                                  </a:rPr>
                                  <m:t>𝐸</m:t>
                                </m:r>
                              </m:num>
                              <m:den>
                                <m:r>
                                  <a:rPr lang="en-GB" sz="1800" i="1">
                                    <a:latin typeface="Cambria Math" panose="02040503050406030204" pitchFamily="18" charset="0"/>
                                  </a:rPr>
                                  <m:t>𝑘𝑇</m:t>
                                </m:r>
                              </m:den>
                            </m:f>
                          </m:e>
                        </m:d>
                      </m:e>
                    </m:func>
                    <m:r>
                      <a:rPr lang="en-GB" sz="1800" i="1">
                        <a:latin typeface="Cambria Math" panose="02040503050406030204" pitchFamily="18" charset="0"/>
                      </a:rPr>
                      <m:t>&gt;</m:t>
                    </m:r>
                    <m:r>
                      <a:rPr lang="en-GB" sz="1800" i="1">
                        <a:latin typeface="Cambria Math" panose="02040503050406030204" pitchFamily="18" charset="0"/>
                      </a:rPr>
                      <m:t>𝑛</m:t>
                    </m:r>
                  </m:oMath>
                </a14:m>
                <a:r>
                  <a:rPr lang="en-GB" sz="1800" dirty="0">
                    <a:cs typeface="Times New Roman" panose="02020603050405020304" pitchFamily="18" charset="0"/>
                  </a:rPr>
                  <a:t>, keep the flipped spin</a:t>
                </a:r>
              </a:p>
              <a:p>
                <a:r>
                  <a:rPr lang="en-GB" dirty="0">
                    <a:cs typeface="Times New Roman" panose="02020603050405020304" pitchFamily="18" charset="0"/>
                  </a:rPr>
                  <a:t>3) If neither condition is met, retain original spin</a:t>
                </a:r>
              </a:p>
              <a:p>
                <a:r>
                  <a:rPr lang="en-GB" dirty="0">
                    <a:cs typeface="Times New Roman" panose="02020603050405020304" pitchFamily="18" charset="0"/>
                  </a:rPr>
                  <a:t>We then repeat these steps for every lattice point (a sweep), applying periodic boundary conditions where necessary. This entire process is an implementation of the well-known metropolis algorithm [3].</a:t>
                </a:r>
              </a:p>
              <a:p>
                <a:pPr marL="342900" indent="-342900">
                  <a:buAutoNum type="arabicParenR"/>
                </a:pPr>
                <a:endParaRPr lang="en-GB" sz="1800" dirty="0">
                  <a:cs typeface="Times New Roman" panose="02020603050405020304" pitchFamily="18" charset="0"/>
                </a:endParaRPr>
              </a:p>
            </p:txBody>
          </p:sp>
        </mc:Choice>
        <mc:Fallback>
          <p:sp>
            <p:nvSpPr>
              <p:cNvPr id="40" name="TextBox 39">
                <a:extLst>
                  <a:ext uri="{FF2B5EF4-FFF2-40B4-BE49-F238E27FC236}">
                    <a16:creationId xmlns:a16="http://schemas.microsoft.com/office/drawing/2014/main" id="{2D10B8A1-F4FF-7937-048C-409AF2D0E6ED}"/>
                  </a:ext>
                </a:extLst>
              </p:cNvPr>
              <p:cNvSpPr txBox="1">
                <a:spLocks noRot="1" noChangeAspect="1" noMove="1" noResize="1" noEditPoints="1" noAdjustHandles="1" noChangeArrowheads="1" noChangeShapeType="1" noTextEdit="1"/>
              </p:cNvSpPr>
              <p:nvPr/>
            </p:nvSpPr>
            <p:spPr>
              <a:xfrm>
                <a:off x="7792329" y="10370922"/>
                <a:ext cx="6704718" cy="5632568"/>
              </a:xfrm>
              <a:prstGeom prst="rect">
                <a:avLst/>
              </a:prstGeom>
              <a:blipFill>
                <a:blip r:embed="rId13"/>
                <a:stretch>
                  <a:fillRect l="-818" t="-433" r="-1182"/>
                </a:stretch>
              </a:blipFill>
            </p:spPr>
            <p:txBody>
              <a:bodyPr/>
              <a:lstStyle/>
              <a:p>
                <a:r>
                  <a:rPr lang="en-GB">
                    <a:noFill/>
                  </a:rPr>
                  <a:t> </a:t>
                </a:r>
              </a:p>
            </p:txBody>
          </p:sp>
        </mc:Fallback>
      </mc:AlternateContent>
      <p:sp>
        <p:nvSpPr>
          <p:cNvPr id="41" name="TextBox 40">
            <a:extLst>
              <a:ext uri="{FF2B5EF4-FFF2-40B4-BE49-F238E27FC236}">
                <a16:creationId xmlns:a16="http://schemas.microsoft.com/office/drawing/2014/main" id="{BB2DF6BF-4B80-69DD-F8AC-F77587160F76}"/>
              </a:ext>
            </a:extLst>
          </p:cNvPr>
          <p:cNvSpPr txBox="1"/>
          <p:nvPr/>
        </p:nvSpPr>
        <p:spPr>
          <a:xfrm>
            <a:off x="398303" y="2473589"/>
            <a:ext cx="6894451" cy="1200329"/>
          </a:xfrm>
          <a:prstGeom prst="rect">
            <a:avLst/>
          </a:prstGeom>
          <a:noFill/>
        </p:spPr>
        <p:txBody>
          <a:bodyPr wrap="square" rtlCol="0">
            <a:spAutoFit/>
          </a:bodyPr>
          <a:lstStyle/>
          <a:p>
            <a:r>
              <a:rPr lang="en-GB" dirty="0"/>
              <a:t>Ferromagnets can be modelled using a simple 2D Ising model. Using this model, and  Monte-Carlo methods (specifically the metropolis algorithm), we determine the average magnetisation in the steady state region and compare to literature values.</a:t>
            </a:r>
          </a:p>
        </p:txBody>
      </p:sp>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768DE94D-DF81-AC18-BE85-F4FE9C0FDC88}"/>
                  </a:ext>
                </a:extLst>
              </p:cNvPr>
              <p:cNvGraphicFramePr>
                <a:graphicFrameLocks noGrp="1"/>
              </p:cNvGraphicFramePr>
              <p:nvPr>
                <p:extLst>
                  <p:ext uri="{D42A27DB-BD31-4B8C-83A1-F6EECF244321}">
                    <p14:modId xmlns:p14="http://schemas.microsoft.com/office/powerpoint/2010/main" val="3787217234"/>
                  </p:ext>
                </p:extLst>
              </p:nvPr>
            </p:nvGraphicFramePr>
            <p:xfrm>
              <a:off x="15245863" y="4810492"/>
              <a:ext cx="5597398" cy="1643636"/>
            </p:xfrm>
            <a:graphic>
              <a:graphicData uri="http://schemas.openxmlformats.org/drawingml/2006/table">
                <a:tbl>
                  <a:tblPr firstRow="1" bandRow="1">
                    <a:tableStyleId>{5C22544A-7EE6-4342-B048-85BDC9FD1C3A}</a:tableStyleId>
                  </a:tblPr>
                  <a:tblGrid>
                    <a:gridCol w="2798699">
                      <a:extLst>
                        <a:ext uri="{9D8B030D-6E8A-4147-A177-3AD203B41FA5}">
                          <a16:colId xmlns:a16="http://schemas.microsoft.com/office/drawing/2014/main" val="2898089824"/>
                        </a:ext>
                      </a:extLst>
                    </a:gridCol>
                    <a:gridCol w="2798699">
                      <a:extLst>
                        <a:ext uri="{9D8B030D-6E8A-4147-A177-3AD203B41FA5}">
                          <a16:colId xmlns:a16="http://schemas.microsoft.com/office/drawing/2014/main" val="1112678819"/>
                        </a:ext>
                      </a:extLst>
                    </a:gridCol>
                  </a:tblGrid>
                  <a:tr h="438297">
                    <a:tc>
                      <a:txBody>
                        <a:bodyPr/>
                        <a:lstStyle/>
                        <a:p>
                          <a:r>
                            <a:rPr lang="en-GB" sz="1800" dirty="0"/>
                            <a:t>Model</a:t>
                          </a:r>
                        </a:p>
                      </a:txBody>
                      <a:tcPr/>
                    </a:tc>
                    <a:tc>
                      <a:txBody>
                        <a:bodyPr/>
                        <a:lstStyle/>
                        <a:p>
                          <a:r>
                            <a:rPr lang="en-GB" sz="1800" dirty="0"/>
                            <a:t>Average Magnetisation</a:t>
                          </a:r>
                        </a:p>
                      </a:txBody>
                      <a:tcPr/>
                    </a:tc>
                    <a:extLst>
                      <a:ext uri="{0D108BD9-81ED-4DB2-BD59-A6C34878D82A}">
                        <a16:rowId xmlns:a16="http://schemas.microsoft.com/office/drawing/2014/main" val="3228848662"/>
                      </a:ext>
                    </a:extLst>
                  </a:tr>
                  <a:tr h="129414">
                    <a:tc>
                      <a:txBody>
                        <a:bodyPr/>
                        <a:lstStyle/>
                        <a:p>
                          <a:r>
                            <a:rPr lang="en-GB" sz="1800" dirty="0"/>
                            <a:t>Ising model (simulation)</a:t>
                          </a:r>
                        </a:p>
                      </a:txBody>
                      <a:tcPr/>
                    </a:tc>
                    <a:tc>
                      <a:txBody>
                        <a:bodyPr/>
                        <a:lstStyle/>
                        <a:p>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0.93±</m:t>
                                </m:r>
                              </m:oMath>
                            </m:oMathPara>
                          </a14:m>
                          <a:endParaRPr lang="en-GB" sz="1800" dirty="0"/>
                        </a:p>
                      </a:txBody>
                      <a:tcPr/>
                    </a:tc>
                    <a:extLst>
                      <a:ext uri="{0D108BD9-81ED-4DB2-BD59-A6C34878D82A}">
                        <a16:rowId xmlns:a16="http://schemas.microsoft.com/office/drawing/2014/main" val="2020091684"/>
                      </a:ext>
                    </a:extLst>
                  </a:tr>
                  <a:tr h="0">
                    <a:tc>
                      <a:txBody>
                        <a:bodyPr/>
                        <a:lstStyle/>
                        <a:p>
                          <a:r>
                            <a:rPr lang="en-GB" sz="1800" dirty="0"/>
                            <a:t>Mean Field Theory</a:t>
                          </a:r>
                        </a:p>
                      </a:txBody>
                      <a:tcPr/>
                    </a:tc>
                    <a:tc>
                      <a:txBody>
                        <a:bodyPr/>
                        <a:lstStyle/>
                        <a:p>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~0.96</m:t>
                                </m:r>
                              </m:oMath>
                            </m:oMathPara>
                          </a14:m>
                          <a:endParaRPr lang="en-GB" sz="1800" dirty="0"/>
                        </a:p>
                      </a:txBody>
                      <a:tcPr/>
                    </a:tc>
                    <a:extLst>
                      <a:ext uri="{0D108BD9-81ED-4DB2-BD59-A6C34878D82A}">
                        <a16:rowId xmlns:a16="http://schemas.microsoft.com/office/drawing/2014/main" val="4284135551"/>
                      </a:ext>
                    </a:extLst>
                  </a:tr>
                  <a:tr h="473819">
                    <a:tc>
                      <a:txBody>
                        <a:bodyPr/>
                        <a:lstStyle/>
                        <a:p>
                          <a:r>
                            <a:rPr lang="en-GB" sz="1800" dirty="0"/>
                            <a:t>Ising model (Ansatz)</a:t>
                          </a:r>
                        </a:p>
                      </a:txBody>
                      <a:tcPr/>
                    </a:tc>
                    <a:tc>
                      <a:txBody>
                        <a:bodyPr/>
                        <a:lstStyle/>
                        <a:p>
                          <a:endParaRPr lang="en-GB" sz="1800" dirty="0"/>
                        </a:p>
                      </a:txBody>
                      <a:tcPr/>
                    </a:tc>
                    <a:extLst>
                      <a:ext uri="{0D108BD9-81ED-4DB2-BD59-A6C34878D82A}">
                        <a16:rowId xmlns:a16="http://schemas.microsoft.com/office/drawing/2014/main" val="2464869283"/>
                      </a:ext>
                    </a:extLst>
                  </a:tr>
                </a:tbl>
              </a:graphicData>
            </a:graphic>
          </p:graphicFrame>
        </mc:Choice>
        <mc:Fallback>
          <p:graphicFrame>
            <p:nvGraphicFramePr>
              <p:cNvPr id="2" name="Table 1">
                <a:extLst>
                  <a:ext uri="{FF2B5EF4-FFF2-40B4-BE49-F238E27FC236}">
                    <a16:creationId xmlns:a16="http://schemas.microsoft.com/office/drawing/2014/main" id="{768DE94D-DF81-AC18-BE85-F4FE9C0FDC88}"/>
                  </a:ext>
                </a:extLst>
              </p:cNvPr>
              <p:cNvGraphicFramePr>
                <a:graphicFrameLocks noGrp="1"/>
              </p:cNvGraphicFramePr>
              <p:nvPr>
                <p:extLst>
                  <p:ext uri="{D42A27DB-BD31-4B8C-83A1-F6EECF244321}">
                    <p14:modId xmlns:p14="http://schemas.microsoft.com/office/powerpoint/2010/main" val="3787217234"/>
                  </p:ext>
                </p:extLst>
              </p:nvPr>
            </p:nvGraphicFramePr>
            <p:xfrm>
              <a:off x="15245863" y="4810492"/>
              <a:ext cx="5597398" cy="1643636"/>
            </p:xfrm>
            <a:graphic>
              <a:graphicData uri="http://schemas.openxmlformats.org/drawingml/2006/table">
                <a:tbl>
                  <a:tblPr firstRow="1" bandRow="1">
                    <a:tableStyleId>{5C22544A-7EE6-4342-B048-85BDC9FD1C3A}</a:tableStyleId>
                  </a:tblPr>
                  <a:tblGrid>
                    <a:gridCol w="2798699">
                      <a:extLst>
                        <a:ext uri="{9D8B030D-6E8A-4147-A177-3AD203B41FA5}">
                          <a16:colId xmlns:a16="http://schemas.microsoft.com/office/drawing/2014/main" val="2898089824"/>
                        </a:ext>
                      </a:extLst>
                    </a:gridCol>
                    <a:gridCol w="2798699">
                      <a:extLst>
                        <a:ext uri="{9D8B030D-6E8A-4147-A177-3AD203B41FA5}">
                          <a16:colId xmlns:a16="http://schemas.microsoft.com/office/drawing/2014/main" val="1112678819"/>
                        </a:ext>
                      </a:extLst>
                    </a:gridCol>
                  </a:tblGrid>
                  <a:tr h="438297">
                    <a:tc>
                      <a:txBody>
                        <a:bodyPr/>
                        <a:lstStyle/>
                        <a:p>
                          <a:r>
                            <a:rPr lang="en-GB" sz="1800" dirty="0"/>
                            <a:t>Model</a:t>
                          </a:r>
                        </a:p>
                      </a:txBody>
                      <a:tcPr/>
                    </a:tc>
                    <a:tc>
                      <a:txBody>
                        <a:bodyPr/>
                        <a:lstStyle/>
                        <a:p>
                          <a:r>
                            <a:rPr lang="en-GB" sz="1800" dirty="0"/>
                            <a:t>Average Magnetisation</a:t>
                          </a:r>
                        </a:p>
                      </a:txBody>
                      <a:tcPr/>
                    </a:tc>
                    <a:extLst>
                      <a:ext uri="{0D108BD9-81ED-4DB2-BD59-A6C34878D82A}">
                        <a16:rowId xmlns:a16="http://schemas.microsoft.com/office/drawing/2014/main" val="3228848662"/>
                      </a:ext>
                    </a:extLst>
                  </a:tr>
                  <a:tr h="365760">
                    <a:tc>
                      <a:txBody>
                        <a:bodyPr/>
                        <a:lstStyle/>
                        <a:p>
                          <a:r>
                            <a:rPr lang="en-GB" sz="1800" dirty="0"/>
                            <a:t>Ising model (simulation)</a:t>
                          </a:r>
                        </a:p>
                      </a:txBody>
                      <a:tcPr/>
                    </a:tc>
                    <a:tc>
                      <a:txBody>
                        <a:bodyPr/>
                        <a:lstStyle/>
                        <a:p>
                          <a:endParaRPr lang="en-US"/>
                        </a:p>
                      </a:txBody>
                      <a:tcPr>
                        <a:blipFill>
                          <a:blip r:embed="rId14"/>
                          <a:stretch>
                            <a:fillRect l="-100217" t="-126667" r="-870" b="-233333"/>
                          </a:stretch>
                        </a:blipFill>
                      </a:tcPr>
                    </a:tc>
                    <a:extLst>
                      <a:ext uri="{0D108BD9-81ED-4DB2-BD59-A6C34878D82A}">
                        <a16:rowId xmlns:a16="http://schemas.microsoft.com/office/drawing/2014/main" val="2020091684"/>
                      </a:ext>
                    </a:extLst>
                  </a:tr>
                  <a:tr h="365760">
                    <a:tc>
                      <a:txBody>
                        <a:bodyPr/>
                        <a:lstStyle/>
                        <a:p>
                          <a:r>
                            <a:rPr lang="en-GB" sz="1800" dirty="0"/>
                            <a:t>Mean Field Theory</a:t>
                          </a:r>
                        </a:p>
                      </a:txBody>
                      <a:tcPr/>
                    </a:tc>
                    <a:tc>
                      <a:txBody>
                        <a:bodyPr/>
                        <a:lstStyle/>
                        <a:p>
                          <a:endParaRPr lang="en-US"/>
                        </a:p>
                      </a:txBody>
                      <a:tcPr>
                        <a:blipFill>
                          <a:blip r:embed="rId14"/>
                          <a:stretch>
                            <a:fillRect l="-100217" t="-226667" r="-870" b="-133333"/>
                          </a:stretch>
                        </a:blipFill>
                      </a:tcPr>
                    </a:tc>
                    <a:extLst>
                      <a:ext uri="{0D108BD9-81ED-4DB2-BD59-A6C34878D82A}">
                        <a16:rowId xmlns:a16="http://schemas.microsoft.com/office/drawing/2014/main" val="4284135551"/>
                      </a:ext>
                    </a:extLst>
                  </a:tr>
                  <a:tr h="473819">
                    <a:tc>
                      <a:txBody>
                        <a:bodyPr/>
                        <a:lstStyle/>
                        <a:p>
                          <a:r>
                            <a:rPr lang="en-GB" sz="1800" dirty="0"/>
                            <a:t>Ising model (Ansatz)</a:t>
                          </a:r>
                        </a:p>
                      </a:txBody>
                      <a:tcPr/>
                    </a:tc>
                    <a:tc>
                      <a:txBody>
                        <a:bodyPr/>
                        <a:lstStyle/>
                        <a:p>
                          <a:endParaRPr lang="en-GB" sz="1800" dirty="0"/>
                        </a:p>
                      </a:txBody>
                      <a:tcPr/>
                    </a:tc>
                    <a:extLst>
                      <a:ext uri="{0D108BD9-81ED-4DB2-BD59-A6C34878D82A}">
                        <a16:rowId xmlns:a16="http://schemas.microsoft.com/office/drawing/2014/main" val="2464869283"/>
                      </a:ext>
                    </a:extLst>
                  </a:tr>
                </a:tbl>
              </a:graphicData>
            </a:graphic>
          </p:graphicFrame>
        </mc:Fallback>
      </mc:AlternateContent>
    </p:spTree>
    <p:extLst>
      <p:ext uri="{BB962C8B-B14F-4D97-AF65-F5344CB8AC3E}">
        <p14:creationId xmlns:p14="http://schemas.microsoft.com/office/powerpoint/2010/main" val="489514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9BEFBC27-B26E-0939-B2DC-DFFA9B87DCFC}"/>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15732EB6-B3D6-0947-803D-0680A447F97E}"/>
              </a:ext>
            </a:extLst>
          </p:cNvPr>
          <p:cNvSpPr/>
          <p:nvPr/>
        </p:nvSpPr>
        <p:spPr>
          <a:xfrm>
            <a:off x="254483" y="7824583"/>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1. The Ising Model</a:t>
            </a:r>
          </a:p>
        </p:txBody>
      </p:sp>
      <p:sp>
        <p:nvSpPr>
          <p:cNvPr id="4" name="Rectangle 3">
            <a:extLst>
              <a:ext uri="{FF2B5EF4-FFF2-40B4-BE49-F238E27FC236}">
                <a16:creationId xmlns:a16="http://schemas.microsoft.com/office/drawing/2014/main" id="{4276135E-EBBB-2D93-E4BB-9ACE2A6EC375}"/>
              </a:ext>
            </a:extLst>
          </p:cNvPr>
          <p:cNvSpPr/>
          <p:nvPr/>
        </p:nvSpPr>
        <p:spPr>
          <a:xfrm>
            <a:off x="-1" y="0"/>
            <a:ext cx="21383625" cy="17526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a ferromagnet using the Ising model</a:t>
            </a:r>
          </a:p>
          <a:p>
            <a:pPr algn="ctr"/>
            <a:endParaRPr lang="en-GB" dirty="0"/>
          </a:p>
        </p:txBody>
      </p:sp>
      <p:sp>
        <p:nvSpPr>
          <p:cNvPr id="10" name="Rectangle 9">
            <a:extLst>
              <a:ext uri="{FF2B5EF4-FFF2-40B4-BE49-F238E27FC236}">
                <a16:creationId xmlns:a16="http://schemas.microsoft.com/office/drawing/2014/main" id="{5AAC1CD7-6C26-06F2-C11D-FDCA32AB2D5E}"/>
              </a:ext>
            </a:extLst>
          </p:cNvPr>
          <p:cNvSpPr/>
          <p:nvPr/>
        </p:nvSpPr>
        <p:spPr>
          <a:xfrm>
            <a:off x="7902575" y="5470835"/>
            <a:ext cx="6594474" cy="782943"/>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15" name="Rectangle 14">
            <a:extLst>
              <a:ext uri="{FF2B5EF4-FFF2-40B4-BE49-F238E27FC236}">
                <a16:creationId xmlns:a16="http://schemas.microsoft.com/office/drawing/2014/main" id="{FF6B75FF-E081-553C-C96A-B9C42DFC60F0}"/>
              </a:ext>
            </a:extLst>
          </p:cNvPr>
          <p:cNvSpPr/>
          <p:nvPr/>
        </p:nvSpPr>
        <p:spPr>
          <a:xfrm>
            <a:off x="7792330" y="9617052"/>
            <a:ext cx="6704718" cy="7334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16" name="Rectangle 15">
            <a:extLst>
              <a:ext uri="{FF2B5EF4-FFF2-40B4-BE49-F238E27FC236}">
                <a16:creationId xmlns:a16="http://schemas.microsoft.com/office/drawing/2014/main" id="{EA61968B-F058-4AB9-A7BD-8F98363A0D1F}"/>
              </a:ext>
            </a:extLst>
          </p:cNvPr>
          <p:cNvSpPr/>
          <p:nvPr/>
        </p:nvSpPr>
        <p:spPr>
          <a:xfrm>
            <a:off x="15094989" y="1893520"/>
            <a:ext cx="5956300" cy="60405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18" name="Rectangle 17">
            <a:extLst>
              <a:ext uri="{FF2B5EF4-FFF2-40B4-BE49-F238E27FC236}">
                <a16:creationId xmlns:a16="http://schemas.microsoft.com/office/drawing/2014/main" id="{6D9CDE0F-A561-DE73-7082-041E04E117F7}"/>
              </a:ext>
            </a:extLst>
          </p:cNvPr>
          <p:cNvSpPr/>
          <p:nvPr/>
        </p:nvSpPr>
        <p:spPr>
          <a:xfrm>
            <a:off x="15274922" y="13725793"/>
            <a:ext cx="5956300" cy="41339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pic>
        <p:nvPicPr>
          <p:cNvPr id="22" name="Picture 21" descr="A graph with a line&#10;&#10;AI-generated content may be incorrect.">
            <a:extLst>
              <a:ext uri="{FF2B5EF4-FFF2-40B4-BE49-F238E27FC236}">
                <a16:creationId xmlns:a16="http://schemas.microsoft.com/office/drawing/2014/main" id="{57B613D2-C7E8-C0C6-A927-67418E209B08}"/>
              </a:ext>
            </a:extLst>
          </p:cNvPr>
          <p:cNvPicPr>
            <a:picLocks noChangeAspect="1"/>
          </p:cNvPicPr>
          <p:nvPr/>
        </p:nvPicPr>
        <p:blipFill>
          <a:blip r:embed="rId4">
            <a:extLst>
              <a:ext uri="{28A0092B-C50C-407E-A947-70E740481C1C}">
                <a14:useLocalDpi xmlns:a14="http://schemas.microsoft.com/office/drawing/2010/main" val="0"/>
              </a:ext>
            </a:extLst>
          </a:blip>
          <a:srcRect l="1802" t="6597" r="8775" b="1459"/>
          <a:stretch>
            <a:fillRect/>
          </a:stretch>
        </p:blipFill>
        <p:spPr>
          <a:xfrm>
            <a:off x="15094989" y="7133592"/>
            <a:ext cx="6085193" cy="4692685"/>
          </a:xfrm>
          <a:prstGeom prst="rect">
            <a:avLst/>
          </a:prstGeom>
        </p:spPr>
      </p:pic>
      <p:sp>
        <p:nvSpPr>
          <p:cNvPr id="27" name="Rectangle 26">
            <a:extLst>
              <a:ext uri="{FF2B5EF4-FFF2-40B4-BE49-F238E27FC236}">
                <a16:creationId xmlns:a16="http://schemas.microsoft.com/office/drawing/2014/main" id="{18897325-2D82-409A-1801-7A2E4254C70C}"/>
              </a:ext>
            </a:extLst>
          </p:cNvPr>
          <p:cNvSpPr/>
          <p:nvPr/>
        </p:nvSpPr>
        <p:spPr>
          <a:xfrm>
            <a:off x="11433104" y="3283924"/>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F1A611A0-7FA7-E224-DB7D-686F46BA5B19}"/>
              </a:ext>
            </a:extLst>
          </p:cNvPr>
          <p:cNvSpPr/>
          <p:nvPr/>
        </p:nvSpPr>
        <p:spPr>
          <a:xfrm>
            <a:off x="9460872" y="3283925"/>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EDBC746-6B57-676C-8423-C31FD6224629}"/>
                  </a:ext>
                </a:extLst>
              </p:cNvPr>
              <p:cNvSpPr txBox="1"/>
              <p:nvPr/>
            </p:nvSpPr>
            <p:spPr>
              <a:xfrm>
                <a:off x="15296904" y="11775033"/>
                <a:ext cx="5883278" cy="2426498"/>
              </a:xfrm>
              <a:prstGeom prst="rect">
                <a:avLst/>
              </a:prstGeom>
              <a:noFill/>
            </p:spPr>
            <p:txBody>
              <a:bodyPr wrap="square" rtlCol="0">
                <a:spAutoFit/>
              </a:bodyPr>
              <a:lstStyle/>
              <a:p>
                <a:r>
                  <a:rPr lang="en-GB" dirty="0"/>
                  <a:t>Fig. 2: Plot of average magnetisation per spin against number of sweeps of the Monte Carlo algorithm for a 32x32 lattice, with B = -0.05, J = 0.5, and </a:t>
                </a:r>
                <a:r>
                  <a:rPr lang="en-GB" dirty="0" err="1"/>
                  <a:t>kT</a:t>
                </a:r>
                <a:r>
                  <a:rPr lang="en-GB" dirty="0"/>
                  <a:t> = 1.  Average magnetisation was calculated using </a:t>
                </a: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den>
                      </m:f>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𝛼</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𝑆</m:t>
                              </m:r>
                            </m:e>
                            <m:sub>
                              <m:r>
                                <a:rPr lang="en-GB" b="0" i="1" smtClean="0">
                                  <a:latin typeface="Cambria Math" panose="02040503050406030204" pitchFamily="18" charset="0"/>
                                </a:rPr>
                                <m:t>𝛼</m:t>
                              </m:r>
                            </m:sub>
                          </m:sSub>
                        </m:e>
                      </m:nary>
                    </m:oMath>
                  </m:oMathPara>
                </a14:m>
                <a:endParaRPr lang="en-GB" dirty="0"/>
              </a:p>
              <a:p>
                <a:endParaRPr lang="en-GB" dirty="0"/>
              </a:p>
              <a:p>
                <a:endParaRPr lang="en-GB" dirty="0"/>
              </a:p>
            </p:txBody>
          </p:sp>
        </mc:Choice>
        <mc:Fallback>
          <p:sp>
            <p:nvSpPr>
              <p:cNvPr id="3" name="TextBox 2">
                <a:extLst>
                  <a:ext uri="{FF2B5EF4-FFF2-40B4-BE49-F238E27FC236}">
                    <a16:creationId xmlns:a16="http://schemas.microsoft.com/office/drawing/2014/main" id="{2EDBC746-6B57-676C-8423-C31FD6224629}"/>
                  </a:ext>
                </a:extLst>
              </p:cNvPr>
              <p:cNvSpPr txBox="1">
                <a:spLocks noRot="1" noChangeAspect="1" noMove="1" noResize="1" noEditPoints="1" noAdjustHandles="1" noChangeArrowheads="1" noChangeShapeType="1" noTextEdit="1"/>
              </p:cNvSpPr>
              <p:nvPr/>
            </p:nvSpPr>
            <p:spPr>
              <a:xfrm>
                <a:off x="15296904" y="11775033"/>
                <a:ext cx="5883278" cy="2426498"/>
              </a:xfrm>
              <a:prstGeom prst="rect">
                <a:avLst/>
              </a:prstGeom>
              <a:blipFill>
                <a:blip r:embed="rId5"/>
                <a:stretch>
                  <a:fillRect l="-829" t="-1256"/>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68E591A5-75FB-2D6B-0FFE-7A493BDB2AE8}"/>
              </a:ext>
            </a:extLst>
          </p:cNvPr>
          <p:cNvSpPr txBox="1"/>
          <p:nvPr/>
        </p:nvSpPr>
        <p:spPr>
          <a:xfrm>
            <a:off x="4572746" y="8044834"/>
            <a:ext cx="2997199" cy="646331"/>
          </a:xfrm>
          <a:prstGeom prst="rect">
            <a:avLst/>
          </a:prstGeom>
          <a:noFill/>
        </p:spPr>
        <p:txBody>
          <a:bodyPr wrap="square" rtlCol="0">
            <a:spAutoFit/>
          </a:bodyPr>
          <a:lstStyle/>
          <a:p>
            <a:endParaRPr lang="en-GB" dirty="0"/>
          </a:p>
          <a:p>
            <a:endParaRPr lang="en-GB" dirty="0"/>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20F8ADB-DBFE-97A7-5A07-587F5EC06D80}"/>
                  </a:ext>
                </a:extLst>
              </p:cNvPr>
              <p:cNvSpPr txBox="1"/>
              <p:nvPr/>
            </p:nvSpPr>
            <p:spPr>
              <a:xfrm>
                <a:off x="15094989" y="2497578"/>
                <a:ext cx="5956300" cy="5355312"/>
              </a:xfrm>
              <a:prstGeom prst="rect">
                <a:avLst/>
              </a:prstGeom>
              <a:noFill/>
            </p:spPr>
            <p:txBody>
              <a:bodyPr wrap="square" rtlCol="0">
                <a:spAutoFit/>
              </a:bodyPr>
              <a:lstStyle/>
              <a:p>
                <a:r>
                  <a:rPr lang="en-GB" dirty="0"/>
                  <a:t>Fig. 2 shows the average magnetisation as a function of sweeps, for  a 32x32 lattice with B = -0.05 and J = 0.5. We define the steady state region as the point where the running average magnetisation doesn’t fluctuate by more than 5% of the difference between the initial and final value. Using this classification, we obtain the average magnetisation of the steady state region to be: </a:t>
                </a:r>
                <a14:m>
                  <m:oMath xmlns:m="http://schemas.openxmlformats.org/officeDocument/2006/math">
                    <m:r>
                      <a:rPr lang="en-GB" b="0" i="1" smtClean="0">
                        <a:latin typeface="Cambria Math" panose="02040503050406030204" pitchFamily="18" charset="0"/>
                      </a:rPr>
                      <m:t>&lt;</m:t>
                    </m:r>
                    <m:r>
                      <a:rPr lang="en-GB" b="0" i="1" smtClean="0">
                        <a:latin typeface="Cambria Math" panose="02040503050406030204" pitchFamily="18" charset="0"/>
                      </a:rPr>
                      <m:t>𝑚</m:t>
                    </m:r>
                    <m:r>
                      <a:rPr lang="en-GB" b="0" i="1" smtClean="0">
                        <a:latin typeface="Cambria Math" panose="02040503050406030204" pitchFamily="18" charset="0"/>
                      </a:rPr>
                      <m:t>&gt; =0.9…±0.00…</m:t>
                    </m:r>
                  </m:oMath>
                </a14:m>
                <a:r>
                  <a:rPr lang="en-GB" dirty="0">
                    <a:solidFill>
                      <a:srgbClr val="FF0000"/>
                    </a:solidFill>
                  </a:rPr>
                  <a:t>,</a:t>
                </a:r>
              </a:p>
              <a:p>
                <a:endParaRPr lang="en-GB" dirty="0">
                  <a:solidFill>
                    <a:srgbClr val="FF0000"/>
                  </a:solidFill>
                </a:endParaRPr>
              </a:p>
              <a:p>
                <a:r>
                  <a:rPr lang="en-GB" dirty="0">
                    <a:solidFill>
                      <a:srgbClr val="FF0000"/>
                    </a:solidFill>
                  </a:rPr>
                  <a:t> where the error is the standard error in this region. Although there’s  no exact solution for these parameters (unlike </a:t>
                </a:r>
                <a:r>
                  <a:rPr lang="en-GB" dirty="0" err="1">
                    <a:solidFill>
                      <a:srgbClr val="FF0000"/>
                    </a:solidFill>
                  </a:rPr>
                  <a:t>Onsagers</a:t>
                </a:r>
                <a:r>
                  <a:rPr lang="en-GB" dirty="0">
                    <a:solidFill>
                      <a:srgbClr val="FF0000"/>
                    </a:solidFill>
                  </a:rPr>
                  <a:t> solution for B = 0), we can compare our result with MFT,  where average magnetisation is given by: </a:t>
                </a:r>
                <a14:m>
                  <m:oMath xmlns:m="http://schemas.openxmlformats.org/officeDocument/2006/math">
                    <m:r>
                      <a:rPr lang="en-GB" b="0" i="1" smtClean="0">
                        <a:solidFill>
                          <a:srgbClr val="FF0000"/>
                        </a:solidFill>
                        <a:latin typeface="Cambria Math" panose="02040503050406030204" pitchFamily="18" charset="0"/>
                      </a:rPr>
                      <m:t>&lt;</m:t>
                    </m:r>
                    <m:sSub>
                      <m:sSubPr>
                        <m:ctrlPr>
                          <a:rPr lang="en-GB" b="0" i="1" smtClean="0">
                            <a:solidFill>
                              <a:srgbClr val="FF0000"/>
                            </a:solidFill>
                            <a:latin typeface="Cambria Math" panose="02040503050406030204" pitchFamily="18" charset="0"/>
                          </a:rPr>
                        </m:ctrlPr>
                      </m:sSubPr>
                      <m:e>
                        <m:r>
                          <a:rPr lang="en-GB" b="0" i="1" smtClean="0">
                            <a:solidFill>
                              <a:srgbClr val="FF0000"/>
                            </a:solidFill>
                            <a:latin typeface="Cambria Math" panose="02040503050406030204" pitchFamily="18" charset="0"/>
                          </a:rPr>
                          <m:t>𝑀</m:t>
                        </m:r>
                      </m:e>
                      <m:sub>
                        <m:r>
                          <a:rPr lang="en-GB" b="0" i="1" smtClean="0">
                            <a:solidFill>
                              <a:srgbClr val="FF0000"/>
                            </a:solidFill>
                            <a:latin typeface="Cambria Math" panose="02040503050406030204" pitchFamily="18" charset="0"/>
                          </a:rPr>
                          <m:t>𝑀𝐹𝑇</m:t>
                        </m:r>
                      </m:sub>
                    </m:sSub>
                    <m:r>
                      <a:rPr lang="en-GB" b="0" i="1" smtClean="0">
                        <a:solidFill>
                          <a:srgbClr val="FF0000"/>
                        </a:solidFill>
                        <a:latin typeface="Cambria Math" panose="02040503050406030204" pitchFamily="18" charset="0"/>
                      </a:rPr>
                      <m:t>≻=</m:t>
                    </m:r>
                    <m:func>
                      <m:funcPr>
                        <m:ctrlPr>
                          <a:rPr lang="en-GB" b="0" i="1" smtClean="0">
                            <a:solidFill>
                              <a:srgbClr val="FF0000"/>
                            </a:solidFill>
                            <a:latin typeface="Cambria Math" panose="02040503050406030204" pitchFamily="18" charset="0"/>
                          </a:rPr>
                        </m:ctrlPr>
                      </m:funcPr>
                      <m:fName>
                        <m:r>
                          <m:rPr>
                            <m:sty m:val="p"/>
                          </m:rPr>
                          <a:rPr lang="en-GB" b="0" i="0" smtClean="0">
                            <a:solidFill>
                              <a:srgbClr val="FF0000"/>
                            </a:solidFill>
                            <a:latin typeface="Cambria Math" panose="02040503050406030204" pitchFamily="18" charset="0"/>
                          </a:rPr>
                          <m:t>tanh</m:t>
                        </m:r>
                      </m:fName>
                      <m:e>
                        <m:d>
                          <m:dPr>
                            <m:begChr m:val="["/>
                            <m:endChr m:val="]"/>
                            <m:ctrlPr>
                              <a:rPr lang="en-GB" b="0" i="1" smtClean="0">
                                <a:solidFill>
                                  <a:srgbClr val="FF0000"/>
                                </a:solidFill>
                                <a:latin typeface="Cambria Math" panose="02040503050406030204" pitchFamily="18" charset="0"/>
                              </a:rPr>
                            </m:ctrlPr>
                          </m:dPr>
                          <m:e>
                            <m:r>
                              <a:rPr lang="en-GB" b="0" i="1" smtClean="0">
                                <a:solidFill>
                                  <a:srgbClr val="FF0000"/>
                                </a:solidFill>
                                <a:latin typeface="Cambria Math" panose="02040503050406030204" pitchFamily="18" charset="0"/>
                              </a:rPr>
                              <m:t>𝛽</m:t>
                            </m:r>
                            <m:d>
                              <m:dPr>
                                <m:ctrlPr>
                                  <a:rPr lang="en-GB" b="0" i="1" smtClean="0">
                                    <a:solidFill>
                                      <a:srgbClr val="FF0000"/>
                                    </a:solidFill>
                                    <a:latin typeface="Cambria Math" panose="02040503050406030204" pitchFamily="18" charset="0"/>
                                  </a:rPr>
                                </m:ctrlPr>
                              </m:dPr>
                              <m:e>
                                <m:r>
                                  <a:rPr lang="en-GB" b="0" i="1" smtClean="0">
                                    <a:solidFill>
                                      <a:srgbClr val="FF0000"/>
                                    </a:solidFill>
                                    <a:latin typeface="Cambria Math" panose="02040503050406030204" pitchFamily="18" charset="0"/>
                                  </a:rPr>
                                  <m:t>𝑧𝐽𝑀</m:t>
                                </m:r>
                                <m:r>
                                  <a:rPr lang="en-GB" b="0" i="1" smtClean="0">
                                    <a:solidFill>
                                      <a:srgbClr val="FF0000"/>
                                    </a:solidFill>
                                    <a:latin typeface="Cambria Math" panose="02040503050406030204" pitchFamily="18" charset="0"/>
                                  </a:rPr>
                                  <m:t>+</m:t>
                                </m:r>
                                <m:r>
                                  <a:rPr lang="en-GB" b="0" i="1" smtClean="0">
                                    <a:solidFill>
                                      <a:srgbClr val="FF0000"/>
                                    </a:solidFill>
                                    <a:latin typeface="Cambria Math" panose="02040503050406030204" pitchFamily="18" charset="0"/>
                                  </a:rPr>
                                  <m:t>𝐵</m:t>
                                </m:r>
                              </m:e>
                            </m:d>
                          </m:e>
                        </m:d>
                      </m:e>
                    </m:func>
                  </m:oMath>
                </a14:m>
                <a:r>
                  <a:rPr lang="en-GB" b="0" dirty="0">
                    <a:solidFill>
                      <a:srgbClr val="FF0000"/>
                    </a:solidFill>
                  </a:rPr>
                  <a:t>,</a:t>
                </a:r>
              </a:p>
              <a:p>
                <a:r>
                  <a:rPr lang="en-GB" dirty="0">
                    <a:solidFill>
                      <a:srgbClr val="FF0000"/>
                    </a:solidFill>
                  </a:rPr>
                  <a:t>giving &lt;M&gt; = 0.96, which is slightly larger than our value, since MFT ignores fluctuations, therefore overestimating alignment of spins. [</a:t>
                </a:r>
                <a:r>
                  <a:rPr lang="en-GB" dirty="0" err="1">
                    <a:solidFill>
                      <a:srgbClr val="FF0000"/>
                    </a:solidFill>
                  </a:rPr>
                  <a:t>sOURCE</a:t>
                </a:r>
                <a:r>
                  <a:rPr lang="en-GB" dirty="0">
                    <a:solidFill>
                      <a:srgbClr val="FF0000"/>
                    </a:solidFill>
                  </a:rPr>
                  <a:t>]. We can further compare with the ansatz approach of Moorad Alexanian, where a value of  </a:t>
                </a:r>
                <a14:m>
                  <m:oMath xmlns:m="http://schemas.openxmlformats.org/officeDocument/2006/math">
                    <m:r>
                      <a:rPr lang="en-GB" b="0" i="1" smtClean="0">
                        <a:solidFill>
                          <a:srgbClr val="FF0000"/>
                        </a:solidFill>
                        <a:latin typeface="Cambria Math" panose="02040503050406030204" pitchFamily="18" charset="0"/>
                      </a:rPr>
                      <m:t>&lt;</m:t>
                    </m:r>
                    <m:sSub>
                      <m:sSubPr>
                        <m:ctrlPr>
                          <a:rPr lang="en-GB" b="0" i="1" smtClean="0">
                            <a:solidFill>
                              <a:srgbClr val="FF0000"/>
                            </a:solidFill>
                            <a:latin typeface="Cambria Math" panose="02040503050406030204" pitchFamily="18" charset="0"/>
                          </a:rPr>
                        </m:ctrlPr>
                      </m:sSubPr>
                      <m:e>
                        <m:r>
                          <a:rPr lang="en-GB" b="0" i="1" smtClean="0">
                            <a:solidFill>
                              <a:srgbClr val="FF0000"/>
                            </a:solidFill>
                            <a:latin typeface="Cambria Math" panose="02040503050406030204" pitchFamily="18" charset="0"/>
                          </a:rPr>
                          <m:t>𝑀</m:t>
                        </m:r>
                      </m:e>
                      <m:sub>
                        <m:r>
                          <a:rPr lang="en-GB" b="0" i="1" smtClean="0">
                            <a:solidFill>
                              <a:srgbClr val="FF0000"/>
                            </a:solidFill>
                            <a:latin typeface="Cambria Math" panose="02040503050406030204" pitchFamily="18" charset="0"/>
                          </a:rPr>
                          <m:t>𝑎𝑛𝑠𝑎𝑡𝑧</m:t>
                        </m:r>
                      </m:sub>
                    </m:sSub>
                    <m:r>
                      <a:rPr lang="en-GB" b="0" i="1" smtClean="0">
                        <a:solidFill>
                          <a:srgbClr val="FF0000"/>
                        </a:solidFill>
                        <a:latin typeface="Cambria Math" panose="02040503050406030204" pitchFamily="18" charset="0"/>
                      </a:rPr>
                      <m:t>&gt; = </m:t>
                    </m:r>
                  </m:oMath>
                </a14:m>
                <a:r>
                  <a:rPr lang="en-GB" dirty="0">
                    <a:solidFill>
                      <a:srgbClr val="FF0000"/>
                    </a:solidFill>
                  </a:rPr>
                  <a:t> is obtained []. </a:t>
                </a:r>
              </a:p>
            </p:txBody>
          </p:sp>
        </mc:Choice>
        <mc:Fallback>
          <p:sp>
            <p:nvSpPr>
              <p:cNvPr id="20" name="TextBox 19">
                <a:extLst>
                  <a:ext uri="{FF2B5EF4-FFF2-40B4-BE49-F238E27FC236}">
                    <a16:creationId xmlns:a16="http://schemas.microsoft.com/office/drawing/2014/main" id="{620F8ADB-DBFE-97A7-5A07-587F5EC06D80}"/>
                  </a:ext>
                </a:extLst>
              </p:cNvPr>
              <p:cNvSpPr txBox="1">
                <a:spLocks noRot="1" noChangeAspect="1" noMove="1" noResize="1" noEditPoints="1" noAdjustHandles="1" noChangeArrowheads="1" noChangeShapeType="1" noTextEdit="1"/>
              </p:cNvSpPr>
              <p:nvPr/>
            </p:nvSpPr>
            <p:spPr>
              <a:xfrm>
                <a:off x="15094989" y="2497578"/>
                <a:ext cx="5956300" cy="5355312"/>
              </a:xfrm>
              <a:prstGeom prst="rect">
                <a:avLst/>
              </a:prstGeom>
              <a:blipFill>
                <a:blip r:embed="rId6"/>
                <a:stretch>
                  <a:fillRect l="-819" t="-569" b="-1025"/>
                </a:stretch>
              </a:blipFill>
            </p:spPr>
            <p:txBody>
              <a:bodyPr/>
              <a:lstStyle/>
              <a:p>
                <a:r>
                  <a:rPr lang="en-GB">
                    <a:noFill/>
                  </a:rPr>
                  <a:t> </a:t>
                </a:r>
              </a:p>
            </p:txBody>
          </p:sp>
        </mc:Fallback>
      </mc:AlternateContent>
      <p:sp>
        <p:nvSpPr>
          <p:cNvPr id="21" name="TextBox 20">
            <a:extLst>
              <a:ext uri="{FF2B5EF4-FFF2-40B4-BE49-F238E27FC236}">
                <a16:creationId xmlns:a16="http://schemas.microsoft.com/office/drawing/2014/main" id="{2284AAB9-E865-5F94-FCFE-4035B4A19544}"/>
              </a:ext>
            </a:extLst>
          </p:cNvPr>
          <p:cNvSpPr txBox="1"/>
          <p:nvPr/>
        </p:nvSpPr>
        <p:spPr>
          <a:xfrm>
            <a:off x="15245864" y="14139191"/>
            <a:ext cx="5883278" cy="1051057"/>
          </a:xfrm>
          <a:prstGeom prst="rect">
            <a:avLst/>
          </a:prstGeom>
          <a:noFill/>
        </p:spPr>
        <p:txBody>
          <a:bodyPr wrap="square" rtlCol="0">
            <a:spAutoFit/>
          </a:bodyPr>
          <a:lstStyle/>
          <a:p>
            <a:pPr marL="228600" indent="-228600">
              <a:buAutoNum type="arabicPeriod"/>
            </a:pPr>
            <a:r>
              <a:rPr lang="de-DE" sz="880" dirty="0"/>
              <a:t>Ising, E. Beitrag zur Theorie des Ferromagnetismus. </a:t>
            </a:r>
            <a:r>
              <a:rPr lang="de-DE" sz="880" i="1" dirty="0"/>
              <a:t>Z. Physik</a:t>
            </a:r>
            <a:r>
              <a:rPr lang="de-DE" sz="880" dirty="0"/>
              <a:t> </a:t>
            </a:r>
            <a:r>
              <a:rPr lang="de-DE" sz="880" b="1" dirty="0"/>
              <a:t>31</a:t>
            </a:r>
            <a:r>
              <a:rPr lang="de-DE" sz="880" dirty="0"/>
              <a:t>, 253–258 (1925). </a:t>
            </a:r>
            <a:r>
              <a:rPr lang="de-DE" sz="880" dirty="0">
                <a:hlinkClick r:id="rId7"/>
              </a:rPr>
              <a:t>https://doi.org/10.1007/BF02980577</a:t>
            </a:r>
            <a:endParaRPr lang="de-DE" sz="880" dirty="0"/>
          </a:p>
          <a:p>
            <a:pPr marL="228600" indent="-228600">
              <a:buAutoNum type="arabicPeriod"/>
            </a:pPr>
            <a:r>
              <a:rPr lang="en-GB" sz="880" dirty="0"/>
              <a:t>Onsager, L. Crystal Statistics. I. A Two-Dimensional Model with an Order-Disorder Transition. </a:t>
            </a:r>
            <a:r>
              <a:rPr lang="en-GB" sz="880" i="1" dirty="0"/>
              <a:t>Phys. Rev.</a:t>
            </a:r>
            <a:r>
              <a:rPr lang="en-GB" sz="880" dirty="0"/>
              <a:t> </a:t>
            </a:r>
            <a:r>
              <a:rPr lang="en-GB" sz="880" b="1" dirty="0"/>
              <a:t>65</a:t>
            </a:r>
            <a:r>
              <a:rPr lang="en-GB" sz="880" dirty="0"/>
              <a:t>, 117–149 (1944). </a:t>
            </a:r>
            <a:r>
              <a:rPr lang="en-GB" sz="880" dirty="0">
                <a:hlinkClick r:id="rId8"/>
              </a:rPr>
              <a:t>https://doi.org/10.1103/PhysRev.65.117</a:t>
            </a:r>
            <a:endParaRPr lang="en-GB" sz="880" dirty="0"/>
          </a:p>
          <a:p>
            <a:pPr marL="228600" indent="-228600">
              <a:buAutoNum type="arabicPeriod"/>
            </a:pPr>
            <a:r>
              <a:rPr lang="en-GB" sz="880" dirty="0"/>
              <a:t>Metropolis, N., Rosenbluth, A., Rosenbluth, M., Teller, A., and Teller, E. (1953). Equations of state calculations by fast computing machines. J. Chem. Phys., 21(6): 10871092.</a:t>
            </a:r>
          </a:p>
          <a:p>
            <a:r>
              <a:rPr lang="en-GB" sz="880" dirty="0"/>
              <a:t>Generative AI in the form of ChatGPT was occasionally used to improve clarity of writing only. </a:t>
            </a:r>
          </a:p>
        </p:txBody>
      </p:sp>
      <p:sp>
        <p:nvSpPr>
          <p:cNvPr id="30" name="TextBox 29">
            <a:extLst>
              <a:ext uri="{FF2B5EF4-FFF2-40B4-BE49-F238E27FC236}">
                <a16:creationId xmlns:a16="http://schemas.microsoft.com/office/drawing/2014/main" id="{410C00D8-2FBB-96DA-4063-32F38069B653}"/>
              </a:ext>
            </a:extLst>
          </p:cNvPr>
          <p:cNvSpPr txBox="1"/>
          <p:nvPr/>
        </p:nvSpPr>
        <p:spPr>
          <a:xfrm>
            <a:off x="19842390" y="13041164"/>
            <a:ext cx="1000871" cy="369332"/>
          </a:xfrm>
          <a:prstGeom prst="rect">
            <a:avLst/>
          </a:prstGeom>
          <a:noFill/>
        </p:spPr>
        <p:txBody>
          <a:bodyPr wrap="square">
            <a:spAutoFit/>
          </a:bodyPr>
          <a:lstStyle/>
          <a:p>
            <a:r>
              <a:rPr lang="en-GB" sz="1800" dirty="0"/>
              <a:t> </a:t>
            </a:r>
            <a:r>
              <a:rPr lang="en-GB" sz="1800" dirty="0">
                <a:latin typeface="Cambria Math" panose="02040503050406030204" pitchFamily="18" charset="0"/>
                <a:ea typeface="Cambria Math" panose="02040503050406030204" pitchFamily="18" charset="0"/>
              </a:rPr>
              <a:t>(4)</a:t>
            </a:r>
          </a:p>
        </p:txBody>
      </p:sp>
      <p:sp>
        <p:nvSpPr>
          <p:cNvPr id="6" name="Rectangle 5">
            <a:extLst>
              <a:ext uri="{FF2B5EF4-FFF2-40B4-BE49-F238E27FC236}">
                <a16:creationId xmlns:a16="http://schemas.microsoft.com/office/drawing/2014/main" id="{755A675B-964B-63C8-2561-40CD4672C343}"/>
              </a:ext>
            </a:extLst>
          </p:cNvPr>
          <p:cNvSpPr/>
          <p:nvPr/>
        </p:nvSpPr>
        <p:spPr>
          <a:xfrm>
            <a:off x="320454" y="1816764"/>
            <a:ext cx="6972300" cy="60405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Summary</a:t>
            </a:r>
          </a:p>
        </p:txBody>
      </p:sp>
      <p:sp>
        <p:nvSpPr>
          <p:cNvPr id="9" name="Rectangle 8">
            <a:extLst>
              <a:ext uri="{FF2B5EF4-FFF2-40B4-BE49-F238E27FC236}">
                <a16:creationId xmlns:a16="http://schemas.microsoft.com/office/drawing/2014/main" id="{DD1E69D9-41E8-B36C-4222-0629A0302A99}"/>
              </a:ext>
            </a:extLst>
          </p:cNvPr>
          <p:cNvSpPr/>
          <p:nvPr/>
        </p:nvSpPr>
        <p:spPr>
          <a:xfrm>
            <a:off x="398303" y="3726685"/>
            <a:ext cx="6972300" cy="757570"/>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AAFCA33A-F15B-8B3A-93AA-134FE49E2121}"/>
              </a:ext>
            </a:extLst>
          </p:cNvPr>
          <p:cNvSpPr txBox="1"/>
          <p:nvPr/>
        </p:nvSpPr>
        <p:spPr>
          <a:xfrm>
            <a:off x="398303" y="4580921"/>
            <a:ext cx="7056132" cy="2585323"/>
          </a:xfrm>
          <a:prstGeom prst="rect">
            <a:avLst/>
          </a:prstGeom>
          <a:noFill/>
        </p:spPr>
        <p:txBody>
          <a:bodyPr wrap="square" rtlCol="0">
            <a:spAutoFit/>
          </a:bodyPr>
          <a:lstStyle/>
          <a:p>
            <a:r>
              <a:rPr lang="en-GB" dirty="0"/>
              <a:t>Magnetism has long been central to technology, from early compasses to modern data storage. Many models successfully described ferromagnetism, such as Mean Field Theory (MFT) and the Heisenberg model, but the Ising model stands out for its simplicity and analytical tractability. Despite being simple, it captures key phenomena, such as phase transitions and critical temperatures, and is widely used even outside of physics e.g. to model financial markets. In this project, the Ising model is used for its computational simplicity and ability to reproduce essential magnetic behaviour.</a:t>
            </a: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7D3A7B3D-C263-EE55-4676-C68D57D999C6}"/>
                  </a:ext>
                </a:extLst>
              </p:cNvPr>
              <p:cNvSpPr txBox="1"/>
              <p:nvPr/>
            </p:nvSpPr>
            <p:spPr>
              <a:xfrm>
                <a:off x="332332" y="8646317"/>
                <a:ext cx="6972300" cy="1499257"/>
              </a:xfrm>
              <a:prstGeom prst="rect">
                <a:avLst/>
              </a:prstGeom>
              <a:noFill/>
            </p:spPr>
            <p:txBody>
              <a:bodyPr wrap="square" rtlCol="0">
                <a:spAutoFit/>
              </a:bodyPr>
              <a:lstStyle/>
              <a:p>
                <a:r>
                  <a:rPr lang="en-GB" dirty="0"/>
                  <a:t>For the 2D Ising model, we create a periodic lattice 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where each point is randomly assigned a spin value of either +1 (red) or -1 (blue), representing spin-up and spin-down states respectively (see fig.1 for a visual).</a:t>
                </a:r>
              </a:p>
              <a:p>
                <a:endParaRPr lang="en-GB" dirty="0"/>
              </a:p>
            </p:txBody>
          </p:sp>
        </mc:Choice>
        <mc:Fallback>
          <p:sp>
            <p:nvSpPr>
              <p:cNvPr id="14" name="TextBox 13">
                <a:extLst>
                  <a:ext uri="{FF2B5EF4-FFF2-40B4-BE49-F238E27FC236}">
                    <a16:creationId xmlns:a16="http://schemas.microsoft.com/office/drawing/2014/main" id="{7D3A7B3D-C263-EE55-4676-C68D57D999C6}"/>
                  </a:ext>
                </a:extLst>
              </p:cNvPr>
              <p:cNvSpPr txBox="1">
                <a:spLocks noRot="1" noChangeAspect="1" noMove="1" noResize="1" noEditPoints="1" noAdjustHandles="1" noChangeArrowheads="1" noChangeShapeType="1" noTextEdit="1"/>
              </p:cNvSpPr>
              <p:nvPr/>
            </p:nvSpPr>
            <p:spPr>
              <a:xfrm>
                <a:off x="332332" y="8646317"/>
                <a:ext cx="6972300" cy="1499257"/>
              </a:xfrm>
              <a:prstGeom prst="rect">
                <a:avLst/>
              </a:prstGeom>
              <a:blipFill>
                <a:blip r:embed="rId9"/>
                <a:stretch>
                  <a:fillRect l="-787" t="-1626"/>
                </a:stretch>
              </a:blipFill>
            </p:spPr>
            <p:txBody>
              <a:bodyPr/>
              <a:lstStyle/>
              <a:p>
                <a:r>
                  <a:rPr lang="en-GB">
                    <a:noFill/>
                  </a:rPr>
                  <a:t> </a:t>
                </a:r>
              </a:p>
            </p:txBody>
          </p:sp>
        </mc:Fallback>
      </mc:AlternateContent>
      <p:sp>
        <p:nvSpPr>
          <p:cNvPr id="24" name="TextBox 23">
            <a:extLst>
              <a:ext uri="{FF2B5EF4-FFF2-40B4-BE49-F238E27FC236}">
                <a16:creationId xmlns:a16="http://schemas.microsoft.com/office/drawing/2014/main" id="{03CA9EB6-2C67-ED0D-467A-D04056CBC3D5}"/>
              </a:ext>
            </a:extLst>
          </p:cNvPr>
          <p:cNvSpPr txBox="1"/>
          <p:nvPr/>
        </p:nvSpPr>
        <p:spPr>
          <a:xfrm>
            <a:off x="3677289" y="10163265"/>
            <a:ext cx="2997199" cy="3139321"/>
          </a:xfrm>
          <a:prstGeom prst="rect">
            <a:avLst/>
          </a:prstGeom>
          <a:noFill/>
        </p:spPr>
        <p:txBody>
          <a:bodyPr wrap="square" rtlCol="0">
            <a:spAutoFit/>
          </a:bodyPr>
          <a:lstStyle/>
          <a:p>
            <a:r>
              <a:rPr lang="en-GB" dirty="0"/>
              <a:t>Fig. 1: Periodic lattice (i.e. edges wrap around) with randomly assigned spins. Red = spin-up, Blue = spin-down . </a:t>
            </a:r>
          </a:p>
          <a:p>
            <a:r>
              <a:rPr lang="en-GB" dirty="0"/>
              <a:t>The four nearest neighbours of the centre square are shown using white borders and numbers.</a:t>
            </a:r>
          </a:p>
          <a:p>
            <a:endParaRPr lang="en-GB" dirty="0"/>
          </a:p>
          <a:p>
            <a:endParaRPr lang="en-GB" dirty="0"/>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595CCDF1-D67B-2FA9-42FA-9571D3E515DF}"/>
                  </a:ext>
                </a:extLst>
              </p:cNvPr>
              <p:cNvSpPr txBox="1"/>
              <p:nvPr/>
            </p:nvSpPr>
            <p:spPr>
              <a:xfrm>
                <a:off x="332336" y="13245222"/>
                <a:ext cx="6533800" cy="2031325"/>
              </a:xfrm>
              <a:prstGeom prst="rect">
                <a:avLst/>
              </a:prstGeom>
              <a:noFill/>
            </p:spPr>
            <p:txBody>
              <a:bodyPr wrap="square">
                <a:spAutoFit/>
              </a:bodyPr>
              <a:lstStyle/>
              <a:p>
                <a:r>
                  <a:rPr lang="en-GB" sz="1800" dirty="0"/>
                  <a:t>The Ising model tells us the total energy of the lattice comes from two sources: the interaction between the spins and an external magnetic field </a:t>
                </a:r>
                <a14:m>
                  <m:oMath xmlns:m="http://schemas.openxmlformats.org/officeDocument/2006/math">
                    <m:r>
                      <a:rPr lang="en-GB" sz="1800" i="1" dirty="0" smtClean="0">
                        <a:latin typeface="Cambria Math" panose="02040503050406030204" pitchFamily="18" charset="0"/>
                      </a:rPr>
                      <m:t>𝐵</m:t>
                    </m:r>
                  </m:oMath>
                </a14:m>
                <a:r>
                  <a:rPr lang="en-GB" sz="1800" dirty="0"/>
                  <a:t>, and the interaction between neighbouring spins[1,2]. For simplicity, the 2D Ising model only considers interactions between the four nearest neighbours, highlighted in white in Fig 1.</a:t>
                </a:r>
              </a:p>
              <a:p>
                <a:endParaRPr lang="en-GB" sz="1800" dirty="0"/>
              </a:p>
            </p:txBody>
          </p:sp>
        </mc:Choice>
        <mc:Fallback>
          <p:sp>
            <p:nvSpPr>
              <p:cNvPr id="31" name="TextBox 30">
                <a:extLst>
                  <a:ext uri="{FF2B5EF4-FFF2-40B4-BE49-F238E27FC236}">
                    <a16:creationId xmlns:a16="http://schemas.microsoft.com/office/drawing/2014/main" id="{595CCDF1-D67B-2FA9-42FA-9571D3E515DF}"/>
                  </a:ext>
                </a:extLst>
              </p:cNvPr>
              <p:cNvSpPr txBox="1">
                <a:spLocks noRot="1" noChangeAspect="1" noMove="1" noResize="1" noEditPoints="1" noAdjustHandles="1" noChangeArrowheads="1" noChangeShapeType="1" noTextEdit="1"/>
              </p:cNvSpPr>
              <p:nvPr/>
            </p:nvSpPr>
            <p:spPr>
              <a:xfrm>
                <a:off x="332336" y="13245222"/>
                <a:ext cx="6533800" cy="2031325"/>
              </a:xfrm>
              <a:prstGeom prst="rect">
                <a:avLst/>
              </a:prstGeom>
              <a:blipFill>
                <a:blip r:embed="rId10"/>
                <a:stretch>
                  <a:fillRect l="-840" t="-1502"/>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6959D5E-81A4-6577-8335-63403C027D50}"/>
                  </a:ext>
                </a:extLst>
              </p:cNvPr>
              <p:cNvSpPr txBox="1"/>
              <p:nvPr/>
            </p:nvSpPr>
            <p:spPr>
              <a:xfrm>
                <a:off x="7792330" y="1918913"/>
                <a:ext cx="6814965" cy="3845220"/>
              </a:xfrm>
              <a:prstGeom prst="rect">
                <a:avLst/>
              </a:prstGeom>
              <a:noFill/>
            </p:spPr>
            <p:txBody>
              <a:bodyPr wrap="square">
                <a:spAutoFit/>
              </a:bodyPr>
              <a:lstStyle/>
              <a:p>
                <a:r>
                  <a:rPr lang="en-GB" sz="1800" dirty="0"/>
                  <a:t>Mathematically this energy </a:t>
                </a:r>
                <a14:m>
                  <m:oMath xmlns:m="http://schemas.openxmlformats.org/officeDocument/2006/math">
                    <m:r>
                      <a:rPr lang="en-GB" sz="1800" b="0" i="1" smtClean="0">
                        <a:latin typeface="Cambria Math" panose="02040503050406030204" pitchFamily="18" charset="0"/>
                      </a:rPr>
                      <m:t>𝐸</m:t>
                    </m:r>
                  </m:oMath>
                </a14:m>
                <a:r>
                  <a:rPr lang="en-GB" sz="1800" dirty="0"/>
                  <a:t>, can be written as: </a:t>
                </a:r>
              </a:p>
              <a:p>
                <a:endParaRPr lang="en-GB" sz="1800" dirty="0"/>
              </a:p>
              <a:p>
                <a:pPr/>
                <a14:m>
                  <m:oMathPara xmlns:m="http://schemas.openxmlformats.org/officeDocument/2006/math">
                    <m:oMathParaPr>
                      <m:jc m:val="centerGroup"/>
                    </m:oMathParaPr>
                    <m:oMath xmlns:m="http://schemas.openxmlformats.org/officeDocument/2006/math">
                      <m:r>
                        <a:rPr lang="en-GB" sz="1800" i="1">
                          <a:latin typeface="Cambria Math" panose="02040503050406030204" pitchFamily="18" charset="0"/>
                        </a:rPr>
                        <m:t>𝐸</m:t>
                      </m:r>
                      <m:r>
                        <a:rPr lang="en-GB" sz="1800" i="1">
                          <a:latin typeface="Cambria Math" panose="02040503050406030204" pitchFamily="18" charset="0"/>
                        </a:rPr>
                        <m:t>=−</m:t>
                      </m:r>
                      <m:r>
                        <a:rPr lang="en-GB" sz="1800" i="1">
                          <a:latin typeface="Cambria Math" panose="02040503050406030204" pitchFamily="18" charset="0"/>
                        </a:rPr>
                        <m:t>𝐵</m:t>
                      </m:r>
                      <m:nary>
                        <m:naryPr>
                          <m:chr m:val="∑"/>
                          <m:supHide m:val="on"/>
                          <m:ctrlPr>
                            <a:rPr lang="en-GB" sz="1800" i="1">
                              <a:latin typeface="Cambria Math" panose="02040503050406030204" pitchFamily="18" charset="0"/>
                            </a:rPr>
                          </m:ctrlPr>
                        </m:naryPr>
                        <m:sub>
                          <m:r>
                            <m:rPr>
                              <m:sty m:val="p"/>
                              <m:brk m:alnAt="7"/>
                            </m:rPr>
                            <a:rPr lang="el-GR" sz="1800" i="1">
                              <a:latin typeface="Cambria Math" panose="02040503050406030204" pitchFamily="18" charset="0"/>
                            </a:rPr>
                            <m:t>α</m:t>
                          </m:r>
                        </m:sub>
                        <m:sup/>
                        <m:e>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brk m:alnAt="7"/>
                                </m:rPr>
                                <a:rPr lang="el-GR" sz="1800" i="1">
                                  <a:latin typeface="Cambria Math" panose="02040503050406030204" pitchFamily="18" charset="0"/>
                                </a:rPr>
                                <m:t>α</m:t>
                              </m:r>
                            </m:sub>
                          </m:sSub>
                        </m:e>
                      </m:nary>
                      <m:r>
                        <a:rPr lang="en-GB" sz="1800">
                          <a:latin typeface="Cambria Math" panose="02040503050406030204" pitchFamily="18" charset="0"/>
                        </a:rPr>
                        <m:t> −</m:t>
                      </m:r>
                      <m:r>
                        <m:rPr>
                          <m:sty m:val="p"/>
                        </m:rPr>
                        <a:rPr lang="en-GB" sz="1800">
                          <a:latin typeface="Cambria Math" panose="02040503050406030204" pitchFamily="18" charset="0"/>
                        </a:rPr>
                        <m:t>J</m:t>
                      </m:r>
                      <m:nary>
                        <m:naryPr>
                          <m:chr m:val="∑"/>
                          <m:supHide m:val="on"/>
                          <m:ctrlPr>
                            <a:rPr lang="en-GB" sz="1800" i="1">
                              <a:latin typeface="Cambria Math" panose="02040503050406030204" pitchFamily="18" charset="0"/>
                            </a:rPr>
                          </m:ctrlPr>
                        </m:naryPr>
                        <m:sub>
                          <m:r>
                            <m:rPr>
                              <m:brk m:alnAt="7"/>
                            </m:rPr>
                            <a:rPr lang="en-GB" sz="1800" i="1">
                              <a:latin typeface="Cambria Math" panose="02040503050406030204" pitchFamily="18" charset="0"/>
                            </a:rPr>
                            <m:t>&lt;</m:t>
                          </m:r>
                          <m:r>
                            <m:rPr>
                              <m:sty m:val="p"/>
                            </m:rPr>
                            <a:rPr lang="el-GR" sz="1800" i="1">
                              <a:latin typeface="Cambria Math" panose="02040503050406030204" pitchFamily="18" charset="0"/>
                            </a:rPr>
                            <m:t>αβ</m:t>
                          </m:r>
                          <m:r>
                            <a:rPr lang="en-GB" sz="1800" i="1">
                              <a:latin typeface="Cambria Math" panose="02040503050406030204" pitchFamily="18" charset="0"/>
                            </a:rPr>
                            <m:t>&gt;</m:t>
                          </m:r>
                        </m:sub>
                        <m:sup/>
                        <m:e>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brk m:alnAt="7"/>
                                </m:rPr>
                                <a:rPr lang="el-GR" sz="1800" i="1">
                                  <a:latin typeface="Cambria Math" panose="02040503050406030204" pitchFamily="18" charset="0"/>
                                </a:rPr>
                                <m:t>α</m:t>
                              </m:r>
                            </m:sub>
                          </m:sSub>
                          <m:sSub>
                            <m:sSubPr>
                              <m:ctrlPr>
                                <a:rPr lang="en-GB" sz="1800" i="1">
                                  <a:latin typeface="Cambria Math" panose="02040503050406030204" pitchFamily="18" charset="0"/>
                                </a:rPr>
                              </m:ctrlPr>
                            </m:sSubPr>
                            <m:e>
                              <m:r>
                                <a:rPr lang="en-GB" sz="1800" i="1">
                                  <a:latin typeface="Cambria Math" panose="02040503050406030204" pitchFamily="18" charset="0"/>
                                </a:rPr>
                                <m:t>𝑆</m:t>
                              </m:r>
                            </m:e>
                            <m:sub>
                              <m:r>
                                <m:rPr>
                                  <m:sty m:val="p"/>
                                </m:rPr>
                                <a:rPr lang="el-GR" sz="1800" i="1">
                                  <a:latin typeface="Cambria Math" panose="02040503050406030204" pitchFamily="18" charset="0"/>
                                </a:rPr>
                                <m:t>β</m:t>
                              </m:r>
                            </m:sub>
                          </m:sSub>
                        </m:e>
                      </m:nary>
                      <m:r>
                        <a:rPr lang="en-GB" sz="1800" b="0" i="0" smtClean="0">
                          <a:latin typeface="Cambria Math" panose="02040503050406030204" pitchFamily="18" charset="0"/>
                        </a:rPr>
                        <m:t>, </m:t>
                      </m:r>
                    </m:oMath>
                  </m:oMathPara>
                </a14:m>
                <a:endParaRPr lang="en-GB" dirty="0"/>
              </a:p>
              <a:p>
                <a:endParaRPr lang="en-GB" sz="1800" dirty="0"/>
              </a:p>
              <a:p>
                <a:endParaRPr lang="en-GB" sz="1800" dirty="0"/>
              </a:p>
              <a:p>
                <a:r>
                  <a:rPr lang="en-GB" sz="1800" dirty="0"/>
                  <a:t>where </a:t>
                </a:r>
                <a14:m>
                  <m:oMath xmlns:m="http://schemas.openxmlformats.org/officeDocument/2006/math">
                    <m:r>
                      <a:rPr lang="el-GR" sz="1800" i="1" dirty="0" smtClean="0">
                        <a:latin typeface="Cambria Math" panose="02040503050406030204" pitchFamily="18" charset="0"/>
                        <a:ea typeface="Cambria Math" panose="02040503050406030204" pitchFamily="18" charset="0"/>
                      </a:rPr>
                      <m:t>𝛼</m:t>
                    </m:r>
                  </m:oMath>
                </a14:m>
                <a:r>
                  <a:rPr lang="en-GB" sz="1800" dirty="0"/>
                  <a:t> is the summation over each lattice point (i.e. over all </a:t>
                </a:r>
                <a14:m>
                  <m:oMath xmlns:m="http://schemas.openxmlformats.org/officeDocument/2006/math">
                    <m:r>
                      <a:rPr lang="en-GB" sz="1800" i="1" dirty="0">
                        <a:latin typeface="Cambria Math" panose="02040503050406030204" pitchFamily="18" charset="0"/>
                      </a:rPr>
                      <m:t>𝑖</m:t>
                    </m:r>
                  </m:oMath>
                </a14:m>
                <a:r>
                  <a:rPr lang="en-GB" sz="1800" dirty="0"/>
                  <a:t> and </a:t>
                </a:r>
                <a14:m>
                  <m:oMath xmlns:m="http://schemas.openxmlformats.org/officeDocument/2006/math">
                    <m:r>
                      <a:rPr lang="en-GB" sz="1800" i="1" dirty="0">
                        <a:latin typeface="Cambria Math" panose="02040503050406030204" pitchFamily="18" charset="0"/>
                      </a:rPr>
                      <m:t>𝑗</m:t>
                    </m:r>
                  </m:oMath>
                </a14:m>
                <a:r>
                  <a:rPr lang="en-GB" sz="1800" dirty="0"/>
                  <a:t>), and</a:t>
                </a:r>
                <a14:m>
                  <m:oMath xmlns:m="http://schemas.openxmlformats.org/officeDocument/2006/math">
                    <m:r>
                      <a:rPr lang="en-GB" sz="1800" i="1" dirty="0" smtClean="0">
                        <a:latin typeface="Cambria Math" panose="02040503050406030204" pitchFamily="18" charset="0"/>
                      </a:rPr>
                      <m:t> </m:t>
                    </m:r>
                    <m:r>
                      <a:rPr lang="el-GR" sz="1800" i="1" dirty="0">
                        <a:latin typeface="Cambria Math" panose="02040503050406030204" pitchFamily="18" charset="0"/>
                      </a:rPr>
                      <m:t>𝛽</m:t>
                    </m:r>
                    <m:r>
                      <a:rPr lang="en-GB" sz="1800" i="1" dirty="0">
                        <a:latin typeface="Cambria Math" panose="02040503050406030204" pitchFamily="18" charset="0"/>
                      </a:rPr>
                      <m:t> </m:t>
                    </m:r>
                  </m:oMath>
                </a14:m>
                <a:r>
                  <a:rPr lang="en-GB" sz="1800" dirty="0"/>
                  <a:t>is the summation of the four nearest neighbours: </a:t>
                </a:r>
                <a14:m>
                  <m:oMath xmlns:m="http://schemas.openxmlformats.org/officeDocument/2006/math">
                    <m:d>
                      <m:dPr>
                        <m:ctrlPr>
                          <a:rPr lang="en-GB" sz="1800" i="1" dirty="0">
                            <a:latin typeface="Cambria Math" panose="02040503050406030204" pitchFamily="18" charset="0"/>
                          </a:rPr>
                        </m:ctrlPr>
                      </m:dPr>
                      <m:e>
                        <m:r>
                          <a:rPr lang="en-GB" sz="1800" i="1" dirty="0">
                            <a:latin typeface="Cambria Math" panose="02040503050406030204" pitchFamily="18" charset="0"/>
                          </a:rPr>
                          <m:t>𝑖</m:t>
                        </m:r>
                        <m:r>
                          <a:rPr lang="en-GB" sz="1800" i="1" dirty="0">
                            <a:latin typeface="Cambria Math" panose="02040503050406030204" pitchFamily="18" charset="0"/>
                          </a:rPr>
                          <m:t>−1,</m:t>
                        </m:r>
                        <m:r>
                          <a:rPr lang="en-GB" sz="1800" i="1" dirty="0">
                            <a:latin typeface="Cambria Math" panose="02040503050406030204" pitchFamily="18" charset="0"/>
                          </a:rPr>
                          <m:t>𝑗</m:t>
                        </m:r>
                      </m:e>
                    </m:d>
                  </m:oMath>
                </a14:m>
                <a:r>
                  <a:rPr lang="en-GB" sz="1800" dirty="0"/>
                  <a:t>, </a:t>
                </a:r>
                <a14:m>
                  <m:oMath xmlns:m="http://schemas.openxmlformats.org/officeDocument/2006/math">
                    <m:d>
                      <m:dPr>
                        <m:ctrlPr>
                          <a:rPr lang="en-GB" sz="1800" i="1" dirty="0">
                            <a:latin typeface="Cambria Math" panose="02040503050406030204" pitchFamily="18" charset="0"/>
                          </a:rPr>
                        </m:ctrlPr>
                      </m:dPr>
                      <m:e>
                        <m:r>
                          <a:rPr lang="en-GB" sz="1800" i="1" dirty="0">
                            <a:latin typeface="Cambria Math" panose="02040503050406030204" pitchFamily="18" charset="0"/>
                          </a:rPr>
                          <m:t>𝑖</m:t>
                        </m:r>
                        <m:r>
                          <a:rPr lang="en-GB" sz="1800" i="1" dirty="0">
                            <a:latin typeface="Cambria Math" panose="02040503050406030204" pitchFamily="18" charset="0"/>
                          </a:rPr>
                          <m:t>+1,</m:t>
                        </m:r>
                        <m:r>
                          <a:rPr lang="en-GB" sz="1800" i="1" dirty="0">
                            <a:latin typeface="Cambria Math" panose="02040503050406030204" pitchFamily="18" charset="0"/>
                          </a:rPr>
                          <m:t>𝑗</m:t>
                        </m:r>
                      </m:e>
                    </m:d>
                    <m:r>
                      <a:rPr lang="en-GB" sz="1800" dirty="0">
                        <a:latin typeface="Cambria Math" panose="02040503050406030204" pitchFamily="18" charset="0"/>
                      </a:rPr>
                      <m:t>, </m:t>
                    </m:r>
                    <m:r>
                      <a:rPr lang="en-GB" sz="1800" i="1" dirty="0">
                        <a:latin typeface="Cambria Math" panose="02040503050406030204" pitchFamily="18" charset="0"/>
                      </a:rPr>
                      <m:t>(</m:t>
                    </m:r>
                    <m:r>
                      <a:rPr lang="en-GB" sz="1800" i="1" dirty="0" err="1">
                        <a:latin typeface="Cambria Math" panose="02040503050406030204" pitchFamily="18" charset="0"/>
                      </a:rPr>
                      <m:t>𝑖</m:t>
                    </m:r>
                    <m:r>
                      <a:rPr lang="en-GB" sz="1800" i="1" dirty="0">
                        <a:latin typeface="Cambria Math" panose="02040503050406030204" pitchFamily="18" charset="0"/>
                      </a:rPr>
                      <m:t> ,</m:t>
                    </m:r>
                    <m:r>
                      <a:rPr lang="en-GB" sz="1800" i="1" dirty="0">
                        <a:latin typeface="Cambria Math" panose="02040503050406030204" pitchFamily="18" charset="0"/>
                      </a:rPr>
                      <m:t>𝑗</m:t>
                    </m:r>
                    <m:r>
                      <a:rPr lang="en-GB" sz="1800" i="1" dirty="0">
                        <a:latin typeface="Cambria Math" panose="02040503050406030204" pitchFamily="18" charset="0"/>
                      </a:rPr>
                      <m:t>−1) </m:t>
                    </m:r>
                  </m:oMath>
                </a14:m>
                <a:r>
                  <a:rPr lang="en-GB" sz="1800" dirty="0"/>
                  <a:t>and </a:t>
                </a:r>
                <a14:m>
                  <m:oMath xmlns:m="http://schemas.openxmlformats.org/officeDocument/2006/math">
                    <m:d>
                      <m:dPr>
                        <m:ctrlPr>
                          <a:rPr lang="en-GB" sz="1800" i="1" dirty="0" err="1">
                            <a:latin typeface="Cambria Math" panose="02040503050406030204" pitchFamily="18" charset="0"/>
                          </a:rPr>
                        </m:ctrlPr>
                      </m:dPr>
                      <m:e>
                        <m:r>
                          <a:rPr lang="en-GB" sz="1800" i="1" dirty="0" err="1">
                            <a:latin typeface="Cambria Math" panose="02040503050406030204" pitchFamily="18" charset="0"/>
                          </a:rPr>
                          <m:t>𝑖</m:t>
                        </m:r>
                        <m:r>
                          <a:rPr lang="en-GB" sz="1800" i="1" dirty="0">
                            <a:latin typeface="Cambria Math" panose="02040503050406030204" pitchFamily="18" charset="0"/>
                          </a:rPr>
                          <m:t>, </m:t>
                        </m:r>
                        <m:r>
                          <a:rPr lang="en-GB" sz="1800" i="1" dirty="0">
                            <a:latin typeface="Cambria Math" panose="02040503050406030204" pitchFamily="18" charset="0"/>
                          </a:rPr>
                          <m:t>𝑗</m:t>
                        </m:r>
                        <m:r>
                          <a:rPr lang="en-GB" sz="1800" i="1" dirty="0">
                            <a:latin typeface="Cambria Math" panose="02040503050406030204" pitchFamily="18" charset="0"/>
                          </a:rPr>
                          <m:t>+1</m:t>
                        </m:r>
                      </m:e>
                    </m:d>
                  </m:oMath>
                </a14:m>
                <a:r>
                  <a:rPr lang="en-GB" sz="1800" dirty="0"/>
                  <a:t>[2].</a:t>
                </a:r>
                <a:r>
                  <a:rPr lang="en-GB" dirty="0"/>
                  <a:t> J is the interaction strength between neighbouring spins, with J &gt; 0 and J &lt; 0 corresponding with the tendency for neighbouring spins to align or anti-align, respectively.</a:t>
                </a:r>
              </a:p>
              <a:p>
                <a:endParaRPr lang="en-GB" sz="1800" dirty="0"/>
              </a:p>
            </p:txBody>
          </p:sp>
        </mc:Choice>
        <mc:Fallback>
          <p:sp>
            <p:nvSpPr>
              <p:cNvPr id="36" name="TextBox 35">
                <a:extLst>
                  <a:ext uri="{FF2B5EF4-FFF2-40B4-BE49-F238E27FC236}">
                    <a16:creationId xmlns:a16="http://schemas.microsoft.com/office/drawing/2014/main" id="{A6959D5E-81A4-6577-8335-63403C027D50}"/>
                  </a:ext>
                </a:extLst>
              </p:cNvPr>
              <p:cNvSpPr txBox="1">
                <a:spLocks noRot="1" noChangeAspect="1" noMove="1" noResize="1" noEditPoints="1" noAdjustHandles="1" noChangeArrowheads="1" noChangeShapeType="1" noTextEdit="1"/>
              </p:cNvSpPr>
              <p:nvPr/>
            </p:nvSpPr>
            <p:spPr>
              <a:xfrm>
                <a:off x="7792330" y="1918913"/>
                <a:ext cx="6814965" cy="3845220"/>
              </a:xfrm>
              <a:prstGeom prst="rect">
                <a:avLst/>
              </a:prstGeom>
              <a:blipFill>
                <a:blip r:embed="rId11"/>
                <a:stretch>
                  <a:fillRect l="-716" t="-792" r="-89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E61DD3E5-E370-1AD2-100A-CA8EE8780123}"/>
                  </a:ext>
                </a:extLst>
              </p:cNvPr>
              <p:cNvSpPr txBox="1"/>
              <p:nvPr/>
            </p:nvSpPr>
            <p:spPr>
              <a:xfrm>
                <a:off x="7902573" y="6245181"/>
                <a:ext cx="6594475" cy="3257558"/>
              </a:xfrm>
              <a:prstGeom prst="rect">
                <a:avLst/>
              </a:prstGeom>
              <a:noFill/>
            </p:spPr>
            <p:txBody>
              <a:bodyPr wrap="square">
                <a:spAutoFit/>
              </a:bodyPr>
              <a:lstStyle/>
              <a:p>
                <a:r>
                  <a:rPr lang="en-GB" sz="1800" dirty="0"/>
                  <a:t>Even using a small lattice, checking each possible state configuration would be impossible. To address this and remove configurations that are extremely unlikely, we consider the partition function, </a:t>
                </a:r>
                <a14:m>
                  <m:oMath xmlns:m="http://schemas.openxmlformats.org/officeDocument/2006/math">
                    <m:r>
                      <a:rPr lang="en-GB" sz="1800" b="0" i="1" smtClean="0">
                        <a:latin typeface="Cambria Math" panose="02040503050406030204" pitchFamily="18" charset="0"/>
                      </a:rPr>
                      <m:t>𝑍</m:t>
                    </m:r>
                  </m:oMath>
                </a14:m>
                <a:r>
                  <a:rPr lang="en-GB" sz="1800" dirty="0"/>
                  <a:t>. This helps us determine which  states are most probable at a given temperature, so we can restrict our consideration to these configurations only. We define the partition function as </a:t>
                </a:r>
              </a:p>
              <a:p>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𝑍</m:t>
                      </m:r>
                      <m:r>
                        <a:rPr lang="en-GB" sz="1800" b="0" i="1" smtClean="0">
                          <a:latin typeface="Cambria Math" panose="02040503050406030204" pitchFamily="18" charset="0"/>
                        </a:rPr>
                        <m:t>= </m:t>
                      </m:r>
                      <m:nary>
                        <m:naryPr>
                          <m:chr m:val="∑"/>
                          <m:supHide m:val="on"/>
                          <m:ctrlPr>
                            <a:rPr lang="en-GB" sz="1800" b="0" i="1" smtClean="0">
                              <a:latin typeface="Cambria Math" panose="02040503050406030204" pitchFamily="18" charset="0"/>
                            </a:rPr>
                          </m:ctrlPr>
                        </m:naryPr>
                        <m:sub>
                          <m:r>
                            <m:rPr>
                              <m:brk m:alnAt="7"/>
                            </m:rPr>
                            <a:rPr lang="en-GB" sz="1800" b="0" i="1" smtClean="0">
                              <a:latin typeface="Cambria Math" panose="02040503050406030204" pitchFamily="18" charset="0"/>
                            </a:rPr>
                            <m:t>𝑖</m:t>
                          </m:r>
                        </m:sub>
                        <m:sup/>
                        <m:e>
                          <m:r>
                            <m:rPr>
                              <m:sty m:val="p"/>
                            </m:rPr>
                            <a:rPr lang="en-GB" sz="1800" b="0" i="0" smtClean="0">
                              <a:latin typeface="Cambria Math" panose="02040503050406030204" pitchFamily="18" charset="0"/>
                            </a:rPr>
                            <m:t>exp</m:t>
                          </m:r>
                          <m:r>
                            <a:rPr lang="en-GB" sz="1800" b="0" i="1" smtClean="0">
                              <a:latin typeface="Cambria Math" panose="02040503050406030204" pitchFamily="18" charset="0"/>
                            </a:rPr>
                            <m:t>⁡</m:t>
                          </m:r>
                          <m:f>
                            <m:fPr>
                              <m:type m:val="skw"/>
                              <m:ctrlPr>
                                <a:rPr lang="en-GB" sz="1800" b="0" i="1" smtClean="0">
                                  <a:latin typeface="Cambria Math" panose="02040503050406030204" pitchFamily="18" charset="0"/>
                                </a:rPr>
                              </m:ctrlPr>
                            </m:fPr>
                            <m:num>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num>
                            <m:den>
                              <m:r>
                                <a:rPr lang="en-GB" sz="1800" b="0" i="1" smtClean="0">
                                  <a:latin typeface="Cambria Math" panose="02040503050406030204" pitchFamily="18" charset="0"/>
                                </a:rPr>
                                <m:t>𝑘𝑇</m:t>
                              </m:r>
                            </m:den>
                          </m:f>
                        </m:e>
                      </m:nary>
                      <m:r>
                        <a:rPr lang="en-GB" sz="1800" b="0" i="0" smtClean="0">
                          <a:latin typeface="Cambria Math" panose="02040503050406030204" pitchFamily="18" charset="0"/>
                        </a:rPr>
                        <m:t>,</m:t>
                      </m:r>
                    </m:oMath>
                  </m:oMathPara>
                </a14:m>
                <a:endParaRPr lang="en-GB" sz="1800" dirty="0"/>
              </a:p>
              <a:p>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a:t>
                </a:r>
              </a:p>
            </p:txBody>
          </p:sp>
        </mc:Choice>
        <mc:Fallback>
          <p:sp>
            <p:nvSpPr>
              <p:cNvPr id="38" name="TextBox 37">
                <a:extLst>
                  <a:ext uri="{FF2B5EF4-FFF2-40B4-BE49-F238E27FC236}">
                    <a16:creationId xmlns:a16="http://schemas.microsoft.com/office/drawing/2014/main" id="{E61DD3E5-E370-1AD2-100A-CA8EE8780123}"/>
                  </a:ext>
                </a:extLst>
              </p:cNvPr>
              <p:cNvSpPr txBox="1">
                <a:spLocks noRot="1" noChangeAspect="1" noMove="1" noResize="1" noEditPoints="1" noAdjustHandles="1" noChangeArrowheads="1" noChangeShapeType="1" noTextEdit="1"/>
              </p:cNvSpPr>
              <p:nvPr/>
            </p:nvSpPr>
            <p:spPr>
              <a:xfrm>
                <a:off x="7902573" y="6245181"/>
                <a:ext cx="6594475" cy="3257558"/>
              </a:xfrm>
              <a:prstGeom prst="rect">
                <a:avLst/>
              </a:prstGeom>
              <a:blipFill>
                <a:blip r:embed="rId12"/>
                <a:stretch>
                  <a:fillRect l="-739" t="-748" r="-1201" b="-205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9339CFDC-F507-44A6-A601-FF676DC1A862}"/>
                  </a:ext>
                </a:extLst>
              </p:cNvPr>
              <p:cNvSpPr txBox="1"/>
              <p:nvPr/>
            </p:nvSpPr>
            <p:spPr>
              <a:xfrm>
                <a:off x="7792328" y="10370922"/>
                <a:ext cx="6916809" cy="5078442"/>
              </a:xfrm>
              <a:prstGeom prst="rect">
                <a:avLst/>
              </a:prstGeom>
              <a:noFill/>
            </p:spPr>
            <p:txBody>
              <a:bodyPr wrap="square">
                <a:spAutoFit/>
              </a:bodyPr>
              <a:lstStyle/>
              <a:p>
                <a:r>
                  <a:rPr lang="en-GB" dirty="0"/>
                  <a:t>To update the lattice, we flip a chosen spin and calculate the resulting energy change, allowing us to gauge how likely this flip is to occur. Because only the four nearest neighbours contribute, the energy change is</a:t>
                </a:r>
              </a:p>
              <a:p>
                <a14:m>
                  <m:oMathPara xmlns:m="http://schemas.openxmlformats.org/officeDocument/2006/math">
                    <m:oMathParaPr>
                      <m:jc m:val="centerGroup"/>
                    </m:oMathParaPr>
                    <m:oMath xmlns:m="http://schemas.openxmlformats.org/officeDocument/2006/math">
                      <m:r>
                        <m:rPr>
                          <m:sty m:val="p"/>
                        </m:rPr>
                        <a:rPr lang="en-GB">
                          <a:latin typeface="Cambria Math" panose="02040503050406030204" pitchFamily="18" charset="0"/>
                          <a:cs typeface="Times New Roman" panose="02020603050405020304" pitchFamily="18" charset="0"/>
                        </a:rPr>
                        <m:t>Δ</m:t>
                      </m:r>
                      <m:r>
                        <a:rPr lang="en-GB" i="1">
                          <a:latin typeface="Cambria Math" panose="02040503050406030204" pitchFamily="18" charset="0"/>
                          <a:cs typeface="Times New Roman" panose="02020603050405020304" pitchFamily="18" charset="0"/>
                        </a:rPr>
                        <m:t>𝐸</m:t>
                      </m:r>
                      <m:r>
                        <a:rPr lang="en-GB" i="1">
                          <a:latin typeface="Cambria Math" panose="02040503050406030204" pitchFamily="18" charset="0"/>
                          <a:cs typeface="Times New Roman" panose="02020603050405020304" pitchFamily="18" charset="0"/>
                        </a:rPr>
                        <m:t>=−2</m:t>
                      </m:r>
                      <m:d>
                        <m:dPr>
                          <m:begChr m:val="["/>
                          <m:endChr m:val="]"/>
                          <m:ctrlPr>
                            <a:rPr lang="en-GB" i="1">
                              <a:latin typeface="Cambria Math" panose="02040503050406030204" pitchFamily="18" charset="0"/>
                              <a:cs typeface="Times New Roman" panose="02020603050405020304" pitchFamily="18" charset="0"/>
                            </a:rPr>
                          </m:ctrlPr>
                        </m:dPr>
                        <m:e>
                          <m:r>
                            <a:rPr lang="en-GB" i="1">
                              <a:latin typeface="Cambria Math" panose="02040503050406030204" pitchFamily="18" charset="0"/>
                              <a:cs typeface="Times New Roman" panose="02020603050405020304" pitchFamily="18" charset="0"/>
                            </a:rPr>
                            <m:t>𝐽𝑓</m:t>
                          </m:r>
                          <m:r>
                            <a:rPr lang="en-GB" i="1">
                              <a:latin typeface="Cambria Math" panose="02040503050406030204" pitchFamily="18" charset="0"/>
                              <a:cs typeface="Times New Roman" panose="02020603050405020304" pitchFamily="18" charset="0"/>
                            </a:rPr>
                            <m:t>+</m:t>
                          </m:r>
                          <m:r>
                            <a:rPr lang="en-GB" i="1">
                              <a:latin typeface="Cambria Math" panose="02040503050406030204" pitchFamily="18" charset="0"/>
                              <a:cs typeface="Times New Roman" panose="02020603050405020304" pitchFamily="18" charset="0"/>
                            </a:rPr>
                            <m:t>𝐵</m:t>
                          </m:r>
                        </m:e>
                      </m:d>
                      <m:sSub>
                        <m:sSubPr>
                          <m:ctrlPr>
                            <a:rPr lang="en-GB" i="1">
                              <a:latin typeface="Cambria Math" panose="02040503050406030204" pitchFamily="18" charset="0"/>
                              <a:cs typeface="Times New Roman" panose="02020603050405020304" pitchFamily="18" charset="0"/>
                            </a:rPr>
                          </m:ctrlPr>
                        </m:sSubPr>
                        <m:e>
                          <m:r>
                            <a:rPr lang="en-GB" i="1">
                              <a:latin typeface="Cambria Math" panose="02040503050406030204" pitchFamily="18" charset="0"/>
                              <a:cs typeface="Times New Roman" panose="02020603050405020304" pitchFamily="18" charset="0"/>
                            </a:rPr>
                            <m:t>𝑆</m:t>
                          </m:r>
                        </m:e>
                        <m:sub>
                          <m:r>
                            <m:rPr>
                              <m:sty m:val="p"/>
                            </m:rPr>
                            <a:rPr lang="en-GB" i="1">
                              <a:latin typeface="Cambria Math" panose="02040503050406030204" pitchFamily="18" charset="0"/>
                              <a:cs typeface="Times New Roman" panose="02020603050405020304" pitchFamily="18" charset="0"/>
                            </a:rPr>
                            <m:t>α</m:t>
                          </m:r>
                        </m:sub>
                      </m:sSub>
                      <m:r>
                        <a:rPr lang="en-GB">
                          <a:latin typeface="Cambria Math" panose="02040503050406030204" pitchFamily="18" charset="0"/>
                          <a:cs typeface="Times New Roman" panose="02020603050405020304" pitchFamily="18" charset="0"/>
                        </a:rPr>
                        <m:t>,</m:t>
                      </m:r>
                    </m:oMath>
                  </m:oMathPara>
                </a14:m>
                <a:endParaRPr lang="en-GB" dirty="0">
                  <a:cs typeface="Times New Roman" panose="02020603050405020304" pitchFamily="18" charset="0"/>
                </a:endParaRPr>
              </a:p>
              <a:p>
                <a:r>
                  <a:rPr lang="en-GB" dirty="0"/>
                  <a:t>where f is the sum of the four neighbouring spins. The negative sign ensures that aligned spins correspond to lower energy.</a:t>
                </a:r>
              </a:p>
              <a:p>
                <a:r>
                  <a:rPr lang="en-GB" dirty="0"/>
                  <a:t>We then decide whether to keep the flip using the Metropolis criterion:</a:t>
                </a:r>
              </a:p>
              <a:p>
                <a:pPr marL="285750" indent="-285750">
                  <a:buFont typeface="Wingdings" panose="05000000000000000000" pitchFamily="2" charset="2"/>
                  <a:buChar char="v"/>
                </a:pPr>
                <a:r>
                  <a:rPr lang="en-GB" dirty="0">
                    <a:cs typeface="Times New Roman" panose="02020603050405020304" pitchFamily="18" charset="0"/>
                  </a:rPr>
                  <a:t>If </a:t>
                </a:r>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exp</m:t>
                        </m:r>
                      </m:fName>
                      <m:e>
                        <m:d>
                          <m:dPr>
                            <m:ctrlPr>
                              <a:rPr lang="en-GB" i="1">
                                <a:latin typeface="Cambria Math" panose="02040503050406030204" pitchFamily="18" charset="0"/>
                              </a:rPr>
                            </m:ctrlPr>
                          </m:dPr>
                          <m:e>
                            <m:f>
                              <m:fPr>
                                <m:type m:val="skw"/>
                                <m:ctrlPr>
                                  <a:rPr lang="en-GB" i="1">
                                    <a:latin typeface="Cambria Math" panose="02040503050406030204" pitchFamily="18" charset="0"/>
                                  </a:rPr>
                                </m:ctrlPr>
                              </m:fPr>
                              <m:num>
                                <m:r>
                                  <m:rPr>
                                    <m:sty m:val="p"/>
                                  </m:rPr>
                                  <a:rPr lang="en-GB">
                                    <a:latin typeface="Cambria Math" panose="02040503050406030204" pitchFamily="18" charset="0"/>
                                  </a:rPr>
                                  <m:t>Δ</m:t>
                                </m:r>
                                <m:r>
                                  <a:rPr lang="en-GB" i="1">
                                    <a:latin typeface="Cambria Math" panose="02040503050406030204" pitchFamily="18" charset="0"/>
                                  </a:rPr>
                                  <m:t>𝐸</m:t>
                                </m:r>
                              </m:num>
                              <m:den>
                                <m:r>
                                  <a:rPr lang="en-GB" i="1">
                                    <a:latin typeface="Cambria Math" panose="02040503050406030204" pitchFamily="18" charset="0"/>
                                  </a:rPr>
                                  <m:t>𝑘𝑇</m:t>
                                </m:r>
                              </m:den>
                            </m:f>
                          </m:e>
                        </m:d>
                      </m:e>
                    </m:func>
                    <m:r>
                      <a:rPr lang="en-GB" i="1">
                        <a:latin typeface="Cambria Math" panose="02040503050406030204" pitchFamily="18" charset="0"/>
                      </a:rPr>
                      <m:t>&gt;1  </m:t>
                    </m:r>
                  </m:oMath>
                </a14:m>
                <a:r>
                  <a:rPr lang="en-GB" dirty="0">
                    <a:cs typeface="Times New Roman" panose="02020603050405020304" pitchFamily="18" charset="0"/>
                  </a:rPr>
                  <a:t>keep the flipped spin</a:t>
                </a:r>
              </a:p>
              <a:p>
                <a:pPr marL="285750" indent="-285750">
                  <a:buFont typeface="Wingdings" panose="05000000000000000000" pitchFamily="2" charset="2"/>
                  <a:buChar char="v"/>
                </a:pPr>
                <a:r>
                  <a:rPr lang="en-GB" dirty="0"/>
                  <a:t>Otherwise, generate a random number, </a:t>
                </a:r>
                <a14:m>
                  <m:oMath xmlns:m="http://schemas.openxmlformats.org/officeDocument/2006/math">
                    <m:r>
                      <a:rPr lang="en-GB" i="1" dirty="0" smtClean="0">
                        <a:latin typeface="Cambria Math" panose="02040503050406030204" pitchFamily="18" charset="0"/>
                      </a:rPr>
                      <m:t>𝑛</m:t>
                    </m:r>
                    <m:r>
                      <a:rPr lang="en-GB" i="1" dirty="0">
                        <a:latin typeface="Cambria Math" panose="02040503050406030204" pitchFamily="18" charset="0"/>
                      </a:rPr>
                      <m:t> </m:t>
                    </m:r>
                    <m:r>
                      <a:rPr lang="en-GB" i="1" dirty="0" smtClean="0">
                        <a:latin typeface="Cambria Math" panose="02040503050406030204" pitchFamily="18" charset="0"/>
                      </a:rPr>
                      <m:t>∈ [0,1]</m:t>
                    </m:r>
                  </m:oMath>
                </a14:m>
                <a:r>
                  <a:rPr lang="en-GB" dirty="0">
                    <a:cs typeface="Times New Roman" panose="02020603050405020304" pitchFamily="18" charset="0"/>
                  </a:rPr>
                  <a:t>. </a:t>
                </a:r>
                <a:r>
                  <a:rPr lang="en-GB" dirty="0"/>
                  <a:t>If </a:t>
                </a:r>
                <a:endParaRPr lang="en-GB" i="1" dirty="0">
                  <a:latin typeface="Cambria Math" panose="02040503050406030204" pitchFamily="18" charset="0"/>
                </a:endParaRPr>
              </a:p>
              <a:p>
                <a14:m>
                  <m:oMath xmlns:m="http://schemas.openxmlformats.org/officeDocument/2006/math">
                    <m:r>
                      <a:rPr lang="en-GB" b="0" i="1" dirty="0" smtClean="0">
                        <a:latin typeface="Cambria Math" panose="02040503050406030204" pitchFamily="18" charset="0"/>
                      </a:rPr>
                      <m:t>      </m:t>
                    </m:r>
                    <m:r>
                      <m:rPr>
                        <m:sty m:val="p"/>
                      </m:rPr>
                      <a:rPr lang="en-GB" i="1" dirty="0" smtClean="0">
                        <a:latin typeface="Cambria Math" panose="02040503050406030204" pitchFamily="18" charset="0"/>
                      </a:rPr>
                      <m:t>exp</m:t>
                    </m:r>
                    <m:r>
                      <a:rPr lang="en-GB" i="1" dirty="0">
                        <a:latin typeface="Cambria Math" panose="02040503050406030204" pitchFamily="18" charset="0"/>
                      </a:rPr>
                      <m:t>⁡(−</m:t>
                    </m:r>
                    <m:r>
                      <m:rPr>
                        <m:sty m:val="p"/>
                      </m:rPr>
                      <a:rPr lang="en-GB" i="0" dirty="0">
                        <a:latin typeface="Cambria Math" panose="02040503050406030204" pitchFamily="18" charset="0"/>
                      </a:rPr>
                      <m:t>Δ</m:t>
                    </m:r>
                    <m:r>
                      <a:rPr lang="en-GB" i="1" dirty="0">
                        <a:latin typeface="Cambria Math" panose="02040503050406030204" pitchFamily="18" charset="0"/>
                      </a:rPr>
                      <m:t>𝐸</m:t>
                    </m:r>
                    <m:r>
                      <a:rPr lang="en-GB" i="1" dirty="0">
                        <a:latin typeface="Cambria Math" panose="02040503050406030204" pitchFamily="18" charset="0"/>
                      </a:rPr>
                      <m:t>/</m:t>
                    </m:r>
                    <m:r>
                      <a:rPr lang="en-GB" i="1" dirty="0">
                        <a:latin typeface="Cambria Math" panose="02040503050406030204" pitchFamily="18" charset="0"/>
                      </a:rPr>
                      <m:t>𝑘𝑇</m:t>
                    </m:r>
                    <m:r>
                      <a:rPr lang="en-GB" i="1" dirty="0">
                        <a:latin typeface="Cambria Math" panose="02040503050406030204" pitchFamily="18" charset="0"/>
                      </a:rPr>
                      <m:t>)&gt;</m:t>
                    </m:r>
                    <m:r>
                      <a:rPr lang="en-GB" i="1" dirty="0" smtClean="0">
                        <a:latin typeface="Cambria Math" panose="02040503050406030204" pitchFamily="18" charset="0"/>
                      </a:rPr>
                      <m:t>𝑛</m:t>
                    </m:r>
                  </m:oMath>
                </a14:m>
                <a:r>
                  <a:rPr lang="en-GB" dirty="0"/>
                  <a:t>, keep the flip.</a:t>
                </a:r>
              </a:p>
              <a:p>
                <a:pPr marL="285750" indent="-285750">
                  <a:buFont typeface="Wingdings" panose="05000000000000000000" pitchFamily="2" charset="2"/>
                  <a:buChar char="v"/>
                </a:pPr>
                <a:r>
                  <a:rPr lang="en-GB" dirty="0"/>
                  <a:t>If neither condition is met, revert the flip back.</a:t>
                </a:r>
              </a:p>
              <a:p>
                <a:endParaRPr lang="en-GB" dirty="0"/>
              </a:p>
              <a:p>
                <a:r>
                  <a:rPr lang="en-GB" dirty="0"/>
                  <a:t>This procedure is repeated for every lattice point (a full sweep), using periodic boundary conditions. Together, these steps form the Metropolis algorithm [3].</a:t>
                </a:r>
              </a:p>
              <a:p>
                <a:endParaRPr lang="en-GB" sz="1800" dirty="0">
                  <a:cs typeface="Times New Roman" panose="02020603050405020304" pitchFamily="18" charset="0"/>
                </a:endParaRPr>
              </a:p>
            </p:txBody>
          </p:sp>
        </mc:Choice>
        <mc:Fallback>
          <p:sp>
            <p:nvSpPr>
              <p:cNvPr id="40" name="TextBox 39">
                <a:extLst>
                  <a:ext uri="{FF2B5EF4-FFF2-40B4-BE49-F238E27FC236}">
                    <a16:creationId xmlns:a16="http://schemas.microsoft.com/office/drawing/2014/main" id="{9339CFDC-F507-44A6-A601-FF676DC1A862}"/>
                  </a:ext>
                </a:extLst>
              </p:cNvPr>
              <p:cNvSpPr txBox="1">
                <a:spLocks noRot="1" noChangeAspect="1" noMove="1" noResize="1" noEditPoints="1" noAdjustHandles="1" noChangeArrowheads="1" noChangeShapeType="1" noTextEdit="1"/>
              </p:cNvSpPr>
              <p:nvPr/>
            </p:nvSpPr>
            <p:spPr>
              <a:xfrm>
                <a:off x="7792328" y="10370922"/>
                <a:ext cx="6916809" cy="5078442"/>
              </a:xfrm>
              <a:prstGeom prst="rect">
                <a:avLst/>
              </a:prstGeom>
              <a:blipFill>
                <a:blip r:embed="rId13"/>
                <a:stretch>
                  <a:fillRect l="-705" t="-480" r="-969"/>
                </a:stretch>
              </a:blipFill>
            </p:spPr>
            <p:txBody>
              <a:bodyPr/>
              <a:lstStyle/>
              <a:p>
                <a:r>
                  <a:rPr lang="en-GB">
                    <a:noFill/>
                  </a:rPr>
                  <a:t> </a:t>
                </a:r>
              </a:p>
            </p:txBody>
          </p:sp>
        </mc:Fallback>
      </mc:AlternateContent>
      <p:sp>
        <p:nvSpPr>
          <p:cNvPr id="41" name="TextBox 40">
            <a:extLst>
              <a:ext uri="{FF2B5EF4-FFF2-40B4-BE49-F238E27FC236}">
                <a16:creationId xmlns:a16="http://schemas.microsoft.com/office/drawing/2014/main" id="{E7B9028F-C378-6AEB-871A-9C95414021D7}"/>
              </a:ext>
            </a:extLst>
          </p:cNvPr>
          <p:cNvSpPr txBox="1"/>
          <p:nvPr/>
        </p:nvSpPr>
        <p:spPr>
          <a:xfrm>
            <a:off x="398303" y="2473589"/>
            <a:ext cx="6894451" cy="1200329"/>
          </a:xfrm>
          <a:prstGeom prst="rect">
            <a:avLst/>
          </a:prstGeom>
          <a:noFill/>
        </p:spPr>
        <p:txBody>
          <a:bodyPr wrap="square" rtlCol="0">
            <a:spAutoFit/>
          </a:bodyPr>
          <a:lstStyle/>
          <a:p>
            <a:r>
              <a:rPr lang="en-GB" dirty="0"/>
              <a:t>Ferromagnets can be modelled using a simple 2D Ising model. Using this model, and  Monte-Carlo methods (specifically the metropolis algorithm), we determine the average magnetisation in the steady state region and compare to literature values.</a:t>
            </a:r>
          </a:p>
        </p:txBody>
      </p:sp>
      <p:graphicFrame>
        <p:nvGraphicFramePr>
          <p:cNvPr id="2" name="Table 1">
            <a:extLst>
              <a:ext uri="{FF2B5EF4-FFF2-40B4-BE49-F238E27FC236}">
                <a16:creationId xmlns:a16="http://schemas.microsoft.com/office/drawing/2014/main" id="{393A5E68-2267-023D-FCFF-B00B162C52D7}"/>
              </a:ext>
            </a:extLst>
          </p:cNvPr>
          <p:cNvGraphicFramePr>
            <a:graphicFrameLocks noGrp="1"/>
          </p:cNvGraphicFramePr>
          <p:nvPr>
            <p:extLst>
              <p:ext uri="{D42A27DB-BD31-4B8C-83A1-F6EECF244321}">
                <p14:modId xmlns:p14="http://schemas.microsoft.com/office/powerpoint/2010/main" val="3742875846"/>
              </p:ext>
            </p:extLst>
          </p:nvPr>
        </p:nvGraphicFramePr>
        <p:xfrm>
          <a:off x="540364" y="10145574"/>
          <a:ext cx="2879980" cy="2879980"/>
        </p:xfrm>
        <a:graphic>
          <a:graphicData uri="http://schemas.openxmlformats.org/drawingml/2006/table">
            <a:tbl>
              <a:tblPr/>
              <a:tblGrid>
                <a:gridCol w="575996">
                  <a:extLst>
                    <a:ext uri="{9D8B030D-6E8A-4147-A177-3AD203B41FA5}">
                      <a16:colId xmlns:a16="http://schemas.microsoft.com/office/drawing/2014/main" val="2200406331"/>
                    </a:ext>
                  </a:extLst>
                </a:gridCol>
                <a:gridCol w="575996">
                  <a:extLst>
                    <a:ext uri="{9D8B030D-6E8A-4147-A177-3AD203B41FA5}">
                      <a16:colId xmlns:a16="http://schemas.microsoft.com/office/drawing/2014/main" val="4191477172"/>
                    </a:ext>
                  </a:extLst>
                </a:gridCol>
                <a:gridCol w="575996">
                  <a:extLst>
                    <a:ext uri="{9D8B030D-6E8A-4147-A177-3AD203B41FA5}">
                      <a16:colId xmlns:a16="http://schemas.microsoft.com/office/drawing/2014/main" val="549849989"/>
                    </a:ext>
                  </a:extLst>
                </a:gridCol>
                <a:gridCol w="575996">
                  <a:extLst>
                    <a:ext uri="{9D8B030D-6E8A-4147-A177-3AD203B41FA5}">
                      <a16:colId xmlns:a16="http://schemas.microsoft.com/office/drawing/2014/main" val="2194956128"/>
                    </a:ext>
                  </a:extLst>
                </a:gridCol>
                <a:gridCol w="575996">
                  <a:extLst>
                    <a:ext uri="{9D8B030D-6E8A-4147-A177-3AD203B41FA5}">
                      <a16:colId xmlns:a16="http://schemas.microsoft.com/office/drawing/2014/main" val="771035206"/>
                    </a:ext>
                  </a:extLst>
                </a:gridCol>
              </a:tblGrid>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588321140"/>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1</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2848225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4</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2</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87698032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3</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96496328"/>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481197627"/>
                  </a:ext>
                </a:extLst>
              </a:tr>
            </a:tbl>
          </a:graphicData>
        </a:graphic>
      </p:graphicFrame>
      <p:sp>
        <p:nvSpPr>
          <p:cNvPr id="5" name="Control 1">
            <a:extLst>
              <a:ext uri="{FF2B5EF4-FFF2-40B4-BE49-F238E27FC236}">
                <a16:creationId xmlns:a16="http://schemas.microsoft.com/office/drawing/2014/main" id="{5672B586-A8CF-2393-EA98-F6763D48D727}"/>
              </a:ext>
            </a:extLst>
          </p:cNvPr>
          <p:cNvSpPr>
            <a:spLocks noChangeArrowheads="1" noChangeShapeType="1"/>
          </p:cNvSpPr>
          <p:nvPr/>
        </p:nvSpPr>
        <p:spPr bwMode="auto">
          <a:xfrm>
            <a:off x="2474067" y="15786883"/>
            <a:ext cx="2879725" cy="2879725"/>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graphicFrame>
        <p:nvGraphicFramePr>
          <p:cNvPr id="7" name="Table 6">
            <a:extLst>
              <a:ext uri="{FF2B5EF4-FFF2-40B4-BE49-F238E27FC236}">
                <a16:creationId xmlns:a16="http://schemas.microsoft.com/office/drawing/2014/main" id="{4B736B42-8AB8-AFAA-95A0-C521476E8C08}"/>
              </a:ext>
            </a:extLst>
          </p:cNvPr>
          <p:cNvGraphicFramePr>
            <a:graphicFrameLocks noGrp="1"/>
          </p:cNvGraphicFramePr>
          <p:nvPr>
            <p:extLst>
              <p:ext uri="{D42A27DB-BD31-4B8C-83A1-F6EECF244321}">
                <p14:modId xmlns:p14="http://schemas.microsoft.com/office/powerpoint/2010/main" val="1970612631"/>
              </p:ext>
            </p:extLst>
          </p:nvPr>
        </p:nvGraphicFramePr>
        <p:xfrm>
          <a:off x="3587281" y="7385912"/>
          <a:ext cx="2879980" cy="2879980"/>
        </p:xfrm>
        <a:graphic>
          <a:graphicData uri="http://schemas.openxmlformats.org/drawingml/2006/table">
            <a:tbl>
              <a:tblPr/>
              <a:tblGrid>
                <a:gridCol w="575996">
                  <a:extLst>
                    <a:ext uri="{9D8B030D-6E8A-4147-A177-3AD203B41FA5}">
                      <a16:colId xmlns:a16="http://schemas.microsoft.com/office/drawing/2014/main" val="859205370"/>
                    </a:ext>
                  </a:extLst>
                </a:gridCol>
                <a:gridCol w="575996">
                  <a:extLst>
                    <a:ext uri="{9D8B030D-6E8A-4147-A177-3AD203B41FA5}">
                      <a16:colId xmlns:a16="http://schemas.microsoft.com/office/drawing/2014/main" val="1155782782"/>
                    </a:ext>
                  </a:extLst>
                </a:gridCol>
                <a:gridCol w="575996">
                  <a:extLst>
                    <a:ext uri="{9D8B030D-6E8A-4147-A177-3AD203B41FA5}">
                      <a16:colId xmlns:a16="http://schemas.microsoft.com/office/drawing/2014/main" val="1453962988"/>
                    </a:ext>
                  </a:extLst>
                </a:gridCol>
                <a:gridCol w="575996">
                  <a:extLst>
                    <a:ext uri="{9D8B030D-6E8A-4147-A177-3AD203B41FA5}">
                      <a16:colId xmlns:a16="http://schemas.microsoft.com/office/drawing/2014/main" val="1220585562"/>
                    </a:ext>
                  </a:extLst>
                </a:gridCol>
                <a:gridCol w="575996">
                  <a:extLst>
                    <a:ext uri="{9D8B030D-6E8A-4147-A177-3AD203B41FA5}">
                      <a16:colId xmlns:a16="http://schemas.microsoft.com/office/drawing/2014/main" val="922253618"/>
                    </a:ext>
                  </a:extLst>
                </a:gridCol>
              </a:tblGrid>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extLst>
                  <a:ext uri="{0D108BD9-81ED-4DB2-BD59-A6C34878D82A}">
                    <a16:rowId xmlns:a16="http://schemas.microsoft.com/office/drawing/2014/main" val="972241332"/>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38100" cap="flat" cmpd="sng" algn="ctr">
                      <a:solidFill>
                        <a:srgbClr val="FF0000"/>
                      </a:solidFill>
                      <a:prstDash val="solid"/>
                      <a:round/>
                      <a:headEnd type="none" w="med" len="med"/>
                      <a:tailEnd type="none" w="med" len="med"/>
                    </a:lnR>
                    <a:lnT w="6350" cap="flat" cmpd="sng" algn="ctr">
                      <a:solidFill>
                        <a:srgbClr val="D9D9D9"/>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dirty="0">
                          <a:ln>
                            <a:noFill/>
                          </a:ln>
                          <a:solidFill>
                            <a:srgbClr val="FF0000"/>
                          </a:solidFill>
                          <a:effectLst/>
                          <a:latin typeface="Calibri" panose="020F0502020204030204" pitchFamily="34" charset="0"/>
                        </a:rPr>
                        <a:t>1</a:t>
                      </a:r>
                      <a:endParaRPr lang="en-GB" sz="1000" kern="1400" dirty="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4221486231"/>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38100" cap="flat" cmpd="sng" algn="ctr">
                      <a:solidFill>
                        <a:srgbClr val="FF0000"/>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4</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2</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extLst>
                  <a:ext uri="{0D108BD9-81ED-4DB2-BD59-A6C34878D82A}">
                    <a16:rowId xmlns:a16="http://schemas.microsoft.com/office/drawing/2014/main" val="235098457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3</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6350" cap="flat" cmpd="sng" algn="ctr">
                      <a:solidFill>
                        <a:srgbClr val="D9D9D9"/>
                      </a:solidFill>
                      <a:prstDash val="solid"/>
                      <a:round/>
                      <a:headEnd type="none" w="med" len="med"/>
                      <a:tailEnd type="none" w="med" len="med"/>
                    </a:lnR>
                    <a:lnT w="38100" cap="flat" cmpd="sng" algn="ctr">
                      <a:solidFill>
                        <a:srgbClr val="FF0000"/>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3548760718"/>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38100" cap="flat" cmpd="sng" algn="ctr">
                      <a:solidFill>
                        <a:srgbClr val="FF0000"/>
                      </a:solidFill>
                      <a:prstDash val="solid"/>
                      <a:round/>
                      <a:headEnd type="none" w="med" len="med"/>
                      <a:tailEnd type="none" w="med" len="med"/>
                    </a:lnT>
                    <a:lnB>
                      <a:noFill/>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00000"/>
                    </a:solidFill>
                  </a:tcPr>
                </a:tc>
                <a:extLst>
                  <a:ext uri="{0D108BD9-81ED-4DB2-BD59-A6C34878D82A}">
                    <a16:rowId xmlns:a16="http://schemas.microsoft.com/office/drawing/2014/main" val="348965347"/>
                  </a:ext>
                </a:extLst>
              </a:tr>
            </a:tbl>
          </a:graphicData>
        </a:graphic>
      </p:graphicFrame>
    </p:spTree>
    <p:extLst>
      <p:ext uri="{BB962C8B-B14F-4D97-AF65-F5344CB8AC3E}">
        <p14:creationId xmlns:p14="http://schemas.microsoft.com/office/powerpoint/2010/main" val="4265079441"/>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86ADBC28-B3E0-2DF0-EB18-C9A5DC472C1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DEC07FF-2F00-C8AF-01EB-C83E1BC83CF6}"/>
                  </a:ext>
                </a:extLst>
              </p:cNvPr>
              <p:cNvSpPr txBox="1">
                <a:spLocks noGrp="1" noRot="1" noMove="1" noResize="1" noEditPoints="1" noAdjustHandles="1" noChangeArrowheads="1" noChangeShapeType="1"/>
              </p:cNvSpPr>
              <p:nvPr/>
            </p:nvSpPr>
            <p:spPr>
              <a:xfrm>
                <a:off x="281292" y="8156045"/>
                <a:ext cx="6972300" cy="6360139"/>
              </a:xfrm>
              <a:prstGeom prst="rect">
                <a:avLst/>
              </a:prstGeom>
              <a:noFill/>
            </p:spPr>
            <p:txBody>
              <a:bodyPr wrap="square" rtlCol="0">
                <a:spAutoFit/>
              </a:bodyPr>
              <a:lstStyle/>
              <a:p>
                <a:pPr marL="285750" indent="-285750">
                  <a:buFont typeface="Arial" panose="020B0604020202020204" pitchFamily="34" charset="0"/>
                  <a:buChar char="•"/>
                </a:pPr>
                <a:r>
                  <a:rPr lang="en-GB" dirty="0"/>
                  <a:t>A periodic lattice 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is created.</a:t>
                </a:r>
              </a:p>
              <a:p>
                <a:pPr marL="285750" indent="-285750">
                  <a:buFont typeface="Arial" panose="020B0604020202020204" pitchFamily="34" charset="0"/>
                  <a:buChar char="•"/>
                </a:pPr>
                <a:r>
                  <a:rPr lang="en-GB" dirty="0"/>
                  <a:t> Each point is randomly assigned a spin value, </a:t>
                </a:r>
                <a14:m>
                  <m:oMath xmlns:m="http://schemas.openxmlformats.org/officeDocument/2006/math">
                    <m:r>
                      <a:rPr lang="en-GB" b="0" i="1" smtClean="0">
                        <a:latin typeface="Cambria Math" panose="02040503050406030204" pitchFamily="18" charset="0"/>
                      </a:rPr>
                      <m:t>𝑆</m:t>
                    </m:r>
                  </m:oMath>
                </a14:m>
                <a:r>
                  <a:rPr lang="en-GB" dirty="0"/>
                  <a:t>, of either +1 (spin up) or -1 (spin down). </a:t>
                </a:r>
              </a:p>
              <a:p>
                <a:pPr marL="285750" indent="-285750">
                  <a:buFont typeface="Arial" panose="020B0604020202020204" pitchFamily="34" charset="0"/>
                  <a:buChar char="•"/>
                </a:pPr>
                <a:r>
                  <a:rPr lang="en-GB" dirty="0"/>
                  <a:t>The total energy of the lattice comes from two sources [1,2] and is then given by:</a:t>
                </a:r>
              </a:p>
              <a:p>
                <a:endParaRPr lang="en-GB" dirty="0"/>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𝐸</m:t>
                      </m:r>
                      <m:r>
                        <a:rPr lang="en-GB" i="1">
                          <a:latin typeface="Cambria Math" panose="02040503050406030204" pitchFamily="18" charset="0"/>
                        </a:rPr>
                        <m:t>=−</m:t>
                      </m:r>
                      <m:r>
                        <a:rPr lang="en-GB" i="1">
                          <a:latin typeface="Cambria Math" panose="02040503050406030204" pitchFamily="18" charset="0"/>
                        </a:rPr>
                        <m:t>𝐵</m:t>
                      </m:r>
                      <m:nary>
                        <m:naryPr>
                          <m:chr m:val="∑"/>
                          <m:supHide m:val="on"/>
                          <m:ctrlPr>
                            <a:rPr lang="en-GB" i="1">
                              <a:latin typeface="Cambria Math" panose="02040503050406030204" pitchFamily="18" charset="0"/>
                            </a:rPr>
                          </m:ctrlPr>
                        </m:naryPr>
                        <m:sub>
                          <m:r>
                            <m:rPr>
                              <m:sty m:val="p"/>
                              <m:brk m:alnAt="7"/>
                            </m:rPr>
                            <a:rPr lang="el-GR" i="1">
                              <a:latin typeface="Cambria Math" panose="02040503050406030204" pitchFamily="18" charset="0"/>
                            </a:rPr>
                            <m:t>α</m:t>
                          </m:r>
                        </m:sub>
                        <m:sup/>
                        <m:e>
                          <m:sSub>
                            <m:sSubPr>
                              <m:ctrlPr>
                                <a:rPr lang="en-GB" i="1">
                                  <a:latin typeface="Cambria Math" panose="02040503050406030204" pitchFamily="18" charset="0"/>
                                </a:rPr>
                              </m:ctrlPr>
                            </m:sSubPr>
                            <m:e>
                              <m:r>
                                <a:rPr lang="en-GB" i="1">
                                  <a:latin typeface="Cambria Math" panose="02040503050406030204" pitchFamily="18" charset="0"/>
                                </a:rPr>
                                <m:t>𝑆</m:t>
                              </m:r>
                            </m:e>
                            <m:sub>
                              <m:r>
                                <m:rPr>
                                  <m:sty m:val="p"/>
                                  <m:brk m:alnAt="7"/>
                                </m:rPr>
                                <a:rPr lang="el-GR" i="1">
                                  <a:latin typeface="Cambria Math" panose="02040503050406030204" pitchFamily="18" charset="0"/>
                                </a:rPr>
                                <m:t>α</m:t>
                              </m:r>
                            </m:sub>
                          </m:sSub>
                        </m:e>
                      </m:nary>
                      <m:r>
                        <a:rPr lang="en-GB">
                          <a:latin typeface="Cambria Math" panose="02040503050406030204" pitchFamily="18" charset="0"/>
                        </a:rPr>
                        <m:t> −</m:t>
                      </m:r>
                      <m:r>
                        <m:rPr>
                          <m:sty m:val="p"/>
                        </m:rPr>
                        <a:rPr lang="en-GB">
                          <a:latin typeface="Cambria Math" panose="02040503050406030204" pitchFamily="18" charset="0"/>
                        </a:rPr>
                        <m:t>J</m:t>
                      </m:r>
                      <m:nary>
                        <m:naryPr>
                          <m:chr m:val="∑"/>
                          <m:supHide m:val="on"/>
                          <m:ctrlPr>
                            <a:rPr lang="en-GB" i="1">
                              <a:latin typeface="Cambria Math" panose="02040503050406030204" pitchFamily="18" charset="0"/>
                            </a:rPr>
                          </m:ctrlPr>
                        </m:naryPr>
                        <m:sub>
                          <m:r>
                            <m:rPr>
                              <m:brk m:alnAt="7"/>
                            </m:rPr>
                            <a:rPr lang="en-GB" i="1">
                              <a:latin typeface="Cambria Math" panose="02040503050406030204" pitchFamily="18" charset="0"/>
                            </a:rPr>
                            <m:t>&lt;</m:t>
                          </m:r>
                          <m:r>
                            <m:rPr>
                              <m:sty m:val="p"/>
                            </m:rPr>
                            <a:rPr lang="el-GR" i="1">
                              <a:latin typeface="Cambria Math" panose="02040503050406030204" pitchFamily="18" charset="0"/>
                            </a:rPr>
                            <m:t>αβ</m:t>
                          </m:r>
                          <m:r>
                            <a:rPr lang="en-GB" i="1">
                              <a:latin typeface="Cambria Math" panose="02040503050406030204" pitchFamily="18" charset="0"/>
                            </a:rPr>
                            <m:t>&gt;</m:t>
                          </m:r>
                        </m:sub>
                        <m:sup/>
                        <m:e>
                          <m:sSub>
                            <m:sSubPr>
                              <m:ctrlPr>
                                <a:rPr lang="en-GB" i="1">
                                  <a:latin typeface="Cambria Math" panose="02040503050406030204" pitchFamily="18" charset="0"/>
                                </a:rPr>
                              </m:ctrlPr>
                            </m:sSubPr>
                            <m:e>
                              <m:r>
                                <a:rPr lang="en-GB" i="1">
                                  <a:latin typeface="Cambria Math" panose="02040503050406030204" pitchFamily="18" charset="0"/>
                                </a:rPr>
                                <m:t>𝑆</m:t>
                              </m:r>
                            </m:e>
                            <m:sub>
                              <m:r>
                                <m:rPr>
                                  <m:sty m:val="p"/>
                                  <m:brk m:alnAt="7"/>
                                </m:rPr>
                                <a:rPr lang="el-GR" i="1">
                                  <a:latin typeface="Cambria Math" panose="02040503050406030204" pitchFamily="18" charset="0"/>
                                </a:rPr>
                                <m:t>α</m:t>
                              </m:r>
                            </m:sub>
                          </m:sSub>
                          <m:sSub>
                            <m:sSubPr>
                              <m:ctrlPr>
                                <a:rPr lang="en-GB" i="1">
                                  <a:latin typeface="Cambria Math" panose="02040503050406030204" pitchFamily="18" charset="0"/>
                                </a:rPr>
                              </m:ctrlPr>
                            </m:sSubPr>
                            <m:e>
                              <m:r>
                                <a:rPr lang="en-GB" i="1">
                                  <a:latin typeface="Cambria Math" panose="02040503050406030204" pitchFamily="18" charset="0"/>
                                </a:rPr>
                                <m:t>𝑆</m:t>
                              </m:r>
                            </m:e>
                            <m:sub>
                              <m:r>
                                <m:rPr>
                                  <m:sty m:val="p"/>
                                </m:rPr>
                                <a:rPr lang="el-GR" i="1">
                                  <a:latin typeface="Cambria Math" panose="02040503050406030204" pitchFamily="18" charset="0"/>
                                </a:rPr>
                                <m:t>β</m:t>
                              </m:r>
                            </m:sub>
                          </m:sSub>
                        </m:e>
                      </m:nary>
                      <m:r>
                        <a:rPr lang="en-GB">
                          <a:latin typeface="Cambria Math" panose="02040503050406030204" pitchFamily="18" charset="0"/>
                        </a:rPr>
                        <m:t>, </m:t>
                      </m:r>
                    </m:oMath>
                  </m:oMathPara>
                </a14:m>
                <a:endParaRPr lang="en-GB" dirty="0"/>
              </a:p>
              <a:p>
                <a:endParaRPr lang="en-GB" dirty="0"/>
              </a:p>
              <a:p>
                <a:endParaRPr lang="en-GB" dirty="0"/>
              </a:p>
              <a:p>
                <a:endParaRPr lang="en-GB" dirty="0"/>
              </a:p>
              <a:p>
                <a:endParaRPr lang="en-GB" dirty="0"/>
              </a:p>
              <a:p>
                <a:endParaRPr lang="en-GB" dirty="0"/>
              </a:p>
              <a:p>
                <a:pPr marL="285750" indent="-285750">
                  <a:buFont typeface="Arial" panose="020B0604020202020204" pitchFamily="34" charset="0"/>
                  <a:buChar char="•"/>
                </a:pPr>
                <a:r>
                  <a:rPr lang="en-GB" dirty="0"/>
                  <a:t>where </a:t>
                </a:r>
                <a14:m>
                  <m:oMath xmlns:m="http://schemas.openxmlformats.org/officeDocument/2006/math">
                    <m:r>
                      <a:rPr lang="el-GR" i="1" dirty="0">
                        <a:latin typeface="Cambria Math" panose="02040503050406030204" pitchFamily="18" charset="0"/>
                        <a:ea typeface="Cambria Math" panose="02040503050406030204" pitchFamily="18" charset="0"/>
                      </a:rPr>
                      <m:t>𝛼</m:t>
                    </m:r>
                  </m:oMath>
                </a14:m>
                <a:r>
                  <a:rPr lang="en-GB" dirty="0"/>
                  <a:t> is the summation over each lattice point (i.e. over all </a:t>
                </a:r>
                <a14:m>
                  <m:oMath xmlns:m="http://schemas.openxmlformats.org/officeDocument/2006/math">
                    <m:r>
                      <a:rPr lang="en-GB" i="1" dirty="0">
                        <a:latin typeface="Cambria Math" panose="02040503050406030204" pitchFamily="18" charset="0"/>
                      </a:rPr>
                      <m:t>𝑖</m:t>
                    </m:r>
                  </m:oMath>
                </a14:m>
                <a:r>
                  <a:rPr lang="en-GB" dirty="0"/>
                  <a:t> and </a:t>
                </a:r>
                <a14:m>
                  <m:oMath xmlns:m="http://schemas.openxmlformats.org/officeDocument/2006/math">
                    <m:r>
                      <a:rPr lang="en-GB" i="1" dirty="0">
                        <a:latin typeface="Cambria Math" panose="02040503050406030204" pitchFamily="18" charset="0"/>
                      </a:rPr>
                      <m:t>𝑗</m:t>
                    </m:r>
                  </m:oMath>
                </a14:m>
                <a:r>
                  <a:rPr lang="en-GB" dirty="0"/>
                  <a:t>), and</a:t>
                </a:r>
                <a14:m>
                  <m:oMath xmlns:m="http://schemas.openxmlformats.org/officeDocument/2006/math">
                    <m:r>
                      <a:rPr lang="en-GB" i="1" dirty="0">
                        <a:latin typeface="Cambria Math" panose="02040503050406030204" pitchFamily="18" charset="0"/>
                      </a:rPr>
                      <m:t> </m:t>
                    </m:r>
                    <m:r>
                      <a:rPr lang="el-GR" i="1" dirty="0">
                        <a:latin typeface="Cambria Math" panose="02040503050406030204" pitchFamily="18" charset="0"/>
                      </a:rPr>
                      <m:t>𝛽</m:t>
                    </m:r>
                    <m:r>
                      <a:rPr lang="en-GB" i="1" dirty="0">
                        <a:latin typeface="Cambria Math" panose="02040503050406030204" pitchFamily="18" charset="0"/>
                      </a:rPr>
                      <m:t> </m:t>
                    </m:r>
                  </m:oMath>
                </a14:m>
                <a:r>
                  <a:rPr lang="en-GB" dirty="0"/>
                  <a:t>is the summation of the four nearest neighbours: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oMath>
                </a14:m>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r>
                      <a:rPr lang="en-GB" dirty="0">
                        <a:latin typeface="Cambria Math" panose="02040503050406030204" pitchFamily="18" charset="0"/>
                      </a:rPr>
                      <m:t>, </m:t>
                    </m:r>
                    <m:r>
                      <a:rPr lang="en-GB" i="1" dirty="0">
                        <a:latin typeface="Cambria Math" panose="02040503050406030204" pitchFamily="18" charset="0"/>
                      </a:rPr>
                      <m:t>(</m:t>
                    </m:r>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 </m:t>
                    </m:r>
                  </m:oMath>
                </a14:m>
                <a:r>
                  <a:rPr lang="en-GB" dirty="0"/>
                  <a:t>and </a:t>
                </a:r>
                <a14:m>
                  <m:oMath xmlns:m="http://schemas.openxmlformats.org/officeDocument/2006/math">
                    <m:d>
                      <m:dPr>
                        <m:ctrlPr>
                          <a:rPr lang="en-GB" i="1" dirty="0" err="1">
                            <a:latin typeface="Cambria Math" panose="02040503050406030204" pitchFamily="18" charset="0"/>
                          </a:rPr>
                        </m:ctrlPr>
                      </m:dPr>
                      <m:e>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m:t>
                        </m:r>
                      </m:e>
                    </m:d>
                  </m:oMath>
                </a14:m>
                <a:r>
                  <a:rPr lang="en-GB" dirty="0"/>
                  <a:t>[2]. </a:t>
                </a:r>
              </a:p>
              <a:p>
                <a:pPr marL="285750" indent="-285750">
                  <a:buFont typeface="Arial" panose="020B0604020202020204" pitchFamily="34" charset="0"/>
                  <a:buChar char="•"/>
                </a:pPr>
                <a:r>
                  <a:rPr lang="en-GB" dirty="0"/>
                  <a:t>J is the interaction strength between neighbouring spins:  J &gt; 0 and J &lt; 0 corresponding with the tendency for neighbouring spins to align (ferromagnetism) or anti-align (anti-ferromagnetism), respectively.</a:t>
                </a:r>
              </a:p>
              <a:p>
                <a:pPr marL="285750" indent="-285750">
                  <a:buFont typeface="Arial" panose="020B0604020202020204" pitchFamily="34" charset="0"/>
                  <a:buChar char="•"/>
                </a:pPr>
                <a:endParaRPr lang="en-GB" dirty="0"/>
              </a:p>
              <a:p>
                <a:endParaRPr lang="en-GB" dirty="0"/>
              </a:p>
            </p:txBody>
          </p:sp>
        </mc:Choice>
        <mc:Fallback>
          <p:sp>
            <p:nvSpPr>
              <p:cNvPr id="14" name="TextBox 13">
                <a:extLst>
                  <a:ext uri="{FF2B5EF4-FFF2-40B4-BE49-F238E27FC236}">
                    <a16:creationId xmlns:a16="http://schemas.microsoft.com/office/drawing/2014/main" id="{0DEC07FF-2F00-C8AF-01EB-C83E1BC83CF6}"/>
                  </a:ext>
                </a:extLst>
              </p:cNvPr>
              <p:cNvSpPr txBox="1">
                <a:spLocks noGrp="1" noRot="1" noChangeAspect="1" noMove="1" noResize="1" noEditPoints="1" noAdjustHandles="1" noChangeArrowheads="1" noChangeShapeType="1" noTextEdit="1"/>
              </p:cNvSpPr>
              <p:nvPr/>
            </p:nvSpPr>
            <p:spPr>
              <a:xfrm>
                <a:off x="281292" y="8156045"/>
                <a:ext cx="6972300" cy="6360139"/>
              </a:xfrm>
              <a:prstGeom prst="rect">
                <a:avLst/>
              </a:prstGeom>
              <a:blipFill>
                <a:blip r:embed="rId4"/>
                <a:stretch>
                  <a:fillRect l="-524" t="-384" r="-1049"/>
                </a:stretch>
              </a:blipFill>
            </p:spPr>
            <p:txBody>
              <a:bodyPr/>
              <a:lstStyle/>
              <a:p>
                <a:r>
                  <a:rPr lang="en-GB">
                    <a:noFill/>
                  </a:rPr>
                  <a:t> </a:t>
                </a:r>
              </a:p>
            </p:txBody>
          </p:sp>
        </mc:Fallback>
      </mc:AlternateContent>
      <p:sp>
        <p:nvSpPr>
          <p:cNvPr id="13" name="Rectangle 12">
            <a:extLst>
              <a:ext uri="{FF2B5EF4-FFF2-40B4-BE49-F238E27FC236}">
                <a16:creationId xmlns:a16="http://schemas.microsoft.com/office/drawing/2014/main" id="{63835E4D-2517-6DEB-4F0E-96042E316CB7}"/>
              </a:ext>
            </a:extLst>
          </p:cNvPr>
          <p:cNvSpPr/>
          <p:nvPr/>
        </p:nvSpPr>
        <p:spPr>
          <a:xfrm>
            <a:off x="359378" y="7395655"/>
            <a:ext cx="6972300" cy="757570"/>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1. The 2D Ising Model</a:t>
            </a:r>
          </a:p>
        </p:txBody>
      </p:sp>
      <p:sp>
        <p:nvSpPr>
          <p:cNvPr id="4" name="Rectangle 3">
            <a:extLst>
              <a:ext uri="{FF2B5EF4-FFF2-40B4-BE49-F238E27FC236}">
                <a16:creationId xmlns:a16="http://schemas.microsoft.com/office/drawing/2014/main" id="{F7ABA330-50E5-E5A9-A1AE-D003BC92D04D}"/>
              </a:ext>
            </a:extLst>
          </p:cNvPr>
          <p:cNvSpPr/>
          <p:nvPr/>
        </p:nvSpPr>
        <p:spPr>
          <a:xfrm>
            <a:off x="-1" y="0"/>
            <a:ext cx="21383625" cy="1173587"/>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a ferromagnet using the Ising model</a:t>
            </a:r>
          </a:p>
          <a:p>
            <a:pPr algn="ctr"/>
            <a:endParaRPr lang="en-GB" dirty="0"/>
          </a:p>
        </p:txBody>
      </p:sp>
      <p:sp>
        <p:nvSpPr>
          <p:cNvPr id="10" name="Rectangle 9">
            <a:extLst>
              <a:ext uri="{FF2B5EF4-FFF2-40B4-BE49-F238E27FC236}">
                <a16:creationId xmlns:a16="http://schemas.microsoft.com/office/drawing/2014/main" id="{4755B384-F826-715E-0B15-8CEDF717313A}"/>
              </a:ext>
            </a:extLst>
          </p:cNvPr>
          <p:cNvSpPr/>
          <p:nvPr/>
        </p:nvSpPr>
        <p:spPr>
          <a:xfrm>
            <a:off x="7902573" y="5124471"/>
            <a:ext cx="6594474" cy="782943"/>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15" name="Rectangle 14">
            <a:extLst>
              <a:ext uri="{FF2B5EF4-FFF2-40B4-BE49-F238E27FC236}">
                <a16:creationId xmlns:a16="http://schemas.microsoft.com/office/drawing/2014/main" id="{ED6498D8-BA5A-F017-C5BA-849E407ECB3B}"/>
              </a:ext>
            </a:extLst>
          </p:cNvPr>
          <p:cNvSpPr/>
          <p:nvPr/>
        </p:nvSpPr>
        <p:spPr>
          <a:xfrm>
            <a:off x="7792330" y="9617052"/>
            <a:ext cx="6704718" cy="733470"/>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16" name="Rectangle 15">
            <a:extLst>
              <a:ext uri="{FF2B5EF4-FFF2-40B4-BE49-F238E27FC236}">
                <a16:creationId xmlns:a16="http://schemas.microsoft.com/office/drawing/2014/main" id="{2B7087A4-8886-9A91-5315-C30FAC122249}"/>
              </a:ext>
            </a:extLst>
          </p:cNvPr>
          <p:cNvSpPr/>
          <p:nvPr/>
        </p:nvSpPr>
        <p:spPr>
          <a:xfrm>
            <a:off x="15094989" y="1893520"/>
            <a:ext cx="5956300" cy="604058"/>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18" name="Rectangle 17">
            <a:extLst>
              <a:ext uri="{FF2B5EF4-FFF2-40B4-BE49-F238E27FC236}">
                <a16:creationId xmlns:a16="http://schemas.microsoft.com/office/drawing/2014/main" id="{B552CF87-417D-D9E8-5718-DCD51BDD4ED1}"/>
              </a:ext>
            </a:extLst>
          </p:cNvPr>
          <p:cNvSpPr/>
          <p:nvPr/>
        </p:nvSpPr>
        <p:spPr>
          <a:xfrm>
            <a:off x="15274922" y="13725793"/>
            <a:ext cx="5956300" cy="413398"/>
          </a:xfrm>
          <a:prstGeom prst="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pic>
        <p:nvPicPr>
          <p:cNvPr id="22" name="Picture 21" descr="A graph with a line&#10;&#10;AI-generated content may be incorrect.">
            <a:extLst>
              <a:ext uri="{FF2B5EF4-FFF2-40B4-BE49-F238E27FC236}">
                <a16:creationId xmlns:a16="http://schemas.microsoft.com/office/drawing/2014/main" id="{F6187D28-22C8-577D-0D48-DA406440C041}"/>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rcRect l="1802" t="6597" r="8775" b="1459"/>
          <a:stretch>
            <a:fillRect/>
          </a:stretch>
        </p:blipFill>
        <p:spPr>
          <a:xfrm>
            <a:off x="15146029" y="6561109"/>
            <a:ext cx="6034153" cy="5078442"/>
          </a:xfrm>
          <a:prstGeom prst="rect">
            <a:avLst/>
          </a:prstGeom>
          <a:ln>
            <a:solidFill>
              <a:schemeClr val="bg2">
                <a:lumMod val="75000"/>
              </a:schemeClr>
            </a:solidFill>
          </a:ln>
        </p:spPr>
      </p:pic>
      <p:sp>
        <p:nvSpPr>
          <p:cNvPr id="27" name="Rectangle 26">
            <a:extLst>
              <a:ext uri="{FF2B5EF4-FFF2-40B4-BE49-F238E27FC236}">
                <a16:creationId xmlns:a16="http://schemas.microsoft.com/office/drawing/2014/main" id="{C829EEB8-D489-82C6-2954-F67BC66225C0}"/>
              </a:ext>
            </a:extLst>
          </p:cNvPr>
          <p:cNvSpPr/>
          <p:nvPr/>
        </p:nvSpPr>
        <p:spPr>
          <a:xfrm>
            <a:off x="1740361" y="10732641"/>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3E527422-1994-44DE-8BF2-C56C120EEC13}"/>
              </a:ext>
            </a:extLst>
          </p:cNvPr>
          <p:cNvSpPr/>
          <p:nvPr/>
        </p:nvSpPr>
        <p:spPr>
          <a:xfrm>
            <a:off x="4164972" y="10732641"/>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53AFA293-A71E-512D-3E1D-64A21FB3F51D}"/>
                  </a:ext>
                </a:extLst>
              </p:cNvPr>
              <p:cNvSpPr txBox="1"/>
              <p:nvPr/>
            </p:nvSpPr>
            <p:spPr>
              <a:xfrm>
                <a:off x="15296904" y="11775033"/>
                <a:ext cx="5883278" cy="2444131"/>
              </a:xfrm>
              <a:prstGeom prst="rect">
                <a:avLst/>
              </a:prstGeom>
              <a:noFill/>
            </p:spPr>
            <p:txBody>
              <a:bodyPr wrap="square" rtlCol="0">
                <a:spAutoFit/>
              </a:bodyPr>
              <a:lstStyle/>
              <a:p>
                <a:r>
                  <a:rPr lang="en-GB" sz="1600" dirty="0"/>
                  <a:t>Fig. 2: Plot of average magnetisation per spin against number of sweeps of the Monte Carlo algorithm for a 32x32 lattice, with B = -0.05, J = 0.5, and </a:t>
                </a:r>
                <a:r>
                  <a:rPr lang="en-GB" sz="1600" dirty="0" err="1"/>
                  <a:t>kT</a:t>
                </a:r>
                <a:r>
                  <a:rPr lang="en-GB" sz="1600" dirty="0"/>
                  <a:t> = 1.  Average magnetisation was calculated using</a:t>
                </a:r>
              </a:p>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&lt;</m:t>
                      </m:r>
                      <m:r>
                        <a:rPr lang="en-GB" sz="1600" b="0" i="1" smtClean="0">
                          <a:latin typeface="Cambria Math" panose="02040503050406030204" pitchFamily="18" charset="0"/>
                        </a:rPr>
                        <m:t>𝑚</m:t>
                      </m:r>
                      <m:r>
                        <a:rPr lang="en-GB" sz="1600" b="0" i="1" smtClean="0">
                          <a:latin typeface="Cambria Math" panose="02040503050406030204" pitchFamily="18" charset="0"/>
                        </a:rPr>
                        <m:t>&gt; =</m:t>
                      </m:r>
                      <m:f>
                        <m:fPr>
                          <m:ctrlPr>
                            <a:rPr lang="en-GB" sz="1600" b="0" i="1" smtClean="0">
                              <a:latin typeface="Cambria Math" panose="02040503050406030204" pitchFamily="18" charset="0"/>
                            </a:rPr>
                          </m:ctrlPr>
                        </m:fPr>
                        <m:num>
                          <m:r>
                            <a:rPr lang="en-GB" sz="1600" b="0" i="1" smtClean="0">
                              <a:latin typeface="Cambria Math" panose="02040503050406030204" pitchFamily="18" charset="0"/>
                            </a:rPr>
                            <m:t>1</m:t>
                          </m:r>
                        </m:num>
                        <m:den>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𝑁</m:t>
                              </m:r>
                            </m:e>
                            <m:sub>
                              <m:r>
                                <a:rPr lang="en-GB" sz="1600" b="0" i="1" smtClean="0">
                                  <a:latin typeface="Cambria Math" panose="02040503050406030204" pitchFamily="18" charset="0"/>
                                </a:rPr>
                                <m:t>𝑥</m:t>
                              </m:r>
                            </m:sub>
                          </m:sSub>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𝑁</m:t>
                              </m:r>
                            </m:e>
                            <m:sub>
                              <m:r>
                                <a:rPr lang="en-GB" sz="1600" b="0" i="1" smtClean="0">
                                  <a:latin typeface="Cambria Math" panose="02040503050406030204" pitchFamily="18" charset="0"/>
                                </a:rPr>
                                <m:t>𝑦</m:t>
                              </m:r>
                            </m:sub>
                          </m:sSub>
                        </m:den>
                      </m:f>
                      <m:nary>
                        <m:naryPr>
                          <m:chr m:val="∑"/>
                          <m:supHide m:val="on"/>
                          <m:ctrlPr>
                            <a:rPr lang="en-GB" sz="1600" b="0" i="1" smtClean="0">
                              <a:latin typeface="Cambria Math" panose="02040503050406030204" pitchFamily="18" charset="0"/>
                            </a:rPr>
                          </m:ctrlPr>
                        </m:naryPr>
                        <m:sub>
                          <m:r>
                            <a:rPr lang="en-GB" sz="1600" b="0" i="1" smtClean="0">
                              <a:latin typeface="Cambria Math" panose="02040503050406030204" pitchFamily="18" charset="0"/>
                            </a:rPr>
                            <m:t>𝛼</m:t>
                          </m:r>
                        </m:sub>
                        <m:sup/>
                        <m:e>
                          <m:sSub>
                            <m:sSubPr>
                              <m:ctrlPr>
                                <a:rPr lang="en-GB" sz="1600" b="0" i="1" smtClean="0">
                                  <a:latin typeface="Cambria Math" panose="02040503050406030204" pitchFamily="18" charset="0"/>
                                </a:rPr>
                              </m:ctrlPr>
                            </m:sSubPr>
                            <m:e>
                              <m:r>
                                <a:rPr lang="en-GB" sz="1600" b="0" i="1" smtClean="0">
                                  <a:latin typeface="Cambria Math" panose="02040503050406030204" pitchFamily="18" charset="0"/>
                                </a:rPr>
                                <m:t>𝑆</m:t>
                              </m:r>
                            </m:e>
                            <m:sub>
                              <m:r>
                                <a:rPr lang="en-GB" sz="1600" b="0" i="1" smtClean="0">
                                  <a:latin typeface="Cambria Math" panose="02040503050406030204" pitchFamily="18" charset="0"/>
                                </a:rPr>
                                <m:t>𝛼</m:t>
                              </m:r>
                            </m:sub>
                          </m:sSub>
                        </m:e>
                      </m:nary>
                    </m:oMath>
                  </m:oMathPara>
                </a14:m>
                <a:endParaRPr lang="en-GB" sz="1600" dirty="0"/>
              </a:p>
              <a:p>
                <a:r>
                  <a:rPr lang="en-GB" sz="1600" dirty="0"/>
                  <a:t>Insets show lattice at sweeps 0, 5 and 30,  further illustrating the rapid evolution into alignment with the B field</a:t>
                </a:r>
              </a:p>
              <a:p>
                <a:endParaRPr lang="en-GB" dirty="0"/>
              </a:p>
            </p:txBody>
          </p:sp>
        </mc:Choice>
        <mc:Fallback>
          <p:sp>
            <p:nvSpPr>
              <p:cNvPr id="3" name="TextBox 2">
                <a:extLst>
                  <a:ext uri="{FF2B5EF4-FFF2-40B4-BE49-F238E27FC236}">
                    <a16:creationId xmlns:a16="http://schemas.microsoft.com/office/drawing/2014/main" id="{53AFA293-A71E-512D-3E1D-64A21FB3F51D}"/>
                  </a:ext>
                </a:extLst>
              </p:cNvPr>
              <p:cNvSpPr txBox="1">
                <a:spLocks noRot="1" noChangeAspect="1" noMove="1" noResize="1" noEditPoints="1" noAdjustHandles="1" noChangeArrowheads="1" noChangeShapeType="1" noTextEdit="1"/>
              </p:cNvSpPr>
              <p:nvPr/>
            </p:nvSpPr>
            <p:spPr>
              <a:xfrm>
                <a:off x="15296904" y="11775033"/>
                <a:ext cx="5883278" cy="2444131"/>
              </a:xfrm>
              <a:prstGeom prst="rect">
                <a:avLst/>
              </a:prstGeom>
              <a:blipFill>
                <a:blip r:embed="rId6"/>
                <a:stretch>
                  <a:fillRect l="-518" t="-748" r="-311"/>
                </a:stretch>
              </a:blipFill>
            </p:spPr>
            <p:txBody>
              <a:bodyPr/>
              <a:lstStyle/>
              <a:p>
                <a:r>
                  <a:rPr lang="en-GB">
                    <a:noFill/>
                  </a:rPr>
                  <a:t> </a:t>
                </a:r>
              </a:p>
            </p:txBody>
          </p:sp>
        </mc:Fallback>
      </mc:AlternateContent>
      <p:sp>
        <p:nvSpPr>
          <p:cNvPr id="20" name="TextBox 19">
            <a:extLst>
              <a:ext uri="{FF2B5EF4-FFF2-40B4-BE49-F238E27FC236}">
                <a16:creationId xmlns:a16="http://schemas.microsoft.com/office/drawing/2014/main" id="{4F9A5746-27F8-EFCA-05FF-1E109DCC0212}"/>
              </a:ext>
            </a:extLst>
          </p:cNvPr>
          <p:cNvSpPr txBox="1"/>
          <p:nvPr/>
        </p:nvSpPr>
        <p:spPr>
          <a:xfrm>
            <a:off x="15094989" y="2497578"/>
            <a:ext cx="595630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Fig. 2 shows the average magnetisation as a function of sweeps, for  a 32x32 lattice with B = -0.05 and J = 0.5.</a:t>
            </a:r>
          </a:p>
          <a:p>
            <a:pPr marL="285750" indent="-285750">
              <a:buFont typeface="Arial" panose="020B0604020202020204" pitchFamily="34" charset="0"/>
              <a:buChar char="•"/>
            </a:pPr>
            <a:r>
              <a:rPr lang="en-GB" dirty="0"/>
              <a:t> We define the steady state region as the point where the running average magnetisation doesn’t fluctuate by more than 5% of the difference between the initial and final value.</a:t>
            </a:r>
            <a:endParaRPr lang="en-GB" dirty="0">
              <a:solidFill>
                <a:srgbClr val="FF0000"/>
              </a:solidFill>
            </a:endParaRPr>
          </a:p>
          <a:p>
            <a:pPr marL="285750" indent="-285750">
              <a:buFont typeface="Arial" panose="020B0604020202020204" pitchFamily="34" charset="0"/>
              <a:buChar char="•"/>
            </a:pPr>
            <a:r>
              <a:rPr lang="en-GB" dirty="0"/>
              <a:t>Average magnetisation predicted by my simulation, Mean Field theory[] and an Ansatz approach  []is shown in table 1</a:t>
            </a:r>
          </a:p>
        </p:txBody>
      </p:sp>
      <p:sp>
        <p:nvSpPr>
          <p:cNvPr id="21" name="TextBox 20">
            <a:extLst>
              <a:ext uri="{FF2B5EF4-FFF2-40B4-BE49-F238E27FC236}">
                <a16:creationId xmlns:a16="http://schemas.microsoft.com/office/drawing/2014/main" id="{6C5F127B-7388-E101-599F-7E105A613D22}"/>
              </a:ext>
            </a:extLst>
          </p:cNvPr>
          <p:cNvSpPr txBox="1"/>
          <p:nvPr/>
        </p:nvSpPr>
        <p:spPr>
          <a:xfrm>
            <a:off x="15245864" y="14139191"/>
            <a:ext cx="5883278" cy="1051057"/>
          </a:xfrm>
          <a:prstGeom prst="rect">
            <a:avLst/>
          </a:prstGeom>
          <a:noFill/>
        </p:spPr>
        <p:txBody>
          <a:bodyPr wrap="square" rtlCol="0">
            <a:spAutoFit/>
          </a:bodyPr>
          <a:lstStyle/>
          <a:p>
            <a:pPr marL="228600" indent="-228600">
              <a:buAutoNum type="arabicPeriod"/>
            </a:pPr>
            <a:r>
              <a:rPr lang="de-DE" sz="880" dirty="0"/>
              <a:t>Ising, E. Beitrag zur Theorie des Ferromagnetismus. </a:t>
            </a:r>
            <a:r>
              <a:rPr lang="de-DE" sz="880" i="1" dirty="0"/>
              <a:t>Z. Physik</a:t>
            </a:r>
            <a:r>
              <a:rPr lang="de-DE" sz="880" dirty="0"/>
              <a:t> </a:t>
            </a:r>
            <a:r>
              <a:rPr lang="de-DE" sz="880" b="1" dirty="0"/>
              <a:t>31</a:t>
            </a:r>
            <a:r>
              <a:rPr lang="de-DE" sz="880" dirty="0"/>
              <a:t>, 253–258 (1925). </a:t>
            </a:r>
            <a:r>
              <a:rPr lang="de-DE" sz="880" dirty="0">
                <a:hlinkClick r:id="rId7"/>
              </a:rPr>
              <a:t>https://doi.org/10.1007/BF02980577</a:t>
            </a:r>
            <a:endParaRPr lang="de-DE" sz="880" dirty="0"/>
          </a:p>
          <a:p>
            <a:pPr marL="228600" indent="-228600">
              <a:buAutoNum type="arabicPeriod"/>
            </a:pPr>
            <a:r>
              <a:rPr lang="en-GB" sz="880" dirty="0"/>
              <a:t>Onsager, L. Crystal Statistics. I. A Two-Dimensional Model with an Order-Disorder Transition. </a:t>
            </a:r>
            <a:r>
              <a:rPr lang="en-GB" sz="880" i="1" dirty="0"/>
              <a:t>Phys. Rev.</a:t>
            </a:r>
            <a:r>
              <a:rPr lang="en-GB" sz="880" dirty="0"/>
              <a:t> </a:t>
            </a:r>
            <a:r>
              <a:rPr lang="en-GB" sz="880" b="1" dirty="0"/>
              <a:t>65</a:t>
            </a:r>
            <a:r>
              <a:rPr lang="en-GB" sz="880" dirty="0"/>
              <a:t>, 117–149 (1944). </a:t>
            </a:r>
            <a:r>
              <a:rPr lang="en-GB" sz="880" dirty="0">
                <a:hlinkClick r:id="rId8"/>
              </a:rPr>
              <a:t>https://doi.org/10.1103/PhysRev.65.117</a:t>
            </a:r>
            <a:endParaRPr lang="en-GB" sz="880" dirty="0"/>
          </a:p>
          <a:p>
            <a:pPr marL="228600" indent="-228600">
              <a:buAutoNum type="arabicPeriod"/>
            </a:pPr>
            <a:r>
              <a:rPr lang="en-GB" sz="880" dirty="0"/>
              <a:t>Metropolis, N., Rosenbluth, A., Rosenbluth, M., Teller, A., and Teller, E. (1953). Equations of state calculations by fast computing machines. J. Chem. Phys., 21(6): 10871092.</a:t>
            </a:r>
          </a:p>
          <a:p>
            <a:r>
              <a:rPr lang="en-GB" sz="880" dirty="0"/>
              <a:t>Generative AI in the form of ChatGPT was occasionally used to improve clarity of writing only. </a:t>
            </a:r>
          </a:p>
        </p:txBody>
      </p:sp>
      <p:sp>
        <p:nvSpPr>
          <p:cNvPr id="30" name="TextBox 29">
            <a:extLst>
              <a:ext uri="{FF2B5EF4-FFF2-40B4-BE49-F238E27FC236}">
                <a16:creationId xmlns:a16="http://schemas.microsoft.com/office/drawing/2014/main" id="{77367100-8E9B-39E5-F962-3C147722C381}"/>
              </a:ext>
            </a:extLst>
          </p:cNvPr>
          <p:cNvSpPr txBox="1"/>
          <p:nvPr/>
        </p:nvSpPr>
        <p:spPr>
          <a:xfrm>
            <a:off x="19842390" y="13041164"/>
            <a:ext cx="1000871" cy="369332"/>
          </a:xfrm>
          <a:prstGeom prst="rect">
            <a:avLst/>
          </a:prstGeom>
          <a:noFill/>
        </p:spPr>
        <p:txBody>
          <a:bodyPr wrap="square">
            <a:spAutoFit/>
          </a:bodyPr>
          <a:lstStyle/>
          <a:p>
            <a:r>
              <a:rPr lang="en-GB" sz="1800" dirty="0"/>
              <a:t> </a:t>
            </a:r>
            <a:r>
              <a:rPr lang="en-GB" sz="1800" dirty="0">
                <a:latin typeface="Cambria Math" panose="02040503050406030204" pitchFamily="18" charset="0"/>
                <a:ea typeface="Cambria Math" panose="02040503050406030204" pitchFamily="18" charset="0"/>
              </a:rPr>
              <a:t>(4)</a:t>
            </a:r>
          </a:p>
        </p:txBody>
      </p:sp>
      <p:sp>
        <p:nvSpPr>
          <p:cNvPr id="6" name="Rectangle 5">
            <a:extLst>
              <a:ext uri="{FF2B5EF4-FFF2-40B4-BE49-F238E27FC236}">
                <a16:creationId xmlns:a16="http://schemas.microsoft.com/office/drawing/2014/main" id="{A651CE81-0957-863C-0363-890DD3E0D739}"/>
              </a:ext>
            </a:extLst>
          </p:cNvPr>
          <p:cNvSpPr/>
          <p:nvPr/>
        </p:nvSpPr>
        <p:spPr>
          <a:xfrm>
            <a:off x="320454" y="1816764"/>
            <a:ext cx="6972300" cy="604058"/>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Summary</a:t>
            </a:r>
          </a:p>
        </p:txBody>
      </p:sp>
      <p:sp>
        <p:nvSpPr>
          <p:cNvPr id="9" name="Rectangle 8">
            <a:extLst>
              <a:ext uri="{FF2B5EF4-FFF2-40B4-BE49-F238E27FC236}">
                <a16:creationId xmlns:a16="http://schemas.microsoft.com/office/drawing/2014/main" id="{3F43D95C-852C-7E22-626D-C4071CEA5495}"/>
              </a:ext>
            </a:extLst>
          </p:cNvPr>
          <p:cNvSpPr/>
          <p:nvPr/>
        </p:nvSpPr>
        <p:spPr>
          <a:xfrm>
            <a:off x="320454" y="3753447"/>
            <a:ext cx="6972300" cy="757570"/>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40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4F788B51-F149-BA54-A405-5E6AAD32DB23}"/>
              </a:ext>
            </a:extLst>
          </p:cNvPr>
          <p:cNvSpPr txBox="1"/>
          <p:nvPr/>
        </p:nvSpPr>
        <p:spPr>
          <a:xfrm>
            <a:off x="398303" y="4580921"/>
            <a:ext cx="7056132" cy="2862322"/>
          </a:xfrm>
          <a:prstGeom prst="rect">
            <a:avLst/>
          </a:prstGeom>
          <a:noFill/>
        </p:spPr>
        <p:txBody>
          <a:bodyPr wrap="square" rtlCol="0">
            <a:spAutoFit/>
          </a:bodyPr>
          <a:lstStyle/>
          <a:p>
            <a:r>
              <a:rPr lang="en-GB" dirty="0"/>
              <a:t>Magnetism has long been central to technology, from early compasses to modern data storage. Many models successfully described ferromagnetism, such as Mean Field Theory (MFT) and the Heisenberg model, but the Ising model stands out for its simplicity and analytical tractability. Despite being simple, it captures key phenomena, such as phase transitions and critical temperatures, and is widely used even outside of physics e.g. to model financial markets. In this project, the Ising model is used to calculate the average magnetisation (at steady state) of a lattice when placed in an external field </a:t>
            </a:r>
          </a:p>
        </p:txBody>
      </p:sp>
      <p:sp>
        <p:nvSpPr>
          <p:cNvPr id="24" name="TextBox 23">
            <a:extLst>
              <a:ext uri="{FF2B5EF4-FFF2-40B4-BE49-F238E27FC236}">
                <a16:creationId xmlns:a16="http://schemas.microsoft.com/office/drawing/2014/main" id="{489F818F-4656-72CE-B770-19483B95FCDF}"/>
              </a:ext>
            </a:extLst>
          </p:cNvPr>
          <p:cNvSpPr txBox="1"/>
          <p:nvPr/>
        </p:nvSpPr>
        <p:spPr>
          <a:xfrm>
            <a:off x="11144688" y="2038330"/>
            <a:ext cx="2997199" cy="3139321"/>
          </a:xfrm>
          <a:prstGeom prst="rect">
            <a:avLst/>
          </a:prstGeom>
          <a:noFill/>
        </p:spPr>
        <p:txBody>
          <a:bodyPr wrap="square" rtlCol="0">
            <a:spAutoFit/>
          </a:bodyPr>
          <a:lstStyle/>
          <a:p>
            <a:r>
              <a:rPr lang="en-GB" dirty="0"/>
              <a:t>Fig. 1: Periodic lattice (i.e. edges wrap around) with randomly assigned spins. White = spin-up, Black = spin-down . </a:t>
            </a:r>
          </a:p>
          <a:p>
            <a:r>
              <a:rPr lang="en-GB" dirty="0"/>
              <a:t>The four nearest neighbours of the centre square are shown using red borders and numbers.</a:t>
            </a:r>
          </a:p>
          <a:p>
            <a:endParaRPr lang="en-GB" dirty="0"/>
          </a:p>
          <a:p>
            <a:endParaRPr lang="en-GB" dirty="0"/>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F588785F-9A79-D542-224A-0E97AF19505F}"/>
                  </a:ext>
                </a:extLst>
              </p:cNvPr>
              <p:cNvSpPr txBox="1"/>
              <p:nvPr/>
            </p:nvSpPr>
            <p:spPr>
              <a:xfrm>
                <a:off x="7902573" y="6074104"/>
                <a:ext cx="6594475" cy="3534557"/>
              </a:xfrm>
              <a:prstGeom prst="rect">
                <a:avLst/>
              </a:prstGeom>
              <a:noFill/>
            </p:spPr>
            <p:txBody>
              <a:bodyPr wrap="square">
                <a:spAutoFit/>
              </a:bodyPr>
              <a:lstStyle/>
              <a:p>
                <a:pPr marL="285750" indent="-285750">
                  <a:buFont typeface="Arial" panose="020B0604020202020204" pitchFamily="34" charset="0"/>
                  <a:buChar char="•"/>
                </a:pPr>
                <a:r>
                  <a:rPr lang="en-GB" sz="1800" dirty="0"/>
                  <a:t>Even using a small lattice, checking each possible state configuration would be impossible</a:t>
                </a:r>
                <a:r>
                  <a:rPr lang="en-GB" dirty="0"/>
                  <a: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sup>
                    </m:sSup>
                    <m:r>
                      <a:rPr lang="en-GB" b="0" i="1" smtClean="0">
                        <a:latin typeface="Cambria Math" panose="02040503050406030204" pitchFamily="18" charset="0"/>
                      </a:rPr>
                      <m:t> </m:t>
                    </m:r>
                  </m:oMath>
                </a14:m>
                <a:r>
                  <a:rPr lang="en-GB" sz="1800" dirty="0"/>
                  <a:t>configurations)</a:t>
                </a:r>
              </a:p>
              <a:p>
                <a:pPr marL="285750" indent="-285750">
                  <a:buFont typeface="Arial" panose="020B0604020202020204" pitchFamily="34" charset="0"/>
                  <a:buChar char="•"/>
                </a:pPr>
                <a:r>
                  <a:rPr lang="en-GB" sz="1800" dirty="0"/>
                  <a:t>To address this, we remove configurations that are extremely unlikely</a:t>
                </a:r>
                <a:r>
                  <a:rPr lang="en-GB" dirty="0"/>
                  <a:t> </a:t>
                </a:r>
                <a:r>
                  <a:rPr lang="en-GB" sz="1800" dirty="0"/>
                  <a:t>by considering the partition function, </a:t>
                </a:r>
                <a14:m>
                  <m:oMath xmlns:m="http://schemas.openxmlformats.org/officeDocument/2006/math">
                    <m:r>
                      <a:rPr lang="en-GB" sz="1800" b="0" i="1" smtClean="0">
                        <a:latin typeface="Cambria Math" panose="02040503050406030204" pitchFamily="18" charset="0"/>
                      </a:rPr>
                      <m:t>𝑍</m:t>
                    </m:r>
                  </m:oMath>
                </a14:m>
                <a:r>
                  <a:rPr lang="en-GB" sz="1800" dirty="0"/>
                  <a:t>. </a:t>
                </a:r>
              </a:p>
              <a:p>
                <a:pPr marL="285750" indent="-285750">
                  <a:buFont typeface="Arial" panose="020B0604020202020204" pitchFamily="34" charset="0"/>
                  <a:buChar char="•"/>
                </a:pPr>
                <a:r>
                  <a:rPr lang="en-GB" sz="1800" dirty="0"/>
                  <a:t>This helps us determine which  states are most probable at a given temperature, so we can restrict our consideration to these configurations only. </a:t>
                </a:r>
              </a:p>
              <a:p>
                <a:pPr marL="285750" indent="-285750">
                  <a:buFont typeface="Arial" panose="020B0604020202020204" pitchFamily="34" charset="0"/>
                  <a:buChar char="•"/>
                </a:pPr>
                <a:r>
                  <a:rPr lang="en-GB" sz="1800" dirty="0"/>
                  <a:t>We define the partition function as </a:t>
                </a:r>
              </a:p>
              <a:p>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𝑍</m:t>
                      </m:r>
                      <m:r>
                        <a:rPr lang="en-GB" sz="1800" b="0" i="1" smtClean="0">
                          <a:latin typeface="Cambria Math" panose="02040503050406030204" pitchFamily="18" charset="0"/>
                        </a:rPr>
                        <m:t>= </m:t>
                      </m:r>
                      <m:nary>
                        <m:naryPr>
                          <m:chr m:val="∑"/>
                          <m:supHide m:val="on"/>
                          <m:ctrlPr>
                            <a:rPr lang="en-GB" sz="1800" b="0" i="1" smtClean="0">
                              <a:latin typeface="Cambria Math" panose="02040503050406030204" pitchFamily="18" charset="0"/>
                            </a:rPr>
                          </m:ctrlPr>
                        </m:naryPr>
                        <m:sub>
                          <m:r>
                            <m:rPr>
                              <m:brk m:alnAt="7"/>
                            </m:rPr>
                            <a:rPr lang="en-GB" sz="1800" b="0" i="1" smtClean="0">
                              <a:latin typeface="Cambria Math" panose="02040503050406030204" pitchFamily="18" charset="0"/>
                            </a:rPr>
                            <m:t>𝑖</m:t>
                          </m:r>
                        </m:sub>
                        <m:sup/>
                        <m:e>
                          <m:r>
                            <m:rPr>
                              <m:sty m:val="p"/>
                            </m:rPr>
                            <a:rPr lang="en-GB" sz="1800" b="0" i="0" smtClean="0">
                              <a:latin typeface="Cambria Math" panose="02040503050406030204" pitchFamily="18" charset="0"/>
                            </a:rPr>
                            <m:t>exp</m:t>
                          </m:r>
                          <m:r>
                            <a:rPr lang="en-GB" sz="1800" b="0" i="1" smtClean="0">
                              <a:latin typeface="Cambria Math" panose="02040503050406030204" pitchFamily="18" charset="0"/>
                            </a:rPr>
                            <m:t>⁡</m:t>
                          </m:r>
                          <m:f>
                            <m:fPr>
                              <m:type m:val="skw"/>
                              <m:ctrlPr>
                                <a:rPr lang="en-GB" sz="1800" b="0" i="1" smtClean="0">
                                  <a:latin typeface="Cambria Math" panose="02040503050406030204" pitchFamily="18" charset="0"/>
                                </a:rPr>
                              </m:ctrlPr>
                            </m:fPr>
                            <m:num>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num>
                            <m:den>
                              <m:r>
                                <a:rPr lang="en-GB" sz="1800" b="0" i="1" smtClean="0">
                                  <a:latin typeface="Cambria Math" panose="02040503050406030204" pitchFamily="18" charset="0"/>
                                </a:rPr>
                                <m:t>𝑘𝑇</m:t>
                              </m:r>
                            </m:den>
                          </m:f>
                        </m:e>
                      </m:nary>
                      <m:r>
                        <a:rPr lang="en-GB" sz="1800" b="0" i="0" smtClean="0">
                          <a:latin typeface="Cambria Math" panose="02040503050406030204" pitchFamily="18" charset="0"/>
                        </a:rPr>
                        <m:t>,</m:t>
                      </m:r>
                    </m:oMath>
                  </m:oMathPara>
                </a14:m>
                <a:endParaRPr lang="en-GB" sz="1800" dirty="0"/>
              </a:p>
              <a:p>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a:t>
                </a:r>
              </a:p>
            </p:txBody>
          </p:sp>
        </mc:Choice>
        <mc:Fallback>
          <p:sp>
            <p:nvSpPr>
              <p:cNvPr id="38" name="TextBox 37">
                <a:extLst>
                  <a:ext uri="{FF2B5EF4-FFF2-40B4-BE49-F238E27FC236}">
                    <a16:creationId xmlns:a16="http://schemas.microsoft.com/office/drawing/2014/main" id="{F588785F-9A79-D542-224A-0E97AF19505F}"/>
                  </a:ext>
                </a:extLst>
              </p:cNvPr>
              <p:cNvSpPr txBox="1">
                <a:spLocks noRot="1" noChangeAspect="1" noMove="1" noResize="1" noEditPoints="1" noAdjustHandles="1" noChangeArrowheads="1" noChangeShapeType="1" noTextEdit="1"/>
              </p:cNvSpPr>
              <p:nvPr/>
            </p:nvSpPr>
            <p:spPr>
              <a:xfrm>
                <a:off x="7902573" y="6074104"/>
                <a:ext cx="6594475" cy="3534557"/>
              </a:xfrm>
              <a:prstGeom prst="rect">
                <a:avLst/>
              </a:prstGeom>
              <a:blipFill>
                <a:blip r:embed="rId9"/>
                <a:stretch>
                  <a:fillRect l="-739" t="-690" r="-1201" b="-2069"/>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F851E8B-ECE3-51AC-8FF3-91121DB9E472}"/>
                  </a:ext>
                </a:extLst>
              </p:cNvPr>
              <p:cNvSpPr txBox="1"/>
              <p:nvPr/>
            </p:nvSpPr>
            <p:spPr>
              <a:xfrm>
                <a:off x="7792329" y="10370922"/>
                <a:ext cx="6704718" cy="4801443"/>
              </a:xfrm>
              <a:prstGeom prst="rect">
                <a:avLst/>
              </a:prstGeom>
              <a:noFill/>
            </p:spPr>
            <p:txBody>
              <a:bodyPr wrap="square">
                <a:spAutoFit/>
              </a:bodyPr>
              <a:lstStyle/>
              <a:p>
                <a:pPr marL="285750" indent="-285750">
                  <a:buFont typeface="Arial" panose="020B0604020202020204" pitchFamily="34" charset="0"/>
                  <a:buChar char="•"/>
                </a:pPr>
                <a:r>
                  <a:rPr lang="en-GB" dirty="0"/>
                  <a:t>To update the lattice, we flip a chosen spin and calculate the resulting energy change, </a:t>
                </a:r>
                <a14:m>
                  <m:oMath xmlns:m="http://schemas.openxmlformats.org/officeDocument/2006/math">
                    <m:r>
                      <m:rPr>
                        <m:sty m:val="p"/>
                      </m:rPr>
                      <a:rPr lang="en-GB">
                        <a:latin typeface="Cambria Math" panose="02040503050406030204" pitchFamily="18" charset="0"/>
                        <a:cs typeface="Times New Roman" panose="02020603050405020304" pitchFamily="18" charset="0"/>
                      </a:rPr>
                      <m:t>Δ</m:t>
                    </m:r>
                    <m:r>
                      <a:rPr lang="en-GB" i="1">
                        <a:latin typeface="Cambria Math" panose="02040503050406030204" pitchFamily="18" charset="0"/>
                        <a:cs typeface="Times New Roman" panose="02020603050405020304" pitchFamily="18" charset="0"/>
                      </a:rPr>
                      <m:t>𝐸</m:t>
                    </m:r>
                    <m:r>
                      <a:rPr lang="en-GB" i="1">
                        <a:latin typeface="Cambria Math" panose="02040503050406030204" pitchFamily="18" charset="0"/>
                        <a:cs typeface="Times New Roman" panose="02020603050405020304" pitchFamily="18" charset="0"/>
                      </a:rPr>
                      <m:t>=−2</m:t>
                    </m:r>
                    <m:d>
                      <m:dPr>
                        <m:begChr m:val="["/>
                        <m:endChr m:val="]"/>
                        <m:ctrlPr>
                          <a:rPr lang="en-GB" i="1">
                            <a:latin typeface="Cambria Math" panose="02040503050406030204" pitchFamily="18" charset="0"/>
                            <a:cs typeface="Times New Roman" panose="02020603050405020304" pitchFamily="18" charset="0"/>
                          </a:rPr>
                        </m:ctrlPr>
                      </m:dPr>
                      <m:e>
                        <m:r>
                          <a:rPr lang="en-GB" i="1">
                            <a:latin typeface="Cambria Math" panose="02040503050406030204" pitchFamily="18" charset="0"/>
                            <a:cs typeface="Times New Roman" panose="02020603050405020304" pitchFamily="18" charset="0"/>
                          </a:rPr>
                          <m:t>𝐽𝑓</m:t>
                        </m:r>
                        <m:r>
                          <a:rPr lang="en-GB" i="1">
                            <a:latin typeface="Cambria Math" panose="02040503050406030204" pitchFamily="18" charset="0"/>
                            <a:cs typeface="Times New Roman" panose="02020603050405020304" pitchFamily="18" charset="0"/>
                          </a:rPr>
                          <m:t>+</m:t>
                        </m:r>
                        <m:r>
                          <a:rPr lang="en-GB" i="1">
                            <a:latin typeface="Cambria Math" panose="02040503050406030204" pitchFamily="18" charset="0"/>
                            <a:cs typeface="Times New Roman" panose="02020603050405020304" pitchFamily="18" charset="0"/>
                          </a:rPr>
                          <m:t>𝐵</m:t>
                        </m:r>
                      </m:e>
                    </m:d>
                    <m:sSub>
                      <m:sSubPr>
                        <m:ctrlPr>
                          <a:rPr lang="en-GB" i="1">
                            <a:latin typeface="Cambria Math" panose="02040503050406030204" pitchFamily="18" charset="0"/>
                            <a:cs typeface="Times New Roman" panose="02020603050405020304" pitchFamily="18" charset="0"/>
                          </a:rPr>
                        </m:ctrlPr>
                      </m:sSubPr>
                      <m:e>
                        <m:r>
                          <a:rPr lang="en-GB" i="1">
                            <a:latin typeface="Cambria Math" panose="02040503050406030204" pitchFamily="18" charset="0"/>
                            <a:cs typeface="Times New Roman" panose="02020603050405020304" pitchFamily="18" charset="0"/>
                          </a:rPr>
                          <m:t>𝑆</m:t>
                        </m:r>
                      </m:e>
                      <m:sub>
                        <m:r>
                          <m:rPr>
                            <m:sty m:val="p"/>
                          </m:rPr>
                          <a:rPr lang="en-GB" i="1">
                            <a:latin typeface="Cambria Math" panose="02040503050406030204" pitchFamily="18" charset="0"/>
                            <a:cs typeface="Times New Roman" panose="02020603050405020304" pitchFamily="18" charset="0"/>
                          </a:rPr>
                          <m:t>α</m:t>
                        </m:r>
                      </m:sub>
                    </m:sSub>
                    <m:r>
                      <a:rPr lang="en-GB" b="0" i="0" smtClean="0">
                        <a:latin typeface="Cambria Math" panose="02040503050406030204" pitchFamily="18" charset="0"/>
                        <a:cs typeface="Times New Roman" panose="02020603050405020304" pitchFamily="18" charset="0"/>
                      </a:rPr>
                      <m:t>.</m:t>
                    </m:r>
                  </m:oMath>
                </a14:m>
                <a:r>
                  <a:rPr lang="en-GB" dirty="0"/>
                  <a:t> We use this to gauge how likely this flip is to occur.</a:t>
                </a:r>
              </a:p>
              <a:p>
                <a:pPr marL="742950" lvl="1" indent="-285750">
                  <a:buFont typeface="Arial" panose="020B0604020202020204" pitchFamily="34" charset="0"/>
                  <a:buChar char="•"/>
                </a:pPr>
                <a:r>
                  <a:rPr lang="en-GB" dirty="0"/>
                  <a:t>f is the sum of the four neighbouring spins.</a:t>
                </a:r>
              </a:p>
              <a:p>
                <a:pPr marL="742950" lvl="1" indent="-285750">
                  <a:buFont typeface="Arial" panose="020B0604020202020204" pitchFamily="34" charset="0"/>
                  <a:buChar char="•"/>
                </a:pPr>
                <a:r>
                  <a:rPr lang="en-GB" dirty="0"/>
                  <a:t> The negative sign ensures that aligned spins correspond to lower energy.</a:t>
                </a:r>
              </a:p>
              <a:p>
                <a:pPr marL="285750" indent="-285750">
                  <a:buFont typeface="Arial" panose="020B0604020202020204" pitchFamily="34" charset="0"/>
                  <a:buChar char="•"/>
                </a:pPr>
                <a:r>
                  <a:rPr lang="en-GB" dirty="0"/>
                  <a:t>We then decide whether to keep the flip using the Metropolis criterion:</a:t>
                </a:r>
              </a:p>
              <a:p>
                <a:pPr marL="742950" lvl="1" indent="-285750">
                  <a:buFont typeface="Wingdings" panose="05000000000000000000" pitchFamily="2" charset="2"/>
                  <a:buChar char="v"/>
                </a:pPr>
                <a:r>
                  <a:rPr lang="en-GB" dirty="0">
                    <a:cs typeface="Times New Roman" panose="02020603050405020304" pitchFamily="18" charset="0"/>
                  </a:rPr>
                  <a:t>If </a:t>
                </a:r>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exp</m:t>
                        </m:r>
                      </m:fName>
                      <m:e>
                        <m:d>
                          <m:dPr>
                            <m:ctrlPr>
                              <a:rPr lang="en-GB" i="1">
                                <a:latin typeface="Cambria Math" panose="02040503050406030204" pitchFamily="18" charset="0"/>
                              </a:rPr>
                            </m:ctrlPr>
                          </m:dPr>
                          <m:e>
                            <m:f>
                              <m:fPr>
                                <m:type m:val="skw"/>
                                <m:ctrlPr>
                                  <a:rPr lang="en-GB" i="1">
                                    <a:latin typeface="Cambria Math" panose="02040503050406030204" pitchFamily="18" charset="0"/>
                                  </a:rPr>
                                </m:ctrlPr>
                              </m:fPr>
                              <m:num>
                                <m:r>
                                  <m:rPr>
                                    <m:sty m:val="p"/>
                                  </m:rPr>
                                  <a:rPr lang="en-GB">
                                    <a:latin typeface="Cambria Math" panose="02040503050406030204" pitchFamily="18" charset="0"/>
                                  </a:rPr>
                                  <m:t>Δ</m:t>
                                </m:r>
                                <m:r>
                                  <a:rPr lang="en-GB" i="1">
                                    <a:latin typeface="Cambria Math" panose="02040503050406030204" pitchFamily="18" charset="0"/>
                                  </a:rPr>
                                  <m:t>𝐸</m:t>
                                </m:r>
                              </m:num>
                              <m:den>
                                <m:r>
                                  <a:rPr lang="en-GB" i="1">
                                    <a:latin typeface="Cambria Math" panose="02040503050406030204" pitchFamily="18" charset="0"/>
                                  </a:rPr>
                                  <m:t>𝑘𝑇</m:t>
                                </m:r>
                              </m:den>
                            </m:f>
                          </m:e>
                        </m:d>
                      </m:e>
                    </m:func>
                    <m:r>
                      <a:rPr lang="en-GB" i="1">
                        <a:latin typeface="Cambria Math" panose="02040503050406030204" pitchFamily="18" charset="0"/>
                      </a:rPr>
                      <m:t>&gt;1  </m:t>
                    </m:r>
                  </m:oMath>
                </a14:m>
                <a:r>
                  <a:rPr lang="en-GB" dirty="0">
                    <a:cs typeface="Times New Roman" panose="02020603050405020304" pitchFamily="18" charset="0"/>
                  </a:rPr>
                  <a:t>keep the flipped spin</a:t>
                </a:r>
              </a:p>
              <a:p>
                <a:pPr marL="742950" lvl="1" indent="-285750">
                  <a:buFont typeface="Wingdings" panose="05000000000000000000" pitchFamily="2" charset="2"/>
                  <a:buChar char="v"/>
                </a:pPr>
                <a:r>
                  <a:rPr lang="en-GB" dirty="0"/>
                  <a:t>Otherwise, generate a random number, </a:t>
                </a:r>
                <a14:m>
                  <m:oMath xmlns:m="http://schemas.openxmlformats.org/officeDocument/2006/math">
                    <m:r>
                      <a:rPr lang="en-GB" i="1" dirty="0">
                        <a:latin typeface="Cambria Math" panose="02040503050406030204" pitchFamily="18" charset="0"/>
                      </a:rPr>
                      <m:t>𝑛</m:t>
                    </m:r>
                    <m:r>
                      <a:rPr lang="en-GB" i="1" dirty="0">
                        <a:latin typeface="Cambria Math" panose="02040503050406030204" pitchFamily="18" charset="0"/>
                      </a:rPr>
                      <m:t> </m:t>
                    </m:r>
                    <m:r>
                      <a:rPr lang="en-GB" i="1" dirty="0">
                        <a:latin typeface="Cambria Math" panose="02040503050406030204" pitchFamily="18" charset="0"/>
                      </a:rPr>
                      <m:t>∈ [0,1]</m:t>
                    </m:r>
                  </m:oMath>
                </a14:m>
                <a:r>
                  <a:rPr lang="en-GB" dirty="0">
                    <a:cs typeface="Times New Roman" panose="02020603050405020304" pitchFamily="18" charset="0"/>
                  </a:rPr>
                  <a:t>. </a:t>
                </a:r>
                <a:r>
                  <a:rPr lang="en-GB" dirty="0"/>
                  <a:t>If </a:t>
                </a:r>
                <a:endParaRPr lang="en-GB" i="1" dirty="0">
                  <a:latin typeface="Cambria Math" panose="02040503050406030204" pitchFamily="18" charset="0"/>
                </a:endParaRPr>
              </a:p>
              <a:p>
                <a:pPr lvl="1"/>
                <a14:m>
                  <m:oMath xmlns:m="http://schemas.openxmlformats.org/officeDocument/2006/math">
                    <m:r>
                      <a:rPr lang="en-GB" i="1" dirty="0">
                        <a:latin typeface="Cambria Math" panose="02040503050406030204" pitchFamily="18" charset="0"/>
                      </a:rPr>
                      <m:t>      </m:t>
                    </m:r>
                    <m:r>
                      <m:rPr>
                        <m:sty m:val="p"/>
                      </m:rPr>
                      <a:rPr lang="en-GB" i="1" dirty="0">
                        <a:latin typeface="Cambria Math" panose="02040503050406030204" pitchFamily="18" charset="0"/>
                      </a:rPr>
                      <m:t>exp</m:t>
                    </m:r>
                    <m:r>
                      <a:rPr lang="en-GB" i="1" dirty="0">
                        <a:latin typeface="Cambria Math" panose="02040503050406030204" pitchFamily="18" charset="0"/>
                      </a:rPr>
                      <m:t>⁡(−</m:t>
                    </m:r>
                    <m:r>
                      <m:rPr>
                        <m:sty m:val="p"/>
                      </m:rPr>
                      <a:rPr lang="en-GB" dirty="0">
                        <a:latin typeface="Cambria Math" panose="02040503050406030204" pitchFamily="18" charset="0"/>
                      </a:rPr>
                      <m:t>Δ</m:t>
                    </m:r>
                    <m:r>
                      <a:rPr lang="en-GB" i="1" dirty="0">
                        <a:latin typeface="Cambria Math" panose="02040503050406030204" pitchFamily="18" charset="0"/>
                      </a:rPr>
                      <m:t>𝐸</m:t>
                    </m:r>
                    <m:r>
                      <a:rPr lang="en-GB" i="1" dirty="0">
                        <a:latin typeface="Cambria Math" panose="02040503050406030204" pitchFamily="18" charset="0"/>
                      </a:rPr>
                      <m:t>/</m:t>
                    </m:r>
                    <m:r>
                      <a:rPr lang="en-GB" i="1" dirty="0">
                        <a:latin typeface="Cambria Math" panose="02040503050406030204" pitchFamily="18" charset="0"/>
                      </a:rPr>
                      <m:t>𝑘𝑇</m:t>
                    </m:r>
                    <m:r>
                      <a:rPr lang="en-GB" i="1" dirty="0">
                        <a:latin typeface="Cambria Math" panose="02040503050406030204" pitchFamily="18" charset="0"/>
                      </a:rPr>
                      <m:t>)&gt;</m:t>
                    </m:r>
                    <m:r>
                      <a:rPr lang="en-GB" i="1" dirty="0">
                        <a:latin typeface="Cambria Math" panose="02040503050406030204" pitchFamily="18" charset="0"/>
                      </a:rPr>
                      <m:t>𝑛</m:t>
                    </m:r>
                  </m:oMath>
                </a14:m>
                <a:r>
                  <a:rPr lang="en-GB" dirty="0"/>
                  <a:t>, keep the flip.</a:t>
                </a:r>
              </a:p>
              <a:p>
                <a:pPr marL="742950" lvl="1" indent="-285750">
                  <a:buFont typeface="Wingdings" panose="05000000000000000000" pitchFamily="2" charset="2"/>
                  <a:buChar char="v"/>
                </a:pPr>
                <a:r>
                  <a:rPr lang="en-GB" dirty="0"/>
                  <a:t>If neither condition is met, revert the flip back.</a:t>
                </a:r>
              </a:p>
              <a:p>
                <a:endParaRPr lang="en-GB" dirty="0"/>
              </a:p>
              <a:p>
                <a:r>
                  <a:rPr lang="en-GB" dirty="0"/>
                  <a:t>This procedure is repeated for every lattice point (a full sweep), using periodic boundary conditions. Together, these steps form the Metropolis algorithm [3].</a:t>
                </a:r>
              </a:p>
              <a:p>
                <a:endParaRPr lang="en-GB" sz="1800" dirty="0">
                  <a:cs typeface="Times New Roman" panose="02020603050405020304" pitchFamily="18" charset="0"/>
                </a:endParaRPr>
              </a:p>
            </p:txBody>
          </p:sp>
        </mc:Choice>
        <mc:Fallback>
          <p:sp>
            <p:nvSpPr>
              <p:cNvPr id="40" name="TextBox 39">
                <a:extLst>
                  <a:ext uri="{FF2B5EF4-FFF2-40B4-BE49-F238E27FC236}">
                    <a16:creationId xmlns:a16="http://schemas.microsoft.com/office/drawing/2014/main" id="{1F851E8B-ECE3-51AC-8FF3-91121DB9E472}"/>
                  </a:ext>
                </a:extLst>
              </p:cNvPr>
              <p:cNvSpPr txBox="1">
                <a:spLocks noRot="1" noChangeAspect="1" noMove="1" noResize="1" noEditPoints="1" noAdjustHandles="1" noChangeArrowheads="1" noChangeShapeType="1" noTextEdit="1"/>
              </p:cNvSpPr>
              <p:nvPr/>
            </p:nvSpPr>
            <p:spPr>
              <a:xfrm>
                <a:off x="7792329" y="10370922"/>
                <a:ext cx="6704718" cy="4801443"/>
              </a:xfrm>
              <a:prstGeom prst="rect">
                <a:avLst/>
              </a:prstGeom>
              <a:blipFill>
                <a:blip r:embed="rId10"/>
                <a:stretch>
                  <a:fillRect l="-727" t="-508" r="-1455"/>
                </a:stretch>
              </a:blipFill>
            </p:spPr>
            <p:txBody>
              <a:bodyPr/>
              <a:lstStyle/>
              <a:p>
                <a:r>
                  <a:rPr lang="en-GB">
                    <a:noFill/>
                  </a:rPr>
                  <a:t> </a:t>
                </a:r>
              </a:p>
            </p:txBody>
          </p:sp>
        </mc:Fallback>
      </mc:AlternateContent>
      <p:sp>
        <p:nvSpPr>
          <p:cNvPr id="41" name="TextBox 40">
            <a:extLst>
              <a:ext uri="{FF2B5EF4-FFF2-40B4-BE49-F238E27FC236}">
                <a16:creationId xmlns:a16="http://schemas.microsoft.com/office/drawing/2014/main" id="{8BFDFC13-A009-D7B5-AE22-63CF80C8CA31}"/>
              </a:ext>
            </a:extLst>
          </p:cNvPr>
          <p:cNvSpPr txBox="1"/>
          <p:nvPr/>
        </p:nvSpPr>
        <p:spPr>
          <a:xfrm>
            <a:off x="398303" y="2473589"/>
            <a:ext cx="6894451" cy="1477328"/>
          </a:xfrm>
          <a:prstGeom prst="rect">
            <a:avLst/>
          </a:prstGeom>
          <a:noFill/>
        </p:spPr>
        <p:txBody>
          <a:bodyPr wrap="square" rtlCol="0">
            <a:spAutoFit/>
          </a:bodyPr>
          <a:lstStyle/>
          <a:p>
            <a:pPr marL="285750" indent="-285750">
              <a:buFont typeface="Arial" panose="020B0604020202020204" pitchFamily="34" charset="0"/>
              <a:buChar char="•"/>
            </a:pPr>
            <a:r>
              <a:rPr lang="en-GB" dirty="0"/>
              <a:t>Ferromagnets can be modelled using a simple 2D Ising model. Using this model, and  Monte-Carlo methods (the metropolis algorithm), we determine the average magnetisation in the steady state region and compare to literature values.</a:t>
            </a:r>
          </a:p>
          <a:p>
            <a:endParaRPr lang="en-GB" dirty="0"/>
          </a:p>
        </p:txBody>
      </p:sp>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0450DA4B-A060-81F2-9A9F-9D0F02D43025}"/>
                  </a:ext>
                </a:extLst>
              </p:cNvPr>
              <p:cNvGraphicFramePr>
                <a:graphicFrameLocks noGrp="1"/>
              </p:cNvGraphicFramePr>
              <p:nvPr>
                <p:extLst>
                  <p:ext uri="{D42A27DB-BD31-4B8C-83A1-F6EECF244321}">
                    <p14:modId xmlns:p14="http://schemas.microsoft.com/office/powerpoint/2010/main" val="595223172"/>
                  </p:ext>
                </p:extLst>
              </p:nvPr>
            </p:nvGraphicFramePr>
            <p:xfrm>
              <a:off x="15245863" y="4810492"/>
              <a:ext cx="5597398" cy="1643636"/>
            </p:xfrm>
            <a:graphic>
              <a:graphicData uri="http://schemas.openxmlformats.org/drawingml/2006/table">
                <a:tbl>
                  <a:tblPr firstRow="1" bandRow="1">
                    <a:tableStyleId>{5C22544A-7EE6-4342-B048-85BDC9FD1C3A}</a:tableStyleId>
                  </a:tblPr>
                  <a:tblGrid>
                    <a:gridCol w="2798699">
                      <a:extLst>
                        <a:ext uri="{9D8B030D-6E8A-4147-A177-3AD203B41FA5}">
                          <a16:colId xmlns:a16="http://schemas.microsoft.com/office/drawing/2014/main" val="2898089824"/>
                        </a:ext>
                      </a:extLst>
                    </a:gridCol>
                    <a:gridCol w="2798699">
                      <a:extLst>
                        <a:ext uri="{9D8B030D-6E8A-4147-A177-3AD203B41FA5}">
                          <a16:colId xmlns:a16="http://schemas.microsoft.com/office/drawing/2014/main" val="1112678819"/>
                        </a:ext>
                      </a:extLst>
                    </a:gridCol>
                  </a:tblGrid>
                  <a:tr h="438297">
                    <a:tc>
                      <a:txBody>
                        <a:bodyPr/>
                        <a:lstStyle/>
                        <a:p>
                          <a:r>
                            <a:rPr lang="en-GB" sz="1800" dirty="0"/>
                            <a:t>Model</a:t>
                          </a:r>
                        </a:p>
                      </a:txBody>
                      <a:tcPr/>
                    </a:tc>
                    <a:tc>
                      <a:txBody>
                        <a:bodyPr/>
                        <a:lstStyle/>
                        <a:p>
                          <a:r>
                            <a:rPr lang="en-GB" sz="1800" dirty="0"/>
                            <a:t>Average Magnetisation</a:t>
                          </a:r>
                        </a:p>
                      </a:txBody>
                      <a:tcPr/>
                    </a:tc>
                    <a:extLst>
                      <a:ext uri="{0D108BD9-81ED-4DB2-BD59-A6C34878D82A}">
                        <a16:rowId xmlns:a16="http://schemas.microsoft.com/office/drawing/2014/main" val="3228848662"/>
                      </a:ext>
                    </a:extLst>
                  </a:tr>
                  <a:tr h="129414">
                    <a:tc>
                      <a:txBody>
                        <a:bodyPr/>
                        <a:lstStyle/>
                        <a:p>
                          <a:r>
                            <a:rPr lang="en-GB" sz="1800" dirty="0"/>
                            <a:t>Ising model (simulation)</a:t>
                          </a:r>
                        </a:p>
                      </a:txBody>
                      <a:tcPr/>
                    </a:tc>
                    <a:tc>
                      <a:txBody>
                        <a:bodyPr/>
                        <a:lstStyle/>
                        <a:p>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r>
                                  <a:rPr lang="en-GB" sz="1800" b="0" i="1" smtClean="0">
                                    <a:latin typeface="Cambria Math" panose="02040503050406030204" pitchFamily="18" charset="0"/>
                                  </a:rPr>
                                  <m:t>0.93±</m:t>
                                </m:r>
                              </m:oMath>
                            </m:oMathPara>
                          </a14:m>
                          <a:endParaRPr lang="en-GB" sz="1800" dirty="0"/>
                        </a:p>
                      </a:txBody>
                      <a:tcPr/>
                    </a:tc>
                    <a:extLst>
                      <a:ext uri="{0D108BD9-81ED-4DB2-BD59-A6C34878D82A}">
                        <a16:rowId xmlns:a16="http://schemas.microsoft.com/office/drawing/2014/main" val="2020091684"/>
                      </a:ext>
                    </a:extLst>
                  </a:tr>
                  <a:tr h="0">
                    <a:tc>
                      <a:txBody>
                        <a:bodyPr/>
                        <a:lstStyle/>
                        <a:p>
                          <a:r>
                            <a:rPr lang="en-GB" sz="1800" dirty="0"/>
                            <a:t>Mean Field Theory</a:t>
                          </a:r>
                        </a:p>
                      </a:txBody>
                      <a:tcPr/>
                    </a:tc>
                    <a:tc>
                      <a:txBody>
                        <a:bodyPr/>
                        <a:lstStyle/>
                        <a:p>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r>
                                  <a:rPr lang="en-GB" sz="1800" b="0" i="1" smtClean="0">
                                    <a:latin typeface="Cambria Math" panose="02040503050406030204" pitchFamily="18" charset="0"/>
                                  </a:rPr>
                                  <m:t>0.96</m:t>
                                </m:r>
                              </m:oMath>
                            </m:oMathPara>
                          </a14:m>
                          <a:endParaRPr lang="en-GB" sz="1800" dirty="0"/>
                        </a:p>
                      </a:txBody>
                      <a:tcPr/>
                    </a:tc>
                    <a:extLst>
                      <a:ext uri="{0D108BD9-81ED-4DB2-BD59-A6C34878D82A}">
                        <a16:rowId xmlns:a16="http://schemas.microsoft.com/office/drawing/2014/main" val="4284135551"/>
                      </a:ext>
                    </a:extLst>
                  </a:tr>
                  <a:tr h="473819">
                    <a:tc>
                      <a:txBody>
                        <a:bodyPr/>
                        <a:lstStyle/>
                        <a:p>
                          <a:r>
                            <a:rPr lang="en-GB" sz="1800" dirty="0"/>
                            <a:t>Ising model (Ansatz)</a:t>
                          </a:r>
                        </a:p>
                      </a:txBody>
                      <a:tcPr/>
                    </a:tc>
                    <a:tc>
                      <a:txBody>
                        <a:bodyPr/>
                        <a:lstStyle/>
                        <a:p>
                          <a:endParaRPr lang="en-GB" sz="1800" dirty="0"/>
                        </a:p>
                      </a:txBody>
                      <a:tcPr/>
                    </a:tc>
                    <a:extLst>
                      <a:ext uri="{0D108BD9-81ED-4DB2-BD59-A6C34878D82A}">
                        <a16:rowId xmlns:a16="http://schemas.microsoft.com/office/drawing/2014/main" val="2464869283"/>
                      </a:ext>
                    </a:extLst>
                  </a:tr>
                </a:tbl>
              </a:graphicData>
            </a:graphic>
          </p:graphicFrame>
        </mc:Choice>
        <mc:Fallback>
          <p:graphicFrame>
            <p:nvGraphicFramePr>
              <p:cNvPr id="2" name="Table 1">
                <a:extLst>
                  <a:ext uri="{FF2B5EF4-FFF2-40B4-BE49-F238E27FC236}">
                    <a16:creationId xmlns:a16="http://schemas.microsoft.com/office/drawing/2014/main" id="{0450DA4B-A060-81F2-9A9F-9D0F02D43025}"/>
                  </a:ext>
                </a:extLst>
              </p:cNvPr>
              <p:cNvGraphicFramePr>
                <a:graphicFrameLocks noGrp="1"/>
              </p:cNvGraphicFramePr>
              <p:nvPr>
                <p:extLst>
                  <p:ext uri="{D42A27DB-BD31-4B8C-83A1-F6EECF244321}">
                    <p14:modId xmlns:p14="http://schemas.microsoft.com/office/powerpoint/2010/main" val="595223172"/>
                  </p:ext>
                </p:extLst>
              </p:nvPr>
            </p:nvGraphicFramePr>
            <p:xfrm>
              <a:off x="15245863" y="4810492"/>
              <a:ext cx="5597398" cy="1643636"/>
            </p:xfrm>
            <a:graphic>
              <a:graphicData uri="http://schemas.openxmlformats.org/drawingml/2006/table">
                <a:tbl>
                  <a:tblPr firstRow="1" bandRow="1">
                    <a:tableStyleId>{5C22544A-7EE6-4342-B048-85BDC9FD1C3A}</a:tableStyleId>
                  </a:tblPr>
                  <a:tblGrid>
                    <a:gridCol w="2798699">
                      <a:extLst>
                        <a:ext uri="{9D8B030D-6E8A-4147-A177-3AD203B41FA5}">
                          <a16:colId xmlns:a16="http://schemas.microsoft.com/office/drawing/2014/main" val="2898089824"/>
                        </a:ext>
                      </a:extLst>
                    </a:gridCol>
                    <a:gridCol w="2798699">
                      <a:extLst>
                        <a:ext uri="{9D8B030D-6E8A-4147-A177-3AD203B41FA5}">
                          <a16:colId xmlns:a16="http://schemas.microsoft.com/office/drawing/2014/main" val="1112678819"/>
                        </a:ext>
                      </a:extLst>
                    </a:gridCol>
                  </a:tblGrid>
                  <a:tr h="438297">
                    <a:tc>
                      <a:txBody>
                        <a:bodyPr/>
                        <a:lstStyle/>
                        <a:p>
                          <a:r>
                            <a:rPr lang="en-GB" sz="1800" dirty="0"/>
                            <a:t>Model</a:t>
                          </a:r>
                        </a:p>
                      </a:txBody>
                      <a:tcPr/>
                    </a:tc>
                    <a:tc>
                      <a:txBody>
                        <a:bodyPr/>
                        <a:lstStyle/>
                        <a:p>
                          <a:r>
                            <a:rPr lang="en-GB" sz="1800" dirty="0"/>
                            <a:t>Average Magnetisation</a:t>
                          </a:r>
                        </a:p>
                      </a:txBody>
                      <a:tcPr/>
                    </a:tc>
                    <a:extLst>
                      <a:ext uri="{0D108BD9-81ED-4DB2-BD59-A6C34878D82A}">
                        <a16:rowId xmlns:a16="http://schemas.microsoft.com/office/drawing/2014/main" val="3228848662"/>
                      </a:ext>
                    </a:extLst>
                  </a:tr>
                  <a:tr h="365760">
                    <a:tc>
                      <a:txBody>
                        <a:bodyPr/>
                        <a:lstStyle/>
                        <a:p>
                          <a:r>
                            <a:rPr lang="en-GB" sz="1800" dirty="0"/>
                            <a:t>Ising model (simulation)</a:t>
                          </a:r>
                        </a:p>
                      </a:txBody>
                      <a:tcPr/>
                    </a:tc>
                    <a:tc>
                      <a:txBody>
                        <a:bodyPr/>
                        <a:lstStyle/>
                        <a:p>
                          <a:endParaRPr lang="en-US"/>
                        </a:p>
                      </a:txBody>
                      <a:tcPr>
                        <a:blipFill>
                          <a:blip r:embed="rId11"/>
                          <a:stretch>
                            <a:fillRect l="-100217" t="-126667" r="-870" b="-233333"/>
                          </a:stretch>
                        </a:blipFill>
                      </a:tcPr>
                    </a:tc>
                    <a:extLst>
                      <a:ext uri="{0D108BD9-81ED-4DB2-BD59-A6C34878D82A}">
                        <a16:rowId xmlns:a16="http://schemas.microsoft.com/office/drawing/2014/main" val="2020091684"/>
                      </a:ext>
                    </a:extLst>
                  </a:tr>
                  <a:tr h="365760">
                    <a:tc>
                      <a:txBody>
                        <a:bodyPr/>
                        <a:lstStyle/>
                        <a:p>
                          <a:r>
                            <a:rPr lang="en-GB" sz="1800" dirty="0"/>
                            <a:t>Mean Field Theory</a:t>
                          </a:r>
                        </a:p>
                      </a:txBody>
                      <a:tcPr/>
                    </a:tc>
                    <a:tc>
                      <a:txBody>
                        <a:bodyPr/>
                        <a:lstStyle/>
                        <a:p>
                          <a:endParaRPr lang="en-US"/>
                        </a:p>
                      </a:txBody>
                      <a:tcPr>
                        <a:blipFill>
                          <a:blip r:embed="rId11"/>
                          <a:stretch>
                            <a:fillRect l="-100217" t="-226667" r="-870" b="-133333"/>
                          </a:stretch>
                        </a:blipFill>
                      </a:tcPr>
                    </a:tc>
                    <a:extLst>
                      <a:ext uri="{0D108BD9-81ED-4DB2-BD59-A6C34878D82A}">
                        <a16:rowId xmlns:a16="http://schemas.microsoft.com/office/drawing/2014/main" val="4284135551"/>
                      </a:ext>
                    </a:extLst>
                  </a:tr>
                  <a:tr h="473819">
                    <a:tc>
                      <a:txBody>
                        <a:bodyPr/>
                        <a:lstStyle/>
                        <a:p>
                          <a:r>
                            <a:rPr lang="en-GB" sz="1800" dirty="0"/>
                            <a:t>Ising model (Ansatz)</a:t>
                          </a:r>
                        </a:p>
                      </a:txBody>
                      <a:tcPr/>
                    </a:tc>
                    <a:tc>
                      <a:txBody>
                        <a:bodyPr/>
                        <a:lstStyle/>
                        <a:p>
                          <a:endParaRPr lang="en-GB" sz="1800" dirty="0"/>
                        </a:p>
                      </a:txBody>
                      <a:tcPr/>
                    </a:tc>
                    <a:extLst>
                      <a:ext uri="{0D108BD9-81ED-4DB2-BD59-A6C34878D82A}">
                        <a16:rowId xmlns:a16="http://schemas.microsoft.com/office/drawing/2014/main" val="2464869283"/>
                      </a:ext>
                    </a:extLst>
                  </a:tr>
                </a:tbl>
              </a:graphicData>
            </a:graphic>
          </p:graphicFrame>
        </mc:Fallback>
      </mc:AlternateContent>
      <p:sp>
        <p:nvSpPr>
          <p:cNvPr id="35" name="Rectangle 34">
            <a:extLst>
              <a:ext uri="{FF2B5EF4-FFF2-40B4-BE49-F238E27FC236}">
                <a16:creationId xmlns:a16="http://schemas.microsoft.com/office/drawing/2014/main" id="{E3638788-CBE7-8268-BB25-CE12E153AFCD}"/>
              </a:ext>
            </a:extLst>
          </p:cNvPr>
          <p:cNvSpPr/>
          <p:nvPr/>
        </p:nvSpPr>
        <p:spPr>
          <a:xfrm>
            <a:off x="16916400" y="6961404"/>
            <a:ext cx="4125364" cy="1981045"/>
          </a:xfrm>
          <a:prstGeom prst="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bg2">
                    <a:lumMod val="25000"/>
                  </a:schemeClr>
                </a:solidFill>
              </a:ln>
            </a:endParaRPr>
          </a:p>
        </p:txBody>
      </p:sp>
      <p:pic>
        <p:nvPicPr>
          <p:cNvPr id="7" name="Picture 6" descr="A black and white pixelated background&#10;&#10;AI-generated content may be incorrect.">
            <a:extLst>
              <a:ext uri="{FF2B5EF4-FFF2-40B4-BE49-F238E27FC236}">
                <a16:creationId xmlns:a16="http://schemas.microsoft.com/office/drawing/2014/main" id="{D5831F60-B37E-68D4-2C11-AC617F07CDB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7055156" y="7366024"/>
            <a:ext cx="1163027" cy="1163027"/>
          </a:xfrm>
          <a:prstGeom prst="rect">
            <a:avLst/>
          </a:prstGeom>
          <a:ln>
            <a:solidFill>
              <a:schemeClr val="bg2">
                <a:lumMod val="50000"/>
              </a:schemeClr>
            </a:solidFill>
          </a:ln>
        </p:spPr>
      </p:pic>
      <p:pic>
        <p:nvPicPr>
          <p:cNvPr id="12" name="Picture 11" descr="A black and white pixelated image&#10;&#10;AI-generated content may be incorrect.">
            <a:extLst>
              <a:ext uri="{FF2B5EF4-FFF2-40B4-BE49-F238E27FC236}">
                <a16:creationId xmlns:a16="http://schemas.microsoft.com/office/drawing/2014/main" id="{98A1D8B4-C32E-88EE-F2AF-C91DBECEFEC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8417273" y="7339792"/>
            <a:ext cx="1185088" cy="1185088"/>
          </a:xfrm>
          <a:prstGeom prst="rect">
            <a:avLst/>
          </a:prstGeom>
          <a:ln>
            <a:solidFill>
              <a:schemeClr val="bg2">
                <a:lumMod val="50000"/>
              </a:schemeClr>
            </a:solidFill>
          </a:ln>
        </p:spPr>
      </p:pic>
      <p:pic>
        <p:nvPicPr>
          <p:cNvPr id="23" name="Picture 22" descr="A black background with white dots&#10;&#10;AI-generated content may be incorrect.">
            <a:extLst>
              <a:ext uri="{FF2B5EF4-FFF2-40B4-BE49-F238E27FC236}">
                <a16:creationId xmlns:a16="http://schemas.microsoft.com/office/drawing/2014/main" id="{9BC254B6-615B-B37B-BB26-291C57DA3A4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9779475" y="7350822"/>
            <a:ext cx="1163027" cy="1163027"/>
          </a:xfrm>
          <a:prstGeom prst="rect">
            <a:avLst/>
          </a:prstGeom>
          <a:ln>
            <a:solidFill>
              <a:schemeClr val="bg2">
                <a:lumMod val="50000"/>
              </a:schemeClr>
            </a:solidFill>
          </a:ln>
        </p:spPr>
      </p:pic>
      <p:sp>
        <p:nvSpPr>
          <p:cNvPr id="25" name="TextBox 24">
            <a:extLst>
              <a:ext uri="{FF2B5EF4-FFF2-40B4-BE49-F238E27FC236}">
                <a16:creationId xmlns:a16="http://schemas.microsoft.com/office/drawing/2014/main" id="{A73B0DCA-3802-A307-9C09-D465E88F0AC7}"/>
              </a:ext>
            </a:extLst>
          </p:cNvPr>
          <p:cNvSpPr txBox="1"/>
          <p:nvPr/>
        </p:nvSpPr>
        <p:spPr>
          <a:xfrm>
            <a:off x="19826461" y="8613461"/>
            <a:ext cx="1190429" cy="338554"/>
          </a:xfrm>
          <a:prstGeom prst="rect">
            <a:avLst/>
          </a:prstGeom>
          <a:noFill/>
        </p:spPr>
        <p:txBody>
          <a:bodyPr wrap="square" rtlCol="0">
            <a:spAutoFit/>
          </a:bodyPr>
          <a:lstStyle/>
          <a:p>
            <a:r>
              <a:rPr lang="en-GB" sz="1600" dirty="0"/>
              <a:t>30 Sweeps</a:t>
            </a:r>
          </a:p>
        </p:txBody>
      </p:sp>
      <p:sp>
        <p:nvSpPr>
          <p:cNvPr id="32" name="TextBox 31">
            <a:extLst>
              <a:ext uri="{FF2B5EF4-FFF2-40B4-BE49-F238E27FC236}">
                <a16:creationId xmlns:a16="http://schemas.microsoft.com/office/drawing/2014/main" id="{78F1811E-F5E5-6D2A-7A26-6438C90DF3E9}"/>
              </a:ext>
            </a:extLst>
          </p:cNvPr>
          <p:cNvSpPr txBox="1"/>
          <p:nvPr/>
        </p:nvSpPr>
        <p:spPr>
          <a:xfrm>
            <a:off x="18467647" y="8603895"/>
            <a:ext cx="1134714" cy="338554"/>
          </a:xfrm>
          <a:prstGeom prst="rect">
            <a:avLst/>
          </a:prstGeom>
          <a:noFill/>
        </p:spPr>
        <p:txBody>
          <a:bodyPr wrap="square" rtlCol="0">
            <a:spAutoFit/>
          </a:bodyPr>
          <a:lstStyle/>
          <a:p>
            <a:r>
              <a:rPr lang="en-GB" sz="1600" dirty="0"/>
              <a:t>5 Sweeps</a:t>
            </a:r>
          </a:p>
        </p:txBody>
      </p:sp>
      <p:sp>
        <p:nvSpPr>
          <p:cNvPr id="33" name="TextBox 32">
            <a:extLst>
              <a:ext uri="{FF2B5EF4-FFF2-40B4-BE49-F238E27FC236}">
                <a16:creationId xmlns:a16="http://schemas.microsoft.com/office/drawing/2014/main" id="{19AA9864-01E6-3319-B763-F2EEC14451C9}"/>
              </a:ext>
            </a:extLst>
          </p:cNvPr>
          <p:cNvSpPr txBox="1"/>
          <p:nvPr/>
        </p:nvSpPr>
        <p:spPr>
          <a:xfrm>
            <a:off x="17137337" y="8603895"/>
            <a:ext cx="1106210" cy="338554"/>
          </a:xfrm>
          <a:prstGeom prst="rect">
            <a:avLst/>
          </a:prstGeom>
          <a:noFill/>
        </p:spPr>
        <p:txBody>
          <a:bodyPr wrap="square" rtlCol="0">
            <a:spAutoFit/>
          </a:bodyPr>
          <a:lstStyle/>
          <a:p>
            <a:r>
              <a:rPr lang="en-GB" sz="1600" dirty="0"/>
              <a:t>0 Sweeps</a:t>
            </a:r>
          </a:p>
        </p:txBody>
      </p:sp>
      <p:sp>
        <p:nvSpPr>
          <p:cNvPr id="34" name="TextBox 33">
            <a:extLst>
              <a:ext uri="{FF2B5EF4-FFF2-40B4-BE49-F238E27FC236}">
                <a16:creationId xmlns:a16="http://schemas.microsoft.com/office/drawing/2014/main" id="{9ABD1FF7-AEBB-1B9C-28D4-C7BF76291508}"/>
              </a:ext>
            </a:extLst>
          </p:cNvPr>
          <p:cNvSpPr txBox="1"/>
          <p:nvPr/>
        </p:nvSpPr>
        <p:spPr>
          <a:xfrm>
            <a:off x="17937171" y="6965932"/>
            <a:ext cx="3778580" cy="369332"/>
          </a:xfrm>
          <a:prstGeom prst="rect">
            <a:avLst/>
          </a:prstGeom>
          <a:noFill/>
        </p:spPr>
        <p:txBody>
          <a:bodyPr wrap="square" rtlCol="0">
            <a:spAutoFit/>
          </a:bodyPr>
          <a:lstStyle/>
          <a:p>
            <a:r>
              <a:rPr lang="en-GB" b="1" u="sng" dirty="0"/>
              <a:t>Lattice evolution </a:t>
            </a:r>
          </a:p>
        </p:txBody>
      </p:sp>
      <p:sp>
        <p:nvSpPr>
          <p:cNvPr id="43" name="Control 2">
            <a:extLst>
              <a:ext uri="{FF2B5EF4-FFF2-40B4-BE49-F238E27FC236}">
                <a16:creationId xmlns:a16="http://schemas.microsoft.com/office/drawing/2014/main" id="{0A1F033F-4B30-2774-4B1F-1720DE3CC570}"/>
              </a:ext>
            </a:extLst>
          </p:cNvPr>
          <p:cNvSpPr>
            <a:spLocks noChangeArrowheads="1" noChangeShapeType="1"/>
          </p:cNvSpPr>
          <p:nvPr/>
        </p:nvSpPr>
        <p:spPr bwMode="auto">
          <a:xfrm>
            <a:off x="2419970" y="15738590"/>
            <a:ext cx="3068319" cy="3084270"/>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sp>
        <p:nvSpPr>
          <p:cNvPr id="47" name="Control 4">
            <a:extLst>
              <a:ext uri="{FF2B5EF4-FFF2-40B4-BE49-F238E27FC236}">
                <a16:creationId xmlns:a16="http://schemas.microsoft.com/office/drawing/2014/main" id="{35E954D2-5457-2AF8-2704-1A7C827F6171}"/>
              </a:ext>
            </a:extLst>
          </p:cNvPr>
          <p:cNvSpPr>
            <a:spLocks noChangeArrowheads="1" noChangeShapeType="1"/>
          </p:cNvSpPr>
          <p:nvPr/>
        </p:nvSpPr>
        <p:spPr bwMode="auto">
          <a:xfrm>
            <a:off x="2474067" y="15743476"/>
            <a:ext cx="2879725" cy="2879725"/>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graphicFrame>
        <p:nvGraphicFramePr>
          <p:cNvPr id="48" name="Table 47">
            <a:extLst>
              <a:ext uri="{FF2B5EF4-FFF2-40B4-BE49-F238E27FC236}">
                <a16:creationId xmlns:a16="http://schemas.microsoft.com/office/drawing/2014/main" id="{15EFF80B-DE3C-4AC4-023D-8AA5567F893F}"/>
              </a:ext>
            </a:extLst>
          </p:cNvPr>
          <p:cNvGraphicFramePr>
            <a:graphicFrameLocks noGrp="1"/>
          </p:cNvGraphicFramePr>
          <p:nvPr>
            <p:extLst>
              <p:ext uri="{D42A27DB-BD31-4B8C-83A1-F6EECF244321}">
                <p14:modId xmlns:p14="http://schemas.microsoft.com/office/powerpoint/2010/main" val="2437047380"/>
              </p:ext>
            </p:extLst>
          </p:nvPr>
        </p:nvGraphicFramePr>
        <p:xfrm>
          <a:off x="7902573" y="2004487"/>
          <a:ext cx="2879980" cy="2879980"/>
        </p:xfrm>
        <a:graphic>
          <a:graphicData uri="http://schemas.openxmlformats.org/drawingml/2006/table">
            <a:tbl>
              <a:tblPr/>
              <a:tblGrid>
                <a:gridCol w="575996">
                  <a:extLst>
                    <a:ext uri="{9D8B030D-6E8A-4147-A177-3AD203B41FA5}">
                      <a16:colId xmlns:a16="http://schemas.microsoft.com/office/drawing/2014/main" val="2200406331"/>
                    </a:ext>
                  </a:extLst>
                </a:gridCol>
                <a:gridCol w="575996">
                  <a:extLst>
                    <a:ext uri="{9D8B030D-6E8A-4147-A177-3AD203B41FA5}">
                      <a16:colId xmlns:a16="http://schemas.microsoft.com/office/drawing/2014/main" val="4191477172"/>
                    </a:ext>
                  </a:extLst>
                </a:gridCol>
                <a:gridCol w="575996">
                  <a:extLst>
                    <a:ext uri="{9D8B030D-6E8A-4147-A177-3AD203B41FA5}">
                      <a16:colId xmlns:a16="http://schemas.microsoft.com/office/drawing/2014/main" val="549849989"/>
                    </a:ext>
                  </a:extLst>
                </a:gridCol>
                <a:gridCol w="575996">
                  <a:extLst>
                    <a:ext uri="{9D8B030D-6E8A-4147-A177-3AD203B41FA5}">
                      <a16:colId xmlns:a16="http://schemas.microsoft.com/office/drawing/2014/main" val="2194956128"/>
                    </a:ext>
                  </a:extLst>
                </a:gridCol>
                <a:gridCol w="575996">
                  <a:extLst>
                    <a:ext uri="{9D8B030D-6E8A-4147-A177-3AD203B41FA5}">
                      <a16:colId xmlns:a16="http://schemas.microsoft.com/office/drawing/2014/main" val="771035206"/>
                    </a:ext>
                  </a:extLst>
                </a:gridCol>
              </a:tblGrid>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588321140"/>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1</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2848225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4</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2</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87698032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3</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96496328"/>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481197627"/>
                  </a:ext>
                </a:extLst>
              </a:tr>
            </a:tbl>
          </a:graphicData>
        </a:graphic>
      </p:graphicFrame>
      <p:cxnSp>
        <p:nvCxnSpPr>
          <p:cNvPr id="50" name="Straight Connector 49">
            <a:extLst>
              <a:ext uri="{FF2B5EF4-FFF2-40B4-BE49-F238E27FC236}">
                <a16:creationId xmlns:a16="http://schemas.microsoft.com/office/drawing/2014/main" id="{B70D9CA9-EDAC-9D47-D654-9AF65A91168D}"/>
              </a:ext>
            </a:extLst>
          </p:cNvPr>
          <p:cNvCxnSpPr>
            <a:cxnSpLocks/>
          </p:cNvCxnSpPr>
          <p:nvPr/>
        </p:nvCxnSpPr>
        <p:spPr>
          <a:xfrm flipH="1">
            <a:off x="1720842" y="10246240"/>
            <a:ext cx="1047758" cy="495569"/>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F58BBD3E-F334-88D0-2C6D-891B70BB3F67}"/>
              </a:ext>
            </a:extLst>
          </p:cNvPr>
          <p:cNvCxnSpPr>
            <a:cxnSpLocks/>
          </p:cNvCxnSpPr>
          <p:nvPr/>
        </p:nvCxnSpPr>
        <p:spPr>
          <a:xfrm flipH="1">
            <a:off x="3373437" y="10291501"/>
            <a:ext cx="360638" cy="450308"/>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E2815DCE-EAEE-0667-6E31-A9BD1142B3CD}"/>
              </a:ext>
            </a:extLst>
          </p:cNvPr>
          <p:cNvCxnSpPr>
            <a:cxnSpLocks/>
          </p:cNvCxnSpPr>
          <p:nvPr/>
        </p:nvCxnSpPr>
        <p:spPr>
          <a:xfrm>
            <a:off x="5092071" y="10291501"/>
            <a:ext cx="927100" cy="450308"/>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B4B276D2-406F-3BE7-D4BB-3146437B81B5}"/>
              </a:ext>
            </a:extLst>
          </p:cNvPr>
          <p:cNvCxnSpPr>
            <a:cxnSpLocks/>
          </p:cNvCxnSpPr>
          <p:nvPr/>
        </p:nvCxnSpPr>
        <p:spPr>
          <a:xfrm>
            <a:off x="3822334" y="10291501"/>
            <a:ext cx="342638" cy="449454"/>
          </a:xfrm>
          <a:prstGeom prst="line">
            <a:avLst/>
          </a:prstGeom>
        </p:spPr>
        <p:style>
          <a:lnRef idx="2">
            <a:schemeClr val="accent1"/>
          </a:lnRef>
          <a:fillRef idx="0">
            <a:schemeClr val="accent1"/>
          </a:fillRef>
          <a:effectRef idx="1">
            <a:schemeClr val="accent1"/>
          </a:effectRef>
          <a:fontRef idx="minor">
            <a:schemeClr val="tx1"/>
          </a:fontRef>
        </p:style>
      </p:cxnSp>
      <p:pic>
        <p:nvPicPr>
          <p:cNvPr id="65" name="Picture 64" descr="A qr code on a white background&#10;&#10;AI-generated content may be incorrect.">
            <a:extLst>
              <a:ext uri="{FF2B5EF4-FFF2-40B4-BE49-F238E27FC236}">
                <a16:creationId xmlns:a16="http://schemas.microsoft.com/office/drawing/2014/main" id="{68A1AA0B-542B-73F2-31E3-354C7D2355C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988930" y="13817596"/>
            <a:ext cx="869137" cy="1139728"/>
          </a:xfrm>
          <a:prstGeom prst="rect">
            <a:avLst/>
          </a:prstGeom>
        </p:spPr>
      </p:pic>
      <p:pic>
        <p:nvPicPr>
          <p:cNvPr id="2054" name="Picture 6" descr="Durham University – My Digital Prospectus – The Durham University ...">
            <a:extLst>
              <a:ext uri="{FF2B5EF4-FFF2-40B4-BE49-F238E27FC236}">
                <a16:creationId xmlns:a16="http://schemas.microsoft.com/office/drawing/2014/main" id="{5C13C9F5-C196-2D11-C39E-FD8F3ED0039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7636669" y="152744"/>
            <a:ext cx="2341696" cy="9688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349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B558BBC3-F4EF-E18C-5963-2E45EACA75CF}"/>
            </a:ext>
          </a:extLst>
        </p:cNvPr>
        <p:cNvGrpSpPr/>
        <p:nvPr/>
      </p:nvGrpSpPr>
      <p:grpSpPr>
        <a:xfrm>
          <a:off x="0" y="0"/>
          <a:ext cx="0" cy="0"/>
          <a:chOff x="0" y="0"/>
          <a:chExt cx="0" cy="0"/>
        </a:xfrm>
      </p:grpSpPr>
      <p:pic>
        <p:nvPicPr>
          <p:cNvPr id="51" name="Picture 50" descr="A graph of a number of sweeps&#10;&#10;AI-generated content may be incorrect.">
            <a:extLst>
              <a:ext uri="{FF2B5EF4-FFF2-40B4-BE49-F238E27FC236}">
                <a16:creationId xmlns:a16="http://schemas.microsoft.com/office/drawing/2014/main" id="{7445826E-54DD-41C5-9571-9CE235D6F8FC}"/>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l="541" t="6470" r="8740" b="1925"/>
          <a:stretch>
            <a:fillRect/>
          </a:stretch>
        </p:blipFill>
        <p:spPr>
          <a:xfrm>
            <a:off x="14949567" y="6841014"/>
            <a:ext cx="6215931" cy="5124131"/>
          </a:xfrm>
          <a:prstGeom prst="rect">
            <a:avLst/>
          </a:prstGeom>
          <a:ln>
            <a:solidFill>
              <a:schemeClr val="bg2">
                <a:lumMod val="75000"/>
              </a:schemeClr>
            </a:solidFill>
          </a:ln>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142EBF45-DAD4-4128-A68F-7732D3718F25}"/>
                  </a:ext>
                </a:extLst>
              </p:cNvPr>
              <p:cNvSpPr txBox="1">
                <a:spLocks/>
              </p:cNvSpPr>
              <p:nvPr/>
            </p:nvSpPr>
            <p:spPr>
              <a:xfrm>
                <a:off x="326823" y="6841014"/>
                <a:ext cx="6972300" cy="7462492"/>
              </a:xfrm>
              <a:prstGeom prst="rect">
                <a:avLst/>
              </a:prstGeom>
              <a:noFill/>
            </p:spPr>
            <p:txBody>
              <a:bodyPr wrap="square" rtlCol="0">
                <a:spAutoFit/>
              </a:bodyPr>
              <a:lstStyle/>
              <a:p>
                <a:pPr marL="285750" indent="-285750">
                  <a:buFont typeface="Arial" panose="020B0604020202020204" pitchFamily="34" charset="0"/>
                  <a:buChar char="•"/>
                </a:pPr>
                <a:r>
                  <a:rPr lang="en-GB" dirty="0"/>
                  <a:t>A </a:t>
                </a:r>
                <a:r>
                  <a:rPr lang="en-GB" b="1" dirty="0"/>
                  <a:t>periodic lattice </a:t>
                </a:r>
                <a:r>
                  <a:rPr lang="en-GB" dirty="0"/>
                  <a:t>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is created.</a:t>
                </a:r>
              </a:p>
              <a:p>
                <a:pPr marL="285750" indent="-285750">
                  <a:buFont typeface="Arial" panose="020B0604020202020204" pitchFamily="34" charset="0"/>
                  <a:buChar char="•"/>
                </a:pPr>
                <a:r>
                  <a:rPr lang="en-GB" dirty="0"/>
                  <a:t> Each point is randomly assigned a </a:t>
                </a:r>
                <a:r>
                  <a:rPr lang="en-GB" b="1" dirty="0"/>
                  <a:t>spin</a:t>
                </a:r>
                <a:r>
                  <a:rPr lang="en-GB" dirty="0"/>
                  <a:t> value, </a:t>
                </a:r>
                <a14:m>
                  <m:oMath xmlns:m="http://schemas.openxmlformats.org/officeDocument/2006/math">
                    <m:r>
                      <a:rPr lang="en-GB" b="0" i="1" smtClean="0">
                        <a:latin typeface="Cambria Math" panose="02040503050406030204" pitchFamily="18" charset="0"/>
                      </a:rPr>
                      <m:t>𝑆</m:t>
                    </m:r>
                  </m:oMath>
                </a14:m>
                <a:r>
                  <a:rPr lang="en-GB" dirty="0"/>
                  <a:t>, of either +1 (</a:t>
                </a:r>
                <a:r>
                  <a:rPr lang="en-GB" b="1" dirty="0"/>
                  <a:t>spin up</a:t>
                </a:r>
                <a:r>
                  <a:rPr lang="en-GB" dirty="0"/>
                  <a:t>) or -1 (</a:t>
                </a:r>
                <a:r>
                  <a:rPr lang="en-GB" b="1" dirty="0"/>
                  <a:t>spin down</a:t>
                </a:r>
                <a:r>
                  <a:rPr lang="en-GB" dirty="0"/>
                  <a:t>). </a:t>
                </a:r>
              </a:p>
              <a:p>
                <a:pPr marL="285750" indent="-285750">
                  <a:buFont typeface="Arial" panose="020B0604020202020204" pitchFamily="34" charset="0"/>
                  <a:buChar char="•"/>
                </a:pPr>
                <a:r>
                  <a:rPr lang="en-GB" dirty="0"/>
                  <a:t>The </a:t>
                </a:r>
                <a:r>
                  <a:rPr lang="en-GB" b="1" dirty="0"/>
                  <a:t>total energy </a:t>
                </a:r>
                <a:r>
                  <a:rPr lang="en-GB" dirty="0"/>
                  <a:t>of the lattice comes from </a:t>
                </a:r>
                <a:r>
                  <a:rPr lang="en-GB" b="1" dirty="0"/>
                  <a:t>two sources </a:t>
                </a:r>
                <a:r>
                  <a:rPr lang="en-GB" dirty="0"/>
                  <a:t>[1,2] and is then given by:</a:t>
                </a:r>
              </a:p>
              <a:p>
                <a:endParaRPr lang="en-GB" dirty="0"/>
              </a:p>
              <a:p>
                <a:pPr/>
                <a14:m>
                  <m:oMathPara xmlns:m="http://schemas.openxmlformats.org/officeDocument/2006/math">
                    <m:oMathParaPr>
                      <m:jc m:val="centerGroup"/>
                    </m:oMathParaPr>
                    <m:oMath xmlns:m="http://schemas.openxmlformats.org/officeDocument/2006/math">
                      <m:r>
                        <a:rPr lang="en-GB" sz="2000" i="1">
                          <a:latin typeface="Cambria Math" panose="02040503050406030204" pitchFamily="18" charset="0"/>
                        </a:rPr>
                        <m:t>𝐸</m:t>
                      </m:r>
                      <m:r>
                        <a:rPr lang="en-GB" sz="2000" i="1">
                          <a:latin typeface="Cambria Math" panose="02040503050406030204" pitchFamily="18" charset="0"/>
                        </a:rPr>
                        <m:t>=−</m:t>
                      </m:r>
                      <m:r>
                        <a:rPr lang="en-GB" sz="2000" i="1">
                          <a:latin typeface="Cambria Math" panose="02040503050406030204" pitchFamily="18" charset="0"/>
                        </a:rPr>
                        <m:t>𝐵</m:t>
                      </m:r>
                      <m:nary>
                        <m:naryPr>
                          <m:chr m:val="∑"/>
                          <m:supHide m:val="on"/>
                          <m:ctrlPr>
                            <a:rPr lang="en-GB" sz="2000" i="1">
                              <a:latin typeface="Cambria Math" panose="02040503050406030204" pitchFamily="18" charset="0"/>
                            </a:rPr>
                          </m:ctrlPr>
                        </m:naryPr>
                        <m:sub>
                          <m:r>
                            <m:rPr>
                              <m:sty m:val="p"/>
                              <m:brk m:alnAt="7"/>
                            </m:rPr>
                            <a:rPr lang="el-GR" sz="2000" i="1">
                              <a:latin typeface="Cambria Math" panose="02040503050406030204" pitchFamily="18" charset="0"/>
                            </a:rPr>
                            <m:t>α</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brk m:alnAt="7"/>
                                </m:rPr>
                                <a:rPr lang="el-GR" sz="2000" i="1">
                                  <a:latin typeface="Cambria Math" panose="02040503050406030204" pitchFamily="18" charset="0"/>
                                </a:rPr>
                                <m:t>α</m:t>
                              </m:r>
                            </m:sub>
                          </m:sSub>
                        </m:e>
                      </m:nary>
                      <m:r>
                        <a:rPr lang="en-GB" sz="2000">
                          <a:latin typeface="Cambria Math" panose="02040503050406030204" pitchFamily="18" charset="0"/>
                        </a:rPr>
                        <m:t> −</m:t>
                      </m:r>
                      <m:r>
                        <m:rPr>
                          <m:sty m:val="p"/>
                        </m:rPr>
                        <a:rPr lang="en-GB" sz="2000">
                          <a:latin typeface="Cambria Math" panose="02040503050406030204" pitchFamily="18" charset="0"/>
                        </a:rPr>
                        <m:t>J</m:t>
                      </m:r>
                      <m:nary>
                        <m:naryPr>
                          <m:chr m:val="∑"/>
                          <m:supHide m:val="on"/>
                          <m:ctrlPr>
                            <a:rPr lang="en-GB" sz="2000" i="1">
                              <a:latin typeface="Cambria Math" panose="02040503050406030204" pitchFamily="18" charset="0"/>
                            </a:rPr>
                          </m:ctrlPr>
                        </m:naryPr>
                        <m:sub>
                          <m:r>
                            <m:rPr>
                              <m:brk m:alnAt="7"/>
                            </m:rPr>
                            <a:rPr lang="en-GB" sz="2000" i="1">
                              <a:latin typeface="Cambria Math" panose="02040503050406030204" pitchFamily="18" charset="0"/>
                            </a:rPr>
                            <m:t>&lt;</m:t>
                          </m:r>
                          <m:r>
                            <m:rPr>
                              <m:sty m:val="p"/>
                            </m:rPr>
                            <a:rPr lang="el-GR" sz="2000" i="1">
                              <a:latin typeface="Cambria Math" panose="02040503050406030204" pitchFamily="18" charset="0"/>
                            </a:rPr>
                            <m:t>αβ</m:t>
                          </m:r>
                          <m:r>
                            <a:rPr lang="en-GB" sz="2000" i="1">
                              <a:latin typeface="Cambria Math" panose="02040503050406030204" pitchFamily="18" charset="0"/>
                            </a:rPr>
                            <m:t>&gt;</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brk m:alnAt="7"/>
                                </m:rPr>
                                <a:rPr lang="el-GR" sz="2000" i="1">
                                  <a:latin typeface="Cambria Math" panose="02040503050406030204" pitchFamily="18" charset="0"/>
                                </a:rPr>
                                <m:t>α</m:t>
                              </m:r>
                            </m:sub>
                          </m:sSub>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rPr>
                                <a:rPr lang="el-GR" sz="2000" i="1">
                                  <a:latin typeface="Cambria Math" panose="02040503050406030204" pitchFamily="18" charset="0"/>
                                </a:rPr>
                                <m:t>β</m:t>
                              </m:r>
                            </m:sub>
                          </m:sSub>
                        </m:e>
                      </m:nary>
                      <m:r>
                        <a:rPr lang="en-GB" sz="2000">
                          <a:latin typeface="Cambria Math" panose="02040503050406030204" pitchFamily="18" charset="0"/>
                        </a:rPr>
                        <m:t>, </m:t>
                      </m:r>
                    </m:oMath>
                  </m:oMathPara>
                </a14:m>
                <a:endParaRPr lang="en-GB" sz="2000" dirty="0"/>
              </a:p>
              <a:p>
                <a:endParaRPr lang="en-GB" dirty="0"/>
              </a:p>
              <a:p>
                <a:endParaRPr lang="en-GB" dirty="0"/>
              </a:p>
              <a:p>
                <a:endParaRPr lang="en-GB" dirty="0"/>
              </a:p>
              <a:p>
                <a:endParaRPr lang="en-GB" dirty="0"/>
              </a:p>
              <a:p>
                <a:pPr marL="285750" indent="-285750">
                  <a:buFont typeface="Arial" panose="020B0604020202020204" pitchFamily="34" charset="0"/>
                  <a:buChar char="•"/>
                </a:pPr>
                <a:r>
                  <a:rPr lang="en-GB" dirty="0"/>
                  <a:t>where </a:t>
                </a:r>
                <a14:m>
                  <m:oMath xmlns:m="http://schemas.openxmlformats.org/officeDocument/2006/math">
                    <m:r>
                      <a:rPr lang="el-GR" i="1" dirty="0">
                        <a:latin typeface="Cambria Math" panose="02040503050406030204" pitchFamily="18" charset="0"/>
                        <a:ea typeface="Cambria Math" panose="02040503050406030204" pitchFamily="18" charset="0"/>
                      </a:rPr>
                      <m:t>𝛼</m:t>
                    </m:r>
                  </m:oMath>
                </a14:m>
                <a:r>
                  <a:rPr lang="en-GB" dirty="0"/>
                  <a:t> is the summation over each </a:t>
                </a:r>
                <a:r>
                  <a:rPr lang="en-GB" b="1" dirty="0"/>
                  <a:t>lattice point </a:t>
                </a:r>
                <a:r>
                  <a:rPr lang="en-GB" dirty="0"/>
                  <a:t>(i.e. over all </a:t>
                </a:r>
                <a14:m>
                  <m:oMath xmlns:m="http://schemas.openxmlformats.org/officeDocument/2006/math">
                    <m:r>
                      <a:rPr lang="en-GB" i="1" dirty="0">
                        <a:latin typeface="Cambria Math" panose="02040503050406030204" pitchFamily="18" charset="0"/>
                      </a:rPr>
                      <m:t>𝑖</m:t>
                    </m:r>
                  </m:oMath>
                </a14:m>
                <a:r>
                  <a:rPr lang="en-GB" dirty="0"/>
                  <a:t> and </a:t>
                </a:r>
                <a14:m>
                  <m:oMath xmlns:m="http://schemas.openxmlformats.org/officeDocument/2006/math">
                    <m:r>
                      <a:rPr lang="en-GB" i="1" dirty="0">
                        <a:latin typeface="Cambria Math" panose="02040503050406030204" pitchFamily="18" charset="0"/>
                      </a:rPr>
                      <m:t>𝑗</m:t>
                    </m:r>
                  </m:oMath>
                </a14:m>
                <a:r>
                  <a:rPr lang="en-GB" dirty="0"/>
                  <a:t>), and</a:t>
                </a:r>
                <a14:m>
                  <m:oMath xmlns:m="http://schemas.openxmlformats.org/officeDocument/2006/math">
                    <m:r>
                      <a:rPr lang="en-GB" i="1" dirty="0">
                        <a:latin typeface="Cambria Math" panose="02040503050406030204" pitchFamily="18" charset="0"/>
                      </a:rPr>
                      <m:t> </m:t>
                    </m:r>
                    <m:r>
                      <a:rPr lang="el-GR" i="1" dirty="0">
                        <a:latin typeface="Cambria Math" panose="02040503050406030204" pitchFamily="18" charset="0"/>
                      </a:rPr>
                      <m:t>𝛽</m:t>
                    </m:r>
                    <m:r>
                      <a:rPr lang="en-GB" i="1" dirty="0">
                        <a:latin typeface="Cambria Math" panose="02040503050406030204" pitchFamily="18" charset="0"/>
                      </a:rPr>
                      <m:t> </m:t>
                    </m:r>
                  </m:oMath>
                </a14:m>
                <a:r>
                  <a:rPr lang="en-GB" dirty="0"/>
                  <a:t>is the summation of the </a:t>
                </a:r>
                <a:r>
                  <a:rPr lang="en-GB" b="1" dirty="0"/>
                  <a:t>four nearest neighbours</a:t>
                </a:r>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oMath>
                </a14:m>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r>
                      <a:rPr lang="en-GB" dirty="0">
                        <a:latin typeface="Cambria Math" panose="02040503050406030204" pitchFamily="18" charset="0"/>
                      </a:rPr>
                      <m:t>, </m:t>
                    </m:r>
                    <m:r>
                      <a:rPr lang="en-GB" i="1" dirty="0">
                        <a:latin typeface="Cambria Math" panose="02040503050406030204" pitchFamily="18" charset="0"/>
                      </a:rPr>
                      <m:t>(</m:t>
                    </m:r>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 </m:t>
                    </m:r>
                  </m:oMath>
                </a14:m>
                <a:r>
                  <a:rPr lang="en-GB" dirty="0"/>
                  <a:t>and </a:t>
                </a:r>
                <a14:m>
                  <m:oMath xmlns:m="http://schemas.openxmlformats.org/officeDocument/2006/math">
                    <m:d>
                      <m:dPr>
                        <m:ctrlPr>
                          <a:rPr lang="en-GB" i="1" dirty="0" err="1">
                            <a:latin typeface="Cambria Math" panose="02040503050406030204" pitchFamily="18" charset="0"/>
                          </a:rPr>
                        </m:ctrlPr>
                      </m:dPr>
                      <m:e>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m:t>
                        </m:r>
                      </m:e>
                    </m:d>
                  </m:oMath>
                </a14:m>
                <a:r>
                  <a:rPr lang="en-GB" dirty="0"/>
                  <a:t>[2]. </a:t>
                </a:r>
              </a:p>
              <a:p>
                <a:pPr marL="285750" indent="-285750">
                  <a:buFont typeface="Arial" panose="020B0604020202020204" pitchFamily="34" charset="0"/>
                  <a:buChar char="•"/>
                </a:pPr>
                <a:r>
                  <a:rPr lang="en-GB" dirty="0"/>
                  <a:t>J is the </a:t>
                </a:r>
                <a:r>
                  <a:rPr lang="en-GB" b="1" dirty="0"/>
                  <a:t>interaction strength</a:t>
                </a:r>
                <a:r>
                  <a:rPr lang="en-GB" dirty="0"/>
                  <a:t> between</a:t>
                </a:r>
                <a:r>
                  <a:rPr lang="en-GB" b="1" dirty="0"/>
                  <a:t> neighbouring </a:t>
                </a:r>
                <a:r>
                  <a:rPr lang="en-GB" dirty="0"/>
                  <a:t>spins:  J &gt; 0 and J &lt; 0 corresponding with the tendency for neighbouring spins to align (</a:t>
                </a:r>
                <a:r>
                  <a:rPr lang="en-GB" b="1" dirty="0"/>
                  <a:t>ferromagnetism</a:t>
                </a:r>
                <a:r>
                  <a:rPr lang="en-GB" dirty="0"/>
                  <a:t>) or anti-align (</a:t>
                </a:r>
                <a:r>
                  <a:rPr lang="en-GB" b="1" dirty="0"/>
                  <a:t>anti-ferromagnetism</a:t>
                </a:r>
                <a:r>
                  <a:rPr lang="en-GB" dirty="0"/>
                  <a:t>), respectively.</a:t>
                </a:r>
              </a:p>
              <a:p>
                <a:pPr marL="285750" indent="-285750">
                  <a:buFont typeface="Arial" panose="020B0604020202020204" pitchFamily="34" charset="0"/>
                  <a:buChar char="•"/>
                </a:pPr>
                <a:r>
                  <a:rPr lang="en-GB" b="1" dirty="0"/>
                  <a:t>Average magnetisation </a:t>
                </a:r>
                <a:r>
                  <a:rPr lang="en-GB" dirty="0"/>
                  <a:t>of the lattice can be calculated using:  </a:t>
                </a:r>
              </a:p>
              <a:p>
                <a14:m>
                  <m:oMathPara xmlns:m="http://schemas.openxmlformats.org/officeDocument/2006/math">
                    <m:oMathParaPr>
                      <m:jc m:val="centerGroup"/>
                    </m:oMathParaPr>
                    <m:oMath xmlns:m="http://schemas.openxmlformats.org/officeDocument/2006/math">
                      <m:r>
                        <a:rPr lang="en-GB" sz="2000" i="1">
                          <a:latin typeface="Cambria Math" panose="02040503050406030204" pitchFamily="18" charset="0"/>
                        </a:rPr>
                        <m:t>&lt;</m:t>
                      </m:r>
                      <m:r>
                        <a:rPr lang="en-GB" sz="2000" i="1">
                          <a:latin typeface="Cambria Math" panose="02040503050406030204" pitchFamily="18" charset="0"/>
                        </a:rPr>
                        <m:t>𝑚</m:t>
                      </m:r>
                      <m:r>
                        <a:rPr lang="en-GB" sz="2000" i="1">
                          <a:latin typeface="Cambria Math" panose="02040503050406030204" pitchFamily="18" charset="0"/>
                        </a:rPr>
                        <m:t>&gt; =</m:t>
                      </m:r>
                      <m:f>
                        <m:fPr>
                          <m:ctrlPr>
                            <a:rPr lang="en-GB" sz="2000" i="1">
                              <a:latin typeface="Cambria Math" panose="02040503050406030204" pitchFamily="18" charset="0"/>
                            </a:rPr>
                          </m:ctrlPr>
                        </m:fPr>
                        <m:num>
                          <m:r>
                            <a:rPr lang="en-GB" sz="2000" i="1">
                              <a:latin typeface="Cambria Math" panose="02040503050406030204" pitchFamily="18" charset="0"/>
                            </a:rPr>
                            <m:t>1</m:t>
                          </m:r>
                        </m:num>
                        <m:den>
                          <m:sSub>
                            <m:sSubPr>
                              <m:ctrlPr>
                                <a:rPr lang="en-GB" sz="2000" i="1">
                                  <a:latin typeface="Cambria Math" panose="02040503050406030204" pitchFamily="18" charset="0"/>
                                </a:rPr>
                              </m:ctrlPr>
                            </m:sSubPr>
                            <m:e>
                              <m:r>
                                <a:rPr lang="en-GB" sz="2000" i="1">
                                  <a:latin typeface="Cambria Math" panose="02040503050406030204" pitchFamily="18" charset="0"/>
                                </a:rPr>
                                <m:t>𝑁</m:t>
                              </m:r>
                            </m:e>
                            <m:sub>
                              <m:r>
                                <a:rPr lang="en-GB" sz="2000" i="1">
                                  <a:latin typeface="Cambria Math" panose="02040503050406030204" pitchFamily="18" charset="0"/>
                                </a:rPr>
                                <m:t>𝑥</m:t>
                              </m:r>
                            </m:sub>
                          </m:sSub>
                          <m:sSub>
                            <m:sSubPr>
                              <m:ctrlPr>
                                <a:rPr lang="en-GB" sz="2000" i="1">
                                  <a:latin typeface="Cambria Math" panose="02040503050406030204" pitchFamily="18" charset="0"/>
                                </a:rPr>
                              </m:ctrlPr>
                            </m:sSubPr>
                            <m:e>
                              <m:r>
                                <a:rPr lang="en-GB" sz="2000" i="1">
                                  <a:latin typeface="Cambria Math" panose="02040503050406030204" pitchFamily="18" charset="0"/>
                                </a:rPr>
                                <m:t>𝑁</m:t>
                              </m:r>
                            </m:e>
                            <m:sub>
                              <m:r>
                                <a:rPr lang="en-GB" sz="2000" i="1">
                                  <a:latin typeface="Cambria Math" panose="02040503050406030204" pitchFamily="18" charset="0"/>
                                </a:rPr>
                                <m:t>𝑦</m:t>
                              </m:r>
                            </m:sub>
                          </m:sSub>
                        </m:den>
                      </m:f>
                      <m:nary>
                        <m:naryPr>
                          <m:chr m:val="∑"/>
                          <m:supHide m:val="on"/>
                          <m:ctrlPr>
                            <a:rPr lang="en-GB" sz="2000" i="1">
                              <a:latin typeface="Cambria Math" panose="02040503050406030204" pitchFamily="18" charset="0"/>
                            </a:rPr>
                          </m:ctrlPr>
                        </m:naryPr>
                        <m:sub>
                          <m:r>
                            <a:rPr lang="en-GB" sz="2000" i="1">
                              <a:latin typeface="Cambria Math" panose="02040503050406030204" pitchFamily="18" charset="0"/>
                            </a:rPr>
                            <m:t>𝛼</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a:rPr lang="en-GB" sz="2000" i="1">
                                  <a:latin typeface="Cambria Math" panose="02040503050406030204" pitchFamily="18" charset="0"/>
                                </a:rPr>
                                <m:t>𝛼</m:t>
                              </m:r>
                            </m:sub>
                          </m:sSub>
                        </m:e>
                      </m:nary>
                    </m:oMath>
                  </m:oMathPara>
                </a14:m>
                <a:endParaRPr lang="en-GB" dirty="0"/>
              </a:p>
              <a:p>
                <a:pPr marL="285750" indent="-285750">
                  <a:buFont typeface="Arial" panose="020B0604020202020204" pitchFamily="34" charset="0"/>
                  <a:buChar char="•"/>
                </a:pPr>
                <a:endParaRPr lang="en-GB" dirty="0"/>
              </a:p>
              <a:p>
                <a:endParaRPr lang="en-GB" dirty="0"/>
              </a:p>
            </p:txBody>
          </p:sp>
        </mc:Choice>
        <mc:Fallback>
          <p:sp>
            <p:nvSpPr>
              <p:cNvPr id="14" name="TextBox 13">
                <a:extLst>
                  <a:ext uri="{FF2B5EF4-FFF2-40B4-BE49-F238E27FC236}">
                    <a16:creationId xmlns:a16="http://schemas.microsoft.com/office/drawing/2014/main" id="{142EBF45-DAD4-4128-A68F-7732D3718F25}"/>
                  </a:ext>
                </a:extLst>
              </p:cNvPr>
              <p:cNvSpPr txBox="1">
                <a:spLocks noRot="1" noChangeAspect="1" noMove="1" noResize="1" noEditPoints="1" noAdjustHandles="1" noChangeArrowheads="1" noChangeShapeType="1" noTextEdit="1"/>
              </p:cNvSpPr>
              <p:nvPr/>
            </p:nvSpPr>
            <p:spPr>
              <a:xfrm>
                <a:off x="326823" y="6841014"/>
                <a:ext cx="6972300" cy="7462492"/>
              </a:xfrm>
              <a:prstGeom prst="rect">
                <a:avLst/>
              </a:prstGeom>
              <a:blipFill>
                <a:blip r:embed="rId4"/>
                <a:stretch>
                  <a:fillRect l="-612" t="-245" r="-700"/>
                </a:stretch>
              </a:blipFill>
            </p:spPr>
            <p:txBody>
              <a:bodyPr/>
              <a:lstStyle/>
              <a:p>
                <a:r>
                  <a:rPr lang="en-GB">
                    <a:noFill/>
                  </a:rPr>
                  <a:t> </a:t>
                </a:r>
              </a:p>
            </p:txBody>
          </p:sp>
        </mc:Fallback>
      </mc:AlternateContent>
      <p:sp>
        <p:nvSpPr>
          <p:cNvPr id="4" name="Rectangle 3">
            <a:extLst>
              <a:ext uri="{FF2B5EF4-FFF2-40B4-BE49-F238E27FC236}">
                <a16:creationId xmlns:a16="http://schemas.microsoft.com/office/drawing/2014/main" id="{17B8041B-18B1-5DD5-4B7C-AFE550DBCCF7}"/>
              </a:ext>
            </a:extLst>
          </p:cNvPr>
          <p:cNvSpPr/>
          <p:nvPr/>
        </p:nvSpPr>
        <p:spPr>
          <a:xfrm>
            <a:off x="-1" y="1"/>
            <a:ext cx="21383625" cy="109879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a ferromagnet using the Ising model</a:t>
            </a:r>
          </a:p>
          <a:p>
            <a:pPr algn="ctr"/>
            <a:endParaRPr lang="en-GB" dirty="0"/>
          </a:p>
        </p:txBody>
      </p:sp>
      <p:sp>
        <p:nvSpPr>
          <p:cNvPr id="18" name="Rectangle 17">
            <a:extLst>
              <a:ext uri="{FF2B5EF4-FFF2-40B4-BE49-F238E27FC236}">
                <a16:creationId xmlns:a16="http://schemas.microsoft.com/office/drawing/2014/main" id="{482C4517-EB96-2089-0C36-192E53DB3E35}"/>
              </a:ext>
            </a:extLst>
          </p:cNvPr>
          <p:cNvSpPr/>
          <p:nvPr/>
        </p:nvSpPr>
        <p:spPr>
          <a:xfrm>
            <a:off x="15140965" y="13455839"/>
            <a:ext cx="5956300" cy="306434"/>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sp>
        <p:nvSpPr>
          <p:cNvPr id="27" name="Rectangle 26">
            <a:extLst>
              <a:ext uri="{FF2B5EF4-FFF2-40B4-BE49-F238E27FC236}">
                <a16:creationId xmlns:a16="http://schemas.microsoft.com/office/drawing/2014/main" id="{F2D362B4-FEF3-ABCD-0BF1-4F4BF1FA9DE2}"/>
              </a:ext>
            </a:extLst>
          </p:cNvPr>
          <p:cNvSpPr/>
          <p:nvPr/>
        </p:nvSpPr>
        <p:spPr>
          <a:xfrm>
            <a:off x="1785892" y="9417610"/>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3FD52E38-F02F-0E68-FD53-DEC57C9CD78E}"/>
              </a:ext>
            </a:extLst>
          </p:cNvPr>
          <p:cNvSpPr/>
          <p:nvPr/>
        </p:nvSpPr>
        <p:spPr>
          <a:xfrm>
            <a:off x="4210503" y="9417610"/>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p:sp>
        <p:nvSpPr>
          <p:cNvPr id="3" name="TextBox 2">
            <a:extLst>
              <a:ext uri="{FF2B5EF4-FFF2-40B4-BE49-F238E27FC236}">
                <a16:creationId xmlns:a16="http://schemas.microsoft.com/office/drawing/2014/main" id="{A2E5192E-F9B6-EBEB-952E-C494593A6F2E}"/>
              </a:ext>
            </a:extLst>
          </p:cNvPr>
          <p:cNvSpPr txBox="1"/>
          <p:nvPr/>
        </p:nvSpPr>
        <p:spPr>
          <a:xfrm>
            <a:off x="15131564" y="12106631"/>
            <a:ext cx="5883278" cy="1600438"/>
          </a:xfrm>
          <a:prstGeom prst="rect">
            <a:avLst/>
          </a:prstGeom>
          <a:noFill/>
        </p:spPr>
        <p:txBody>
          <a:bodyPr wrap="square" rtlCol="0">
            <a:spAutoFit/>
          </a:bodyPr>
          <a:lstStyle/>
          <a:p>
            <a:r>
              <a:rPr lang="en-GB" sz="1600" dirty="0"/>
              <a:t>Fig. 2: Plot of average magnetisation per spin against number of sweeps of the Monte Carlo algorithm for a 32x32 lattice, with B = -0.05, J = 0.5, and </a:t>
            </a:r>
            <a:r>
              <a:rPr lang="en-GB" sz="1600" dirty="0" err="1"/>
              <a:t>kT</a:t>
            </a:r>
            <a:r>
              <a:rPr lang="en-GB" sz="1600" dirty="0"/>
              <a:t> = 1. </a:t>
            </a:r>
          </a:p>
          <a:p>
            <a:r>
              <a:rPr lang="en-GB" sz="1600" dirty="0"/>
              <a:t>Insets show lattice at sweeps 0, 5 and 30,  further illustrating the rapid evolution into alignment with the B field.</a:t>
            </a:r>
          </a:p>
          <a:p>
            <a:endParaRPr lang="en-GB" dirty="0"/>
          </a:p>
        </p:txBody>
      </p:sp>
      <p:sp>
        <p:nvSpPr>
          <p:cNvPr id="20" name="TextBox 19">
            <a:extLst>
              <a:ext uri="{FF2B5EF4-FFF2-40B4-BE49-F238E27FC236}">
                <a16:creationId xmlns:a16="http://schemas.microsoft.com/office/drawing/2014/main" id="{826EDA1E-1A59-E795-0569-A790B3A79F1B}"/>
              </a:ext>
            </a:extLst>
          </p:cNvPr>
          <p:cNvSpPr txBox="1"/>
          <p:nvPr/>
        </p:nvSpPr>
        <p:spPr>
          <a:xfrm>
            <a:off x="14949567" y="2496737"/>
            <a:ext cx="5956300" cy="2585323"/>
          </a:xfrm>
          <a:prstGeom prst="rect">
            <a:avLst/>
          </a:prstGeom>
          <a:noFill/>
        </p:spPr>
        <p:txBody>
          <a:bodyPr wrap="square" rtlCol="0">
            <a:spAutoFit/>
          </a:bodyPr>
          <a:lstStyle/>
          <a:p>
            <a:pPr marL="285750" indent="-285750">
              <a:buFont typeface="Arial" panose="020B0604020202020204" pitchFamily="34" charset="0"/>
              <a:buChar char="•"/>
            </a:pPr>
            <a:r>
              <a:rPr lang="en-GB" sz="1780" dirty="0"/>
              <a:t>Fig. 2 shows the </a:t>
            </a:r>
            <a:r>
              <a:rPr lang="en-GB" sz="1780" b="1" dirty="0"/>
              <a:t>average magnetisation </a:t>
            </a:r>
            <a:r>
              <a:rPr lang="en-GB" sz="1780" dirty="0"/>
              <a:t>as a function of </a:t>
            </a:r>
            <a:r>
              <a:rPr lang="en-GB" sz="1780" b="1" dirty="0"/>
              <a:t>sweeps</a:t>
            </a:r>
            <a:r>
              <a:rPr lang="en-GB" sz="1780" dirty="0"/>
              <a:t>, for  a 32x32 lattice with B = -0.05 and J = 0.5.</a:t>
            </a:r>
          </a:p>
          <a:p>
            <a:pPr marL="285750" indent="-285750">
              <a:buFont typeface="Arial" panose="020B0604020202020204" pitchFamily="34" charset="0"/>
              <a:buChar char="•"/>
            </a:pPr>
            <a:r>
              <a:rPr lang="en-GB" sz="1780" dirty="0"/>
              <a:t> We define the </a:t>
            </a:r>
            <a:r>
              <a:rPr lang="en-GB" sz="1780" b="1" dirty="0"/>
              <a:t>steady state region </a:t>
            </a:r>
            <a:r>
              <a:rPr lang="en-GB" sz="1780" dirty="0"/>
              <a:t>as the point where the running average magnetisation doesn’t fluctuate by more than 5% of the difference between the initial and final value.</a:t>
            </a:r>
            <a:endParaRPr lang="en-GB" sz="1780" dirty="0">
              <a:solidFill>
                <a:srgbClr val="FF0000"/>
              </a:solidFill>
            </a:endParaRPr>
          </a:p>
          <a:p>
            <a:pPr marL="285750" indent="-285750">
              <a:buFont typeface="Arial" panose="020B0604020202020204" pitchFamily="34" charset="0"/>
              <a:buChar char="•"/>
            </a:pPr>
            <a:r>
              <a:rPr lang="en-GB" sz="1780" b="1" dirty="0"/>
              <a:t>Average magnetisation</a:t>
            </a:r>
            <a:r>
              <a:rPr lang="en-GB" sz="1780" dirty="0"/>
              <a:t> predicted by my </a:t>
            </a:r>
            <a:r>
              <a:rPr lang="en-GB" sz="1780" b="1" dirty="0"/>
              <a:t>simulation</a:t>
            </a:r>
            <a:r>
              <a:rPr lang="en-GB" sz="1780" dirty="0"/>
              <a:t>, </a:t>
            </a:r>
            <a:r>
              <a:rPr lang="en-GB" sz="1780" b="1" dirty="0"/>
              <a:t>Mean Field theory </a:t>
            </a:r>
            <a:r>
              <a:rPr lang="en-GB" sz="1780" dirty="0"/>
              <a:t>[4] and an </a:t>
            </a:r>
            <a:r>
              <a:rPr lang="en-GB" sz="1780" b="1" dirty="0"/>
              <a:t>Ansatz approach </a:t>
            </a:r>
            <a:r>
              <a:rPr lang="en-GB" sz="1780" dirty="0"/>
              <a:t>[5] is shown in table 1 below in </a:t>
            </a:r>
            <a:r>
              <a:rPr lang="en-GB" sz="1780" b="1" dirty="0"/>
              <a:t>Table 1</a:t>
            </a:r>
            <a:r>
              <a:rPr lang="en-GB" sz="1780" dirty="0"/>
              <a:t>.</a:t>
            </a:r>
          </a:p>
        </p:txBody>
      </p:sp>
      <p:sp>
        <p:nvSpPr>
          <p:cNvPr id="21" name="TextBox 20">
            <a:extLst>
              <a:ext uri="{FF2B5EF4-FFF2-40B4-BE49-F238E27FC236}">
                <a16:creationId xmlns:a16="http://schemas.microsoft.com/office/drawing/2014/main" id="{ABB015C4-D903-25C7-84C5-C99254445789}"/>
              </a:ext>
            </a:extLst>
          </p:cNvPr>
          <p:cNvSpPr txBox="1"/>
          <p:nvPr/>
        </p:nvSpPr>
        <p:spPr>
          <a:xfrm>
            <a:off x="15126436" y="13762273"/>
            <a:ext cx="5985358" cy="1323439"/>
          </a:xfrm>
          <a:prstGeom prst="rect">
            <a:avLst/>
          </a:prstGeom>
          <a:noFill/>
        </p:spPr>
        <p:txBody>
          <a:bodyPr wrap="square" rtlCol="0">
            <a:spAutoFit/>
          </a:bodyPr>
          <a:lstStyle/>
          <a:p>
            <a:pPr marL="228600" indent="-228600">
              <a:buAutoNum type="arabicPeriod"/>
            </a:pPr>
            <a:r>
              <a:rPr lang="de-DE" sz="800" dirty="0"/>
              <a:t>Ising, E. Beitrag zur Theorie des Ferromagnetismus. </a:t>
            </a:r>
            <a:r>
              <a:rPr lang="de-DE" sz="800" i="1" dirty="0"/>
              <a:t>Z. Physik</a:t>
            </a:r>
            <a:r>
              <a:rPr lang="de-DE" sz="800" dirty="0"/>
              <a:t> </a:t>
            </a:r>
            <a:r>
              <a:rPr lang="de-DE" sz="800" b="1" dirty="0"/>
              <a:t>31</a:t>
            </a:r>
            <a:r>
              <a:rPr lang="de-DE" sz="800" dirty="0"/>
              <a:t>, 253–258 (1925). </a:t>
            </a:r>
            <a:r>
              <a:rPr lang="de-DE" sz="800" dirty="0">
                <a:hlinkClick r:id="rId5"/>
              </a:rPr>
              <a:t>https://doi.org/10.1007/BF02980577</a:t>
            </a:r>
            <a:endParaRPr lang="de-DE" sz="800" dirty="0"/>
          </a:p>
          <a:p>
            <a:pPr marL="228600" indent="-228600">
              <a:buAutoNum type="arabicPeriod"/>
            </a:pPr>
            <a:r>
              <a:rPr lang="en-GB" sz="800" dirty="0"/>
              <a:t>Onsager, L. Crystal Statistics. I. A Two-Dimensional Model with an Order-Disorder Transition. </a:t>
            </a:r>
            <a:r>
              <a:rPr lang="en-GB" sz="800" i="1" dirty="0"/>
              <a:t>Phys. Rev.</a:t>
            </a:r>
            <a:r>
              <a:rPr lang="en-GB" sz="800" dirty="0"/>
              <a:t> </a:t>
            </a:r>
            <a:r>
              <a:rPr lang="en-GB" sz="800" b="1" dirty="0"/>
              <a:t>65</a:t>
            </a:r>
            <a:r>
              <a:rPr lang="en-GB" sz="800" dirty="0"/>
              <a:t>, 117–149 (1944). </a:t>
            </a:r>
            <a:r>
              <a:rPr lang="en-GB" sz="800" dirty="0">
                <a:hlinkClick r:id="rId6"/>
              </a:rPr>
              <a:t>https://doi.org/10.1103/PhysRev.65.117</a:t>
            </a:r>
            <a:endParaRPr lang="en-GB" sz="800" dirty="0"/>
          </a:p>
          <a:p>
            <a:pPr marL="228600" indent="-228600">
              <a:buAutoNum type="arabicPeriod"/>
            </a:pPr>
            <a:r>
              <a:rPr lang="en-GB" sz="800" dirty="0"/>
              <a:t>Metropolis, N., Rosenbluth, A., Rosenbluth, M., Teller, A., and Teller, E. (1953). Equations of state calculations by fast computing machines. J. Chem. Phys., 21(6): 10871092.</a:t>
            </a:r>
          </a:p>
          <a:p>
            <a:pPr marL="228600" indent="-228600">
              <a:buAutoNum type="arabicPeriod"/>
            </a:pPr>
            <a:r>
              <a:rPr lang="en-GB" sz="800" dirty="0"/>
              <a:t>Sakthivadivel, Dalton A. R. "Magnetisation and mean field theory in the Ising model." </a:t>
            </a:r>
            <a:r>
              <a:rPr lang="en-GB" sz="800" dirty="0" err="1"/>
              <a:t>SciPost</a:t>
            </a:r>
            <a:r>
              <a:rPr lang="en-GB" sz="800" dirty="0"/>
              <a:t> Physics Lecture Notes, vol. 35, 2022. </a:t>
            </a:r>
            <a:r>
              <a:rPr lang="en-GB" sz="800" dirty="0" err="1"/>
              <a:t>arXiv</a:t>
            </a:r>
            <a:r>
              <a:rPr lang="en-GB" sz="800" dirty="0"/>
              <a:t>, 2102.00960.</a:t>
            </a:r>
          </a:p>
          <a:p>
            <a:pPr marL="228600" indent="-228600">
              <a:buAutoNum type="arabicPeriod"/>
            </a:pPr>
            <a:r>
              <a:rPr lang="en-GB" sz="800" dirty="0"/>
              <a:t>Alexanian, Moorad. "Ansatz for the Two-Dimensional Ising Model in an External Magnetic Field." Armenian Journal of Physics, vol. 17, no. 3, 2024, pp. 52–57. doi:10.54503/18291171-2024.17.3-52.</a:t>
            </a:r>
          </a:p>
          <a:p>
            <a:r>
              <a:rPr lang="en-GB" sz="800" dirty="0"/>
              <a:t>Generative AI in the form of ChatGPT was occasionally used to improve clarity of writing only. </a:t>
            </a:r>
          </a:p>
        </p:txBody>
      </p:sp>
      <p:sp>
        <p:nvSpPr>
          <p:cNvPr id="9" name="Rectangle 8">
            <a:extLst>
              <a:ext uri="{FF2B5EF4-FFF2-40B4-BE49-F238E27FC236}">
                <a16:creationId xmlns:a16="http://schemas.microsoft.com/office/drawing/2014/main" id="{7F4E5659-141B-DED8-6A18-A4C0B5E78B51}"/>
              </a:ext>
            </a:extLst>
          </p:cNvPr>
          <p:cNvSpPr/>
          <p:nvPr/>
        </p:nvSpPr>
        <p:spPr>
          <a:xfrm>
            <a:off x="278636" y="1964483"/>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C12B12DE-3A52-400E-7149-20017B0387C7}"/>
              </a:ext>
            </a:extLst>
          </p:cNvPr>
          <p:cNvSpPr txBox="1"/>
          <p:nvPr/>
        </p:nvSpPr>
        <p:spPr>
          <a:xfrm>
            <a:off x="271563" y="2741819"/>
            <a:ext cx="7056132" cy="3139321"/>
          </a:xfrm>
          <a:prstGeom prst="rect">
            <a:avLst/>
          </a:prstGeom>
          <a:noFill/>
        </p:spPr>
        <p:txBody>
          <a:bodyPr wrap="square" rtlCol="0">
            <a:spAutoFit/>
          </a:bodyPr>
          <a:lstStyle/>
          <a:p>
            <a:pPr marL="285750" indent="-285750">
              <a:buFont typeface="Arial" panose="020B0604020202020204" pitchFamily="34" charset="0"/>
              <a:buChar char="•"/>
            </a:pPr>
            <a:r>
              <a:rPr lang="en-GB" b="1" dirty="0"/>
              <a:t>Magnetism</a:t>
            </a:r>
            <a:r>
              <a:rPr lang="en-GB" dirty="0"/>
              <a:t> has long been central to technology, from early compasses to modern data storage. </a:t>
            </a:r>
          </a:p>
          <a:p>
            <a:pPr marL="285750" indent="-285750">
              <a:buFont typeface="Arial" panose="020B0604020202020204" pitchFamily="34" charset="0"/>
              <a:buChar char="•"/>
            </a:pPr>
            <a:r>
              <a:rPr lang="en-GB" dirty="0"/>
              <a:t>Many models successfully described</a:t>
            </a:r>
            <a:r>
              <a:rPr lang="en-GB" b="1" dirty="0"/>
              <a:t> ferromagnetism</a:t>
            </a:r>
            <a:r>
              <a:rPr lang="en-GB" dirty="0"/>
              <a:t>, such as </a:t>
            </a:r>
            <a:r>
              <a:rPr lang="en-GB" b="1" dirty="0"/>
              <a:t>Mean Field Theory (MFT) </a:t>
            </a:r>
            <a:r>
              <a:rPr lang="en-GB" dirty="0"/>
              <a:t>and the </a:t>
            </a:r>
            <a:r>
              <a:rPr lang="en-GB" b="1" dirty="0"/>
              <a:t>Heisenberg model</a:t>
            </a:r>
            <a:r>
              <a:rPr lang="en-GB" dirty="0"/>
              <a:t>, but the </a:t>
            </a:r>
            <a:r>
              <a:rPr lang="en-GB" b="1" dirty="0"/>
              <a:t>Ising model</a:t>
            </a:r>
            <a:r>
              <a:rPr lang="en-GB" dirty="0"/>
              <a:t> stands out for its </a:t>
            </a:r>
            <a:r>
              <a:rPr lang="en-GB" b="1" dirty="0"/>
              <a:t>simplicity</a:t>
            </a:r>
            <a:r>
              <a:rPr lang="en-GB" dirty="0"/>
              <a:t> and </a:t>
            </a:r>
            <a:r>
              <a:rPr lang="en-GB" b="1" dirty="0"/>
              <a:t>analytical tractability</a:t>
            </a:r>
            <a:r>
              <a:rPr lang="en-GB" dirty="0"/>
              <a:t>.</a:t>
            </a:r>
          </a:p>
          <a:p>
            <a:pPr marL="285750" indent="-285750">
              <a:buFont typeface="Arial" panose="020B0604020202020204" pitchFamily="34" charset="0"/>
              <a:buChar char="•"/>
            </a:pPr>
            <a:r>
              <a:rPr lang="en-GB" dirty="0"/>
              <a:t> Despite being simple, it captures key phenomena, such as</a:t>
            </a:r>
            <a:r>
              <a:rPr lang="en-GB" b="1" dirty="0"/>
              <a:t> phase transitions and critical temperatures</a:t>
            </a:r>
            <a:r>
              <a:rPr lang="en-GB" dirty="0"/>
              <a:t>, and is widely used even outside of physics e.g. to model financial markets. </a:t>
            </a:r>
          </a:p>
          <a:p>
            <a:pPr marL="285750" indent="-285750">
              <a:buFont typeface="Arial" panose="020B0604020202020204" pitchFamily="34" charset="0"/>
              <a:buChar char="•"/>
            </a:pPr>
            <a:r>
              <a:rPr lang="en-GB" dirty="0"/>
              <a:t>In this project, the </a:t>
            </a:r>
            <a:r>
              <a:rPr lang="en-GB" b="1" dirty="0"/>
              <a:t>Ising model </a:t>
            </a:r>
            <a:r>
              <a:rPr lang="en-GB" dirty="0"/>
              <a:t>is used to calculate the </a:t>
            </a:r>
            <a:r>
              <a:rPr lang="en-GB" b="1" dirty="0"/>
              <a:t>average magnetisation </a:t>
            </a:r>
            <a:r>
              <a:rPr lang="en-GB" dirty="0"/>
              <a:t>(at steady state) of a lattice when placed in an </a:t>
            </a:r>
            <a:r>
              <a:rPr lang="en-GB" b="1" dirty="0"/>
              <a:t>external field </a:t>
            </a:r>
          </a:p>
        </p:txBody>
      </p:sp>
      <p:sp>
        <p:nvSpPr>
          <p:cNvPr id="24" name="TextBox 23">
            <a:extLst>
              <a:ext uri="{FF2B5EF4-FFF2-40B4-BE49-F238E27FC236}">
                <a16:creationId xmlns:a16="http://schemas.microsoft.com/office/drawing/2014/main" id="{834A7068-129E-17FC-4D8B-22C28FF01251}"/>
              </a:ext>
            </a:extLst>
          </p:cNvPr>
          <p:cNvSpPr txBox="1"/>
          <p:nvPr/>
        </p:nvSpPr>
        <p:spPr>
          <a:xfrm>
            <a:off x="11030388" y="2532933"/>
            <a:ext cx="3081884" cy="2369880"/>
          </a:xfrm>
          <a:prstGeom prst="rect">
            <a:avLst/>
          </a:prstGeom>
          <a:noFill/>
        </p:spPr>
        <p:txBody>
          <a:bodyPr wrap="square" rtlCol="0">
            <a:spAutoFit/>
          </a:bodyPr>
          <a:lstStyle/>
          <a:p>
            <a:r>
              <a:rPr lang="en-GB" sz="1600" dirty="0"/>
              <a:t>Fig. 1: </a:t>
            </a:r>
            <a:r>
              <a:rPr lang="en-GB" sz="1600" b="1" dirty="0"/>
              <a:t>Periodic lattice </a:t>
            </a:r>
            <a:r>
              <a:rPr lang="en-GB" sz="1600" dirty="0"/>
              <a:t>(i.e. edges wrap around) with randomly assigned spins. White = </a:t>
            </a:r>
            <a:r>
              <a:rPr lang="en-GB" sz="1600" b="1" dirty="0"/>
              <a:t>spin-up</a:t>
            </a:r>
            <a:r>
              <a:rPr lang="en-GB" sz="1600" dirty="0"/>
              <a:t>, Black = </a:t>
            </a:r>
            <a:r>
              <a:rPr lang="en-GB" sz="1600" b="1" dirty="0"/>
              <a:t>spin-down</a:t>
            </a:r>
            <a:r>
              <a:rPr lang="en-GB" sz="1600" dirty="0"/>
              <a:t> . </a:t>
            </a:r>
          </a:p>
          <a:p>
            <a:r>
              <a:rPr lang="en-GB" sz="1600" dirty="0"/>
              <a:t>The four </a:t>
            </a:r>
            <a:r>
              <a:rPr lang="en-GB" sz="1600" b="1" dirty="0"/>
              <a:t>nearest neighbours </a:t>
            </a:r>
            <a:r>
              <a:rPr lang="en-GB" sz="1600" dirty="0"/>
              <a:t>of the centre square are shown using red borders and numbers.</a:t>
            </a:r>
          </a:p>
          <a:p>
            <a:endParaRPr lang="en-GB" dirty="0"/>
          </a:p>
          <a:p>
            <a:endParaRPr lang="en-GB" dirty="0"/>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0DF1E3E3-1F06-01AF-18DE-FF81AC1EF299}"/>
                  </a:ext>
                </a:extLst>
              </p:cNvPr>
              <p:cNvSpPr txBox="1"/>
              <p:nvPr/>
            </p:nvSpPr>
            <p:spPr>
              <a:xfrm>
                <a:off x="7788273" y="6021089"/>
                <a:ext cx="6594475" cy="3614516"/>
              </a:xfrm>
              <a:prstGeom prst="rect">
                <a:avLst/>
              </a:prstGeom>
              <a:noFill/>
            </p:spPr>
            <p:txBody>
              <a:bodyPr wrap="square">
                <a:spAutoFit/>
              </a:bodyPr>
              <a:lstStyle/>
              <a:p>
                <a:pPr marL="285750" indent="-285750">
                  <a:buFont typeface="Arial" panose="020B0604020202020204" pitchFamily="34" charset="0"/>
                  <a:buChar char="•"/>
                </a:pPr>
                <a:r>
                  <a:rPr lang="en-GB" sz="1800" dirty="0"/>
                  <a:t>Even using a small lattice, checking each possible </a:t>
                </a:r>
                <a:r>
                  <a:rPr lang="en-GB" sz="1800" b="1" dirty="0"/>
                  <a:t>state configuration</a:t>
                </a:r>
                <a:r>
                  <a:rPr lang="en-GB" sz="1800" dirty="0"/>
                  <a:t> would be impossible</a:t>
                </a:r>
                <a:r>
                  <a:rPr lang="en-GB" dirty="0"/>
                  <a: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sup>
                    </m:sSup>
                    <m:r>
                      <a:rPr lang="en-GB" b="0" i="1" smtClean="0">
                        <a:latin typeface="Cambria Math" panose="02040503050406030204" pitchFamily="18" charset="0"/>
                      </a:rPr>
                      <m:t> </m:t>
                    </m:r>
                  </m:oMath>
                </a14:m>
                <a:r>
                  <a:rPr lang="en-GB" sz="1800" dirty="0"/>
                  <a:t>configurations)</a:t>
                </a:r>
              </a:p>
              <a:p>
                <a:pPr marL="285750" indent="-285750">
                  <a:buFont typeface="Arial" panose="020B0604020202020204" pitchFamily="34" charset="0"/>
                  <a:buChar char="•"/>
                </a:pPr>
                <a:r>
                  <a:rPr lang="en-GB" sz="1800" dirty="0"/>
                  <a:t>To address this, we remove configurations that are extremely unlikely</a:t>
                </a:r>
                <a:r>
                  <a:rPr lang="en-GB" dirty="0"/>
                  <a:t> </a:t>
                </a:r>
                <a:r>
                  <a:rPr lang="en-GB" sz="1800" dirty="0"/>
                  <a:t>by considering the </a:t>
                </a:r>
                <a:r>
                  <a:rPr lang="en-GB" sz="1800" b="1" dirty="0"/>
                  <a:t>partition function</a:t>
                </a:r>
                <a:r>
                  <a:rPr lang="en-GB" sz="1800" dirty="0"/>
                  <a:t>, </a:t>
                </a:r>
                <a14:m>
                  <m:oMath xmlns:m="http://schemas.openxmlformats.org/officeDocument/2006/math">
                    <m:r>
                      <a:rPr lang="en-GB" sz="1800" b="0" i="1" smtClean="0">
                        <a:latin typeface="Cambria Math" panose="02040503050406030204" pitchFamily="18" charset="0"/>
                      </a:rPr>
                      <m:t>𝑍</m:t>
                    </m:r>
                  </m:oMath>
                </a14:m>
                <a:r>
                  <a:rPr lang="en-GB" sz="1800" dirty="0"/>
                  <a:t>. </a:t>
                </a:r>
              </a:p>
              <a:p>
                <a:pPr marL="285750" indent="-285750">
                  <a:buFont typeface="Arial" panose="020B0604020202020204" pitchFamily="34" charset="0"/>
                  <a:buChar char="•"/>
                </a:pPr>
                <a:r>
                  <a:rPr lang="en-GB" sz="1800" dirty="0"/>
                  <a:t>This helps us determine which  states are </a:t>
                </a:r>
                <a:r>
                  <a:rPr lang="en-GB" sz="1800" b="1" dirty="0"/>
                  <a:t>most probable </a:t>
                </a:r>
                <a:r>
                  <a:rPr lang="en-GB" sz="1800" dirty="0"/>
                  <a:t>at a given temperature, so we can restrict our consideration to these configurations only. </a:t>
                </a:r>
              </a:p>
              <a:p>
                <a:pPr marL="285750" indent="-285750">
                  <a:buFont typeface="Arial" panose="020B0604020202020204" pitchFamily="34" charset="0"/>
                  <a:buChar char="•"/>
                </a:pPr>
                <a:r>
                  <a:rPr lang="en-GB" sz="1800" dirty="0"/>
                  <a:t>We define the </a:t>
                </a:r>
                <a:r>
                  <a:rPr lang="en-GB" sz="1800" b="1" dirty="0"/>
                  <a:t>partition function </a:t>
                </a:r>
                <a:r>
                  <a:rPr lang="en-GB" sz="1800" dirty="0"/>
                  <a:t>as </a:t>
                </a:r>
              </a:p>
              <a:p>
                <a:pPr/>
                <a14:m>
                  <m:oMathPara xmlns:m="http://schemas.openxmlformats.org/officeDocument/2006/math">
                    <m:oMathParaPr>
                      <m:jc m:val="centerGroup"/>
                    </m:oMathParaPr>
                    <m:oMath xmlns:m="http://schemas.openxmlformats.org/officeDocument/2006/math">
                      <m:r>
                        <a:rPr lang="en-GB" sz="2000" b="0" i="1" smtClean="0">
                          <a:latin typeface="Cambria Math" panose="02040503050406030204" pitchFamily="18" charset="0"/>
                        </a:rPr>
                        <m:t>𝑍</m:t>
                      </m:r>
                      <m:r>
                        <a:rPr lang="en-GB" sz="2000" b="0" i="1" smtClean="0">
                          <a:latin typeface="Cambria Math" panose="02040503050406030204" pitchFamily="18" charset="0"/>
                        </a:rPr>
                        <m:t>= </m:t>
                      </m:r>
                      <m:nary>
                        <m:naryPr>
                          <m:chr m:val="∑"/>
                          <m:supHide m:val="on"/>
                          <m:ctrlPr>
                            <a:rPr lang="en-GB" sz="2000" b="0" i="1" smtClean="0">
                              <a:latin typeface="Cambria Math" panose="02040503050406030204" pitchFamily="18" charset="0"/>
                            </a:rPr>
                          </m:ctrlPr>
                        </m:naryPr>
                        <m:sub>
                          <m:r>
                            <m:rPr>
                              <m:brk m:alnAt="7"/>
                            </m:rPr>
                            <a:rPr lang="en-GB" sz="2000" b="0" i="1" smtClean="0">
                              <a:latin typeface="Cambria Math" panose="02040503050406030204" pitchFamily="18" charset="0"/>
                            </a:rPr>
                            <m:t>𝑖</m:t>
                          </m:r>
                        </m:sub>
                        <m:sup/>
                        <m:e>
                          <m:r>
                            <m:rPr>
                              <m:sty m:val="p"/>
                            </m:rPr>
                            <a:rPr lang="en-GB" sz="2000" b="0" i="0" smtClean="0">
                              <a:latin typeface="Cambria Math" panose="02040503050406030204" pitchFamily="18" charset="0"/>
                            </a:rPr>
                            <m:t>exp</m:t>
                          </m:r>
                          <m:r>
                            <a:rPr lang="en-GB" sz="2000" b="0" i="1" smtClean="0">
                              <a:latin typeface="Cambria Math" panose="02040503050406030204" pitchFamily="18" charset="0"/>
                            </a:rPr>
                            <m:t>⁡</m:t>
                          </m:r>
                          <m:f>
                            <m:fPr>
                              <m:type m:val="skw"/>
                              <m:ctrlPr>
                                <a:rPr lang="en-GB" sz="2000" b="0" i="1" smtClean="0">
                                  <a:latin typeface="Cambria Math" panose="02040503050406030204" pitchFamily="18" charset="0"/>
                                </a:rPr>
                              </m:ctrlPr>
                            </m:fPr>
                            <m:num>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𝐸</m:t>
                                  </m:r>
                                </m:e>
                                <m:sub>
                                  <m:r>
                                    <a:rPr lang="en-GB" sz="2000" b="0" i="1" smtClean="0">
                                      <a:latin typeface="Cambria Math" panose="02040503050406030204" pitchFamily="18" charset="0"/>
                                    </a:rPr>
                                    <m:t>𝑖</m:t>
                                  </m:r>
                                </m:sub>
                              </m:sSub>
                            </m:num>
                            <m:den>
                              <m:r>
                                <a:rPr lang="en-GB" sz="2000" b="0" i="1" smtClean="0">
                                  <a:latin typeface="Cambria Math" panose="02040503050406030204" pitchFamily="18" charset="0"/>
                                </a:rPr>
                                <m:t>𝑘𝑇</m:t>
                              </m:r>
                            </m:den>
                          </m:f>
                        </m:e>
                      </m:nary>
                      <m:r>
                        <a:rPr lang="en-GB" sz="2000" b="0" i="0" smtClean="0">
                          <a:latin typeface="Cambria Math" panose="02040503050406030204" pitchFamily="18" charset="0"/>
                        </a:rPr>
                        <m:t>,</m:t>
                      </m:r>
                    </m:oMath>
                  </m:oMathPara>
                </a14:m>
                <a:endParaRPr lang="en-GB" sz="1800" dirty="0"/>
              </a:p>
              <a:p>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a:t>
                </a:r>
              </a:p>
            </p:txBody>
          </p:sp>
        </mc:Choice>
        <mc:Fallback>
          <p:sp>
            <p:nvSpPr>
              <p:cNvPr id="38" name="TextBox 37">
                <a:extLst>
                  <a:ext uri="{FF2B5EF4-FFF2-40B4-BE49-F238E27FC236}">
                    <a16:creationId xmlns:a16="http://schemas.microsoft.com/office/drawing/2014/main" id="{0DF1E3E3-1F06-01AF-18DE-FF81AC1EF299}"/>
                  </a:ext>
                </a:extLst>
              </p:cNvPr>
              <p:cNvSpPr txBox="1">
                <a:spLocks noRot="1" noChangeAspect="1" noMove="1" noResize="1" noEditPoints="1" noAdjustHandles="1" noChangeArrowheads="1" noChangeShapeType="1" noTextEdit="1"/>
              </p:cNvSpPr>
              <p:nvPr/>
            </p:nvSpPr>
            <p:spPr>
              <a:xfrm>
                <a:off x="7788273" y="6021089"/>
                <a:ext cx="6594475" cy="3614516"/>
              </a:xfrm>
              <a:prstGeom prst="rect">
                <a:avLst/>
              </a:prstGeom>
              <a:blipFill>
                <a:blip r:embed="rId7"/>
                <a:stretch>
                  <a:fillRect l="-833" t="-843" r="-1203" b="-185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C6D2BD82-D252-3AD0-DD27-163993D2EA4E}"/>
                  </a:ext>
                </a:extLst>
              </p:cNvPr>
              <p:cNvSpPr txBox="1"/>
              <p:nvPr/>
            </p:nvSpPr>
            <p:spPr>
              <a:xfrm>
                <a:off x="7678029" y="10317907"/>
                <a:ext cx="6704718" cy="4801443"/>
              </a:xfrm>
              <a:prstGeom prst="rect">
                <a:avLst/>
              </a:prstGeom>
              <a:noFill/>
            </p:spPr>
            <p:txBody>
              <a:bodyPr wrap="square">
                <a:spAutoFit/>
              </a:bodyPr>
              <a:lstStyle/>
              <a:p>
                <a:pPr marL="285750" indent="-285750">
                  <a:buFont typeface="Arial" panose="020B0604020202020204" pitchFamily="34" charset="0"/>
                  <a:buChar char="•"/>
                </a:pPr>
                <a:r>
                  <a:rPr lang="en-GB" dirty="0"/>
                  <a:t>To update the lattice, we flip a chosen spin and calculate the resulting </a:t>
                </a:r>
                <a:r>
                  <a:rPr lang="en-GB" b="1" dirty="0"/>
                  <a:t>energy change</a:t>
                </a:r>
                <a:r>
                  <a:rPr lang="en-GB" dirty="0"/>
                  <a:t>, </a:t>
                </a:r>
                <a14:m>
                  <m:oMath xmlns:m="http://schemas.openxmlformats.org/officeDocument/2006/math">
                    <m:r>
                      <m:rPr>
                        <m:sty m:val="p"/>
                      </m:rPr>
                      <a:rPr lang="en-GB">
                        <a:latin typeface="Cambria Math" panose="02040503050406030204" pitchFamily="18" charset="0"/>
                        <a:cs typeface="Times New Roman" panose="02020603050405020304" pitchFamily="18" charset="0"/>
                      </a:rPr>
                      <m:t>Δ</m:t>
                    </m:r>
                    <m:r>
                      <a:rPr lang="en-GB" i="1">
                        <a:latin typeface="Cambria Math" panose="02040503050406030204" pitchFamily="18" charset="0"/>
                        <a:cs typeface="Times New Roman" panose="02020603050405020304" pitchFamily="18" charset="0"/>
                      </a:rPr>
                      <m:t>𝐸</m:t>
                    </m:r>
                    <m:r>
                      <a:rPr lang="en-GB" i="1">
                        <a:latin typeface="Cambria Math" panose="02040503050406030204" pitchFamily="18" charset="0"/>
                        <a:cs typeface="Times New Roman" panose="02020603050405020304" pitchFamily="18" charset="0"/>
                      </a:rPr>
                      <m:t>=−2</m:t>
                    </m:r>
                    <m:d>
                      <m:dPr>
                        <m:begChr m:val="["/>
                        <m:endChr m:val="]"/>
                        <m:ctrlPr>
                          <a:rPr lang="en-GB" i="1">
                            <a:latin typeface="Cambria Math" panose="02040503050406030204" pitchFamily="18" charset="0"/>
                            <a:cs typeface="Times New Roman" panose="02020603050405020304" pitchFamily="18" charset="0"/>
                          </a:rPr>
                        </m:ctrlPr>
                      </m:dPr>
                      <m:e>
                        <m:r>
                          <a:rPr lang="en-GB" i="1">
                            <a:latin typeface="Cambria Math" panose="02040503050406030204" pitchFamily="18" charset="0"/>
                            <a:cs typeface="Times New Roman" panose="02020603050405020304" pitchFamily="18" charset="0"/>
                          </a:rPr>
                          <m:t>𝐽𝑓</m:t>
                        </m:r>
                        <m:r>
                          <a:rPr lang="en-GB" i="1">
                            <a:latin typeface="Cambria Math" panose="02040503050406030204" pitchFamily="18" charset="0"/>
                            <a:cs typeface="Times New Roman" panose="02020603050405020304" pitchFamily="18" charset="0"/>
                          </a:rPr>
                          <m:t>+</m:t>
                        </m:r>
                        <m:r>
                          <a:rPr lang="en-GB" i="1">
                            <a:latin typeface="Cambria Math" panose="02040503050406030204" pitchFamily="18" charset="0"/>
                            <a:cs typeface="Times New Roman" panose="02020603050405020304" pitchFamily="18" charset="0"/>
                          </a:rPr>
                          <m:t>𝐵</m:t>
                        </m:r>
                      </m:e>
                    </m:d>
                    <m:sSub>
                      <m:sSubPr>
                        <m:ctrlPr>
                          <a:rPr lang="en-GB" i="1">
                            <a:latin typeface="Cambria Math" panose="02040503050406030204" pitchFamily="18" charset="0"/>
                            <a:cs typeface="Times New Roman" panose="02020603050405020304" pitchFamily="18" charset="0"/>
                          </a:rPr>
                        </m:ctrlPr>
                      </m:sSubPr>
                      <m:e>
                        <m:r>
                          <a:rPr lang="en-GB" i="1">
                            <a:latin typeface="Cambria Math" panose="02040503050406030204" pitchFamily="18" charset="0"/>
                            <a:cs typeface="Times New Roman" panose="02020603050405020304" pitchFamily="18" charset="0"/>
                          </a:rPr>
                          <m:t>𝑆</m:t>
                        </m:r>
                      </m:e>
                      <m:sub>
                        <m:r>
                          <m:rPr>
                            <m:sty m:val="p"/>
                          </m:rPr>
                          <a:rPr lang="en-GB" i="1">
                            <a:latin typeface="Cambria Math" panose="02040503050406030204" pitchFamily="18" charset="0"/>
                            <a:cs typeface="Times New Roman" panose="02020603050405020304" pitchFamily="18" charset="0"/>
                          </a:rPr>
                          <m:t>α</m:t>
                        </m:r>
                      </m:sub>
                    </m:sSub>
                    <m:r>
                      <a:rPr lang="en-GB" b="0" i="0" smtClean="0">
                        <a:latin typeface="Cambria Math" panose="02040503050406030204" pitchFamily="18" charset="0"/>
                        <a:cs typeface="Times New Roman" panose="02020603050405020304" pitchFamily="18" charset="0"/>
                      </a:rPr>
                      <m:t>.</m:t>
                    </m:r>
                  </m:oMath>
                </a14:m>
                <a:r>
                  <a:rPr lang="en-GB" dirty="0"/>
                  <a:t> We use this to gauge how likely this flip is to occur.</a:t>
                </a:r>
              </a:p>
              <a:p>
                <a:pPr marL="742950" lvl="1" indent="-285750">
                  <a:buFont typeface="Arial" panose="020B0604020202020204" pitchFamily="34" charset="0"/>
                  <a:buChar char="•"/>
                </a:pPr>
                <a:r>
                  <a:rPr lang="en-GB" dirty="0"/>
                  <a:t>f is the sum of the </a:t>
                </a:r>
                <a:r>
                  <a:rPr lang="en-GB" b="1" dirty="0"/>
                  <a:t>four neighbouring spins</a:t>
                </a:r>
                <a:r>
                  <a:rPr lang="en-GB" dirty="0"/>
                  <a:t>.</a:t>
                </a:r>
              </a:p>
              <a:p>
                <a:pPr marL="742950" lvl="1" indent="-285750">
                  <a:buFont typeface="Arial" panose="020B0604020202020204" pitchFamily="34" charset="0"/>
                  <a:buChar char="•"/>
                </a:pPr>
                <a:r>
                  <a:rPr lang="en-GB" dirty="0"/>
                  <a:t> The negative sign ensures that aligned spins correspond to lower energy.</a:t>
                </a:r>
              </a:p>
              <a:p>
                <a:pPr marL="285750" indent="-285750">
                  <a:buFont typeface="Arial" panose="020B0604020202020204" pitchFamily="34" charset="0"/>
                  <a:buChar char="•"/>
                </a:pPr>
                <a:r>
                  <a:rPr lang="en-GB" dirty="0"/>
                  <a:t>We then decide whether to keep the flip using the </a:t>
                </a:r>
                <a:r>
                  <a:rPr lang="en-GB" b="1" dirty="0"/>
                  <a:t>Metropolis criterion</a:t>
                </a:r>
                <a:r>
                  <a:rPr lang="en-GB" dirty="0"/>
                  <a:t>:</a:t>
                </a:r>
              </a:p>
              <a:p>
                <a:pPr marL="742950" lvl="1" indent="-285750">
                  <a:buFont typeface="Wingdings" panose="05000000000000000000" pitchFamily="2" charset="2"/>
                  <a:buChar char="v"/>
                </a:pPr>
                <a:r>
                  <a:rPr lang="en-GB" dirty="0">
                    <a:cs typeface="Times New Roman" panose="02020603050405020304" pitchFamily="18" charset="0"/>
                  </a:rPr>
                  <a:t>If </a:t>
                </a:r>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exp</m:t>
                        </m:r>
                      </m:fName>
                      <m:e>
                        <m:d>
                          <m:dPr>
                            <m:ctrlPr>
                              <a:rPr lang="en-GB" i="1">
                                <a:latin typeface="Cambria Math" panose="02040503050406030204" pitchFamily="18" charset="0"/>
                              </a:rPr>
                            </m:ctrlPr>
                          </m:dPr>
                          <m:e>
                            <m:f>
                              <m:fPr>
                                <m:type m:val="skw"/>
                                <m:ctrlPr>
                                  <a:rPr lang="en-GB" i="1">
                                    <a:latin typeface="Cambria Math" panose="02040503050406030204" pitchFamily="18" charset="0"/>
                                  </a:rPr>
                                </m:ctrlPr>
                              </m:fPr>
                              <m:num>
                                <m:r>
                                  <m:rPr>
                                    <m:sty m:val="p"/>
                                  </m:rPr>
                                  <a:rPr lang="en-GB">
                                    <a:latin typeface="Cambria Math" panose="02040503050406030204" pitchFamily="18" charset="0"/>
                                  </a:rPr>
                                  <m:t>Δ</m:t>
                                </m:r>
                                <m:r>
                                  <a:rPr lang="en-GB" i="1">
                                    <a:latin typeface="Cambria Math" panose="02040503050406030204" pitchFamily="18" charset="0"/>
                                  </a:rPr>
                                  <m:t>𝐸</m:t>
                                </m:r>
                              </m:num>
                              <m:den>
                                <m:r>
                                  <a:rPr lang="en-GB" i="1">
                                    <a:latin typeface="Cambria Math" panose="02040503050406030204" pitchFamily="18" charset="0"/>
                                  </a:rPr>
                                  <m:t>𝑘𝑇</m:t>
                                </m:r>
                              </m:den>
                            </m:f>
                          </m:e>
                        </m:d>
                      </m:e>
                    </m:func>
                    <m:r>
                      <a:rPr lang="en-GB" i="1">
                        <a:latin typeface="Cambria Math" panose="02040503050406030204" pitchFamily="18" charset="0"/>
                      </a:rPr>
                      <m:t>&gt;1  </m:t>
                    </m:r>
                  </m:oMath>
                </a14:m>
                <a:r>
                  <a:rPr lang="en-GB" dirty="0">
                    <a:cs typeface="Times New Roman" panose="02020603050405020304" pitchFamily="18" charset="0"/>
                  </a:rPr>
                  <a:t>keep the flipped spin</a:t>
                </a:r>
              </a:p>
              <a:p>
                <a:pPr marL="742950" lvl="1" indent="-285750">
                  <a:buFont typeface="Wingdings" panose="05000000000000000000" pitchFamily="2" charset="2"/>
                  <a:buChar char="v"/>
                </a:pPr>
                <a:r>
                  <a:rPr lang="en-GB" dirty="0"/>
                  <a:t>Otherwise, generate a random number, </a:t>
                </a:r>
                <a14:m>
                  <m:oMath xmlns:m="http://schemas.openxmlformats.org/officeDocument/2006/math">
                    <m:r>
                      <a:rPr lang="en-GB" i="1" dirty="0">
                        <a:latin typeface="Cambria Math" panose="02040503050406030204" pitchFamily="18" charset="0"/>
                      </a:rPr>
                      <m:t>𝑛</m:t>
                    </m:r>
                    <m:r>
                      <a:rPr lang="en-GB" i="1" dirty="0">
                        <a:latin typeface="Cambria Math" panose="02040503050406030204" pitchFamily="18" charset="0"/>
                      </a:rPr>
                      <m:t> ∈ [0,1]</m:t>
                    </m:r>
                  </m:oMath>
                </a14:m>
                <a:r>
                  <a:rPr lang="en-GB" dirty="0">
                    <a:cs typeface="Times New Roman" panose="02020603050405020304" pitchFamily="18" charset="0"/>
                  </a:rPr>
                  <a:t>. </a:t>
                </a:r>
                <a:r>
                  <a:rPr lang="en-GB" dirty="0"/>
                  <a:t>If </a:t>
                </a:r>
                <a:endParaRPr lang="en-GB" i="1" dirty="0">
                  <a:latin typeface="Cambria Math" panose="02040503050406030204" pitchFamily="18" charset="0"/>
                </a:endParaRPr>
              </a:p>
              <a:p>
                <a:pPr lvl="1"/>
                <a14:m>
                  <m:oMath xmlns:m="http://schemas.openxmlformats.org/officeDocument/2006/math">
                    <m:r>
                      <a:rPr lang="en-GB" i="1" dirty="0">
                        <a:latin typeface="Cambria Math" panose="02040503050406030204" pitchFamily="18" charset="0"/>
                      </a:rPr>
                      <m:t>      </m:t>
                    </m:r>
                    <m:r>
                      <m:rPr>
                        <m:sty m:val="p"/>
                      </m:rPr>
                      <a:rPr lang="en-GB" i="1" dirty="0">
                        <a:latin typeface="Cambria Math" panose="02040503050406030204" pitchFamily="18" charset="0"/>
                      </a:rPr>
                      <m:t>exp</m:t>
                    </m:r>
                    <m:r>
                      <a:rPr lang="en-GB" i="1" dirty="0">
                        <a:latin typeface="Cambria Math" panose="02040503050406030204" pitchFamily="18" charset="0"/>
                      </a:rPr>
                      <m:t>⁡(−</m:t>
                    </m:r>
                    <m:r>
                      <m:rPr>
                        <m:sty m:val="p"/>
                      </m:rPr>
                      <a:rPr lang="en-GB" dirty="0">
                        <a:latin typeface="Cambria Math" panose="02040503050406030204" pitchFamily="18" charset="0"/>
                      </a:rPr>
                      <m:t>Δ</m:t>
                    </m:r>
                    <m:r>
                      <a:rPr lang="en-GB" i="1" dirty="0">
                        <a:latin typeface="Cambria Math" panose="02040503050406030204" pitchFamily="18" charset="0"/>
                      </a:rPr>
                      <m:t>𝐸</m:t>
                    </m:r>
                    <m:r>
                      <a:rPr lang="en-GB" i="1" dirty="0">
                        <a:latin typeface="Cambria Math" panose="02040503050406030204" pitchFamily="18" charset="0"/>
                      </a:rPr>
                      <m:t>/</m:t>
                    </m:r>
                    <m:r>
                      <a:rPr lang="en-GB" i="1" dirty="0">
                        <a:latin typeface="Cambria Math" panose="02040503050406030204" pitchFamily="18" charset="0"/>
                      </a:rPr>
                      <m:t>𝑘𝑇</m:t>
                    </m:r>
                    <m:r>
                      <a:rPr lang="en-GB" i="1" dirty="0">
                        <a:latin typeface="Cambria Math" panose="02040503050406030204" pitchFamily="18" charset="0"/>
                      </a:rPr>
                      <m:t>)&gt;</m:t>
                    </m:r>
                    <m:r>
                      <a:rPr lang="en-GB" i="1" dirty="0">
                        <a:latin typeface="Cambria Math" panose="02040503050406030204" pitchFamily="18" charset="0"/>
                      </a:rPr>
                      <m:t>𝑛</m:t>
                    </m:r>
                  </m:oMath>
                </a14:m>
                <a:r>
                  <a:rPr lang="en-GB" dirty="0"/>
                  <a:t>, keep the flip.</a:t>
                </a:r>
              </a:p>
              <a:p>
                <a:pPr marL="742950" lvl="1" indent="-285750">
                  <a:buFont typeface="Wingdings" panose="05000000000000000000" pitchFamily="2" charset="2"/>
                  <a:buChar char="v"/>
                </a:pPr>
                <a:r>
                  <a:rPr lang="en-GB" dirty="0"/>
                  <a:t>If neither condition is met, revert the flip back.</a:t>
                </a:r>
              </a:p>
              <a:p>
                <a:endParaRPr lang="en-GB" dirty="0"/>
              </a:p>
              <a:p>
                <a:pPr marL="285750" indent="-285750">
                  <a:buFont typeface="Arial" panose="020B0604020202020204" pitchFamily="34" charset="0"/>
                  <a:buChar char="•"/>
                </a:pPr>
                <a:r>
                  <a:rPr lang="en-GB" dirty="0"/>
                  <a:t>This procedure is repeated for every lattice point (a </a:t>
                </a:r>
                <a:r>
                  <a:rPr lang="en-GB" b="1" dirty="0"/>
                  <a:t>full sweep</a:t>
                </a:r>
                <a:r>
                  <a:rPr lang="en-GB" dirty="0"/>
                  <a:t>), using </a:t>
                </a:r>
                <a:r>
                  <a:rPr lang="en-GB" b="1" dirty="0"/>
                  <a:t>periodic boundary conditions</a:t>
                </a:r>
                <a:r>
                  <a:rPr lang="en-GB" dirty="0"/>
                  <a:t>. Together, these steps form the </a:t>
                </a:r>
                <a:r>
                  <a:rPr lang="en-GB" b="1" dirty="0"/>
                  <a:t>Metropolis algorithm </a:t>
                </a:r>
                <a:r>
                  <a:rPr lang="en-GB" dirty="0"/>
                  <a:t>[3].</a:t>
                </a:r>
              </a:p>
              <a:p>
                <a:endParaRPr lang="en-GB" sz="1800" dirty="0">
                  <a:cs typeface="Times New Roman" panose="02020603050405020304" pitchFamily="18" charset="0"/>
                </a:endParaRPr>
              </a:p>
            </p:txBody>
          </p:sp>
        </mc:Choice>
        <mc:Fallback>
          <p:sp>
            <p:nvSpPr>
              <p:cNvPr id="40" name="TextBox 39">
                <a:extLst>
                  <a:ext uri="{FF2B5EF4-FFF2-40B4-BE49-F238E27FC236}">
                    <a16:creationId xmlns:a16="http://schemas.microsoft.com/office/drawing/2014/main" id="{C6D2BD82-D252-3AD0-DD27-163993D2EA4E}"/>
                  </a:ext>
                </a:extLst>
              </p:cNvPr>
              <p:cNvSpPr txBox="1">
                <a:spLocks noRot="1" noChangeAspect="1" noMove="1" noResize="1" noEditPoints="1" noAdjustHandles="1" noChangeArrowheads="1" noChangeShapeType="1" noTextEdit="1"/>
              </p:cNvSpPr>
              <p:nvPr/>
            </p:nvSpPr>
            <p:spPr>
              <a:xfrm>
                <a:off x="7678029" y="10317907"/>
                <a:ext cx="6704718" cy="4801443"/>
              </a:xfrm>
              <a:prstGeom prst="rect">
                <a:avLst/>
              </a:prstGeom>
              <a:blipFill>
                <a:blip r:embed="rId8"/>
                <a:stretch>
                  <a:fillRect l="-637" t="-635" r="-127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2F011D44-64E0-910E-D6DE-B0BEB340F228}"/>
                  </a:ext>
                </a:extLst>
              </p:cNvPr>
              <p:cNvGraphicFramePr>
                <a:graphicFrameLocks noGrp="1"/>
              </p:cNvGraphicFramePr>
              <p:nvPr>
                <p:extLst>
                  <p:ext uri="{D42A27DB-BD31-4B8C-83A1-F6EECF244321}">
                    <p14:modId xmlns:p14="http://schemas.microsoft.com/office/powerpoint/2010/main" val="1326986861"/>
                  </p:ext>
                </p:extLst>
              </p:nvPr>
            </p:nvGraphicFramePr>
            <p:xfrm>
              <a:off x="16884088" y="5080779"/>
              <a:ext cx="4281410" cy="1656410"/>
            </p:xfrm>
            <a:graphic>
              <a:graphicData uri="http://schemas.openxmlformats.org/drawingml/2006/table">
                <a:tbl>
                  <a:tblPr firstRow="1" bandRow="1">
                    <a:tableStyleId>{5C22544A-7EE6-4342-B048-85BDC9FD1C3A}</a:tableStyleId>
                  </a:tblPr>
                  <a:tblGrid>
                    <a:gridCol w="2140705">
                      <a:extLst>
                        <a:ext uri="{9D8B030D-6E8A-4147-A177-3AD203B41FA5}">
                          <a16:colId xmlns:a16="http://schemas.microsoft.com/office/drawing/2014/main" val="2898089824"/>
                        </a:ext>
                      </a:extLst>
                    </a:gridCol>
                    <a:gridCol w="2140705">
                      <a:extLst>
                        <a:ext uri="{9D8B030D-6E8A-4147-A177-3AD203B41FA5}">
                          <a16:colId xmlns:a16="http://schemas.microsoft.com/office/drawing/2014/main" val="1112678819"/>
                        </a:ext>
                      </a:extLst>
                    </a:gridCol>
                  </a:tblGrid>
                  <a:tr h="406730">
                    <a:tc>
                      <a:txBody>
                        <a:bodyPr/>
                        <a:lstStyle/>
                        <a:p>
                          <a:r>
                            <a:rPr lang="en-GB" sz="1600" dirty="0"/>
                            <a:t>Model</a:t>
                          </a:r>
                        </a:p>
                      </a:txBody>
                      <a:tcPr/>
                    </a:tc>
                    <a:tc>
                      <a:txBody>
                        <a:bodyPr/>
                        <a:lstStyle/>
                        <a:p>
                          <a14:m>
                            <m:oMathPara xmlns:m="http://schemas.openxmlformats.org/officeDocument/2006/math">
                              <m:oMathParaPr>
                                <m:jc m:val="centerGroup"/>
                              </m:oMathParaPr>
                              <m:oMath xmlns:m="http://schemas.openxmlformats.org/officeDocument/2006/math">
                                <m:r>
                                  <a:rPr lang="en-GB" sz="1600" b="1" i="1" smtClean="0">
                                    <a:latin typeface="Cambria Math" panose="02040503050406030204" pitchFamily="18" charset="0"/>
                                  </a:rPr>
                                  <m:t>&lt;</m:t>
                                </m:r>
                                <m:r>
                                  <a:rPr lang="en-GB" sz="1600" b="1" i="1" smtClean="0">
                                    <a:latin typeface="Cambria Math" panose="02040503050406030204" pitchFamily="18" charset="0"/>
                                  </a:rPr>
                                  <m:t>𝒎</m:t>
                                </m:r>
                                <m:r>
                                  <a:rPr lang="en-GB" sz="1600" b="1" i="1" smtClean="0">
                                    <a:latin typeface="Cambria Math" panose="02040503050406030204" pitchFamily="18" charset="0"/>
                                  </a:rPr>
                                  <m:t>&gt;</m:t>
                                </m:r>
                              </m:oMath>
                            </m:oMathPara>
                          </a14:m>
                          <a:endParaRPr lang="en-GB" sz="1600" dirty="0"/>
                        </a:p>
                      </a:txBody>
                      <a:tcPr/>
                    </a:tc>
                    <a:extLst>
                      <a:ext uri="{0D108BD9-81ED-4DB2-BD59-A6C34878D82A}">
                        <a16:rowId xmlns:a16="http://schemas.microsoft.com/office/drawing/2014/main" val="3228848662"/>
                      </a:ext>
                    </a:extLst>
                  </a:tr>
                  <a:tr h="531470">
                    <a:tc>
                      <a:txBody>
                        <a:bodyPr/>
                        <a:lstStyle/>
                        <a:p>
                          <a:r>
                            <a:rPr lang="en-GB" sz="1600" dirty="0"/>
                            <a:t>Ising model (simulation)</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−0.936±0.003</m:t>
                                </m:r>
                              </m:oMath>
                            </m:oMathPara>
                          </a14:m>
                          <a:endParaRPr lang="en-GB" sz="1600" dirty="0"/>
                        </a:p>
                      </a:txBody>
                      <a:tcPr/>
                    </a:tc>
                    <a:extLst>
                      <a:ext uri="{0D108BD9-81ED-4DB2-BD59-A6C34878D82A}">
                        <a16:rowId xmlns:a16="http://schemas.microsoft.com/office/drawing/2014/main" val="2020091684"/>
                      </a:ext>
                    </a:extLst>
                  </a:tr>
                  <a:tr h="307693">
                    <a:tc>
                      <a:txBody>
                        <a:bodyPr/>
                        <a:lstStyle/>
                        <a:p>
                          <a:r>
                            <a:rPr lang="en-GB" sz="1600" dirty="0"/>
                            <a:t>Mean Field Theory</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~−0.96</m:t>
                                </m:r>
                              </m:oMath>
                            </m:oMathPara>
                          </a14:m>
                          <a:endParaRPr lang="en-GB" sz="1600" dirty="0"/>
                        </a:p>
                      </a:txBody>
                      <a:tcPr/>
                    </a:tc>
                    <a:extLst>
                      <a:ext uri="{0D108BD9-81ED-4DB2-BD59-A6C34878D82A}">
                        <a16:rowId xmlns:a16="http://schemas.microsoft.com/office/drawing/2014/main" val="4284135551"/>
                      </a:ext>
                    </a:extLst>
                  </a:tr>
                  <a:tr h="307693">
                    <a:tc>
                      <a:txBody>
                        <a:bodyPr/>
                        <a:lstStyle/>
                        <a:p>
                          <a:r>
                            <a:rPr lang="en-GB" sz="1600" dirty="0"/>
                            <a:t>Ising model (Ansatz)</a:t>
                          </a:r>
                        </a:p>
                      </a:txBody>
                      <a:tcPr/>
                    </a:tc>
                    <a:tc>
                      <a:txBody>
                        <a:bodyPr/>
                        <a:lstStyle/>
                        <a:p>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 −0.92</m:t>
                                </m:r>
                              </m:oMath>
                            </m:oMathPara>
                          </a14:m>
                          <a:endParaRPr lang="en-GB" sz="1600" dirty="0"/>
                        </a:p>
                      </a:txBody>
                      <a:tcPr/>
                    </a:tc>
                    <a:extLst>
                      <a:ext uri="{0D108BD9-81ED-4DB2-BD59-A6C34878D82A}">
                        <a16:rowId xmlns:a16="http://schemas.microsoft.com/office/drawing/2014/main" val="2464869283"/>
                      </a:ext>
                    </a:extLst>
                  </a:tr>
                </a:tbl>
              </a:graphicData>
            </a:graphic>
          </p:graphicFrame>
        </mc:Choice>
        <mc:Fallback>
          <p:graphicFrame>
            <p:nvGraphicFramePr>
              <p:cNvPr id="2" name="Table 1">
                <a:extLst>
                  <a:ext uri="{FF2B5EF4-FFF2-40B4-BE49-F238E27FC236}">
                    <a16:creationId xmlns:a16="http://schemas.microsoft.com/office/drawing/2014/main" id="{2F011D44-64E0-910E-D6DE-B0BEB340F228}"/>
                  </a:ext>
                </a:extLst>
              </p:cNvPr>
              <p:cNvGraphicFramePr>
                <a:graphicFrameLocks noGrp="1"/>
              </p:cNvGraphicFramePr>
              <p:nvPr>
                <p:extLst>
                  <p:ext uri="{D42A27DB-BD31-4B8C-83A1-F6EECF244321}">
                    <p14:modId xmlns:p14="http://schemas.microsoft.com/office/powerpoint/2010/main" val="1326986861"/>
                  </p:ext>
                </p:extLst>
              </p:nvPr>
            </p:nvGraphicFramePr>
            <p:xfrm>
              <a:off x="16884088" y="5080779"/>
              <a:ext cx="4281410" cy="1656410"/>
            </p:xfrm>
            <a:graphic>
              <a:graphicData uri="http://schemas.openxmlformats.org/drawingml/2006/table">
                <a:tbl>
                  <a:tblPr firstRow="1" bandRow="1">
                    <a:tableStyleId>{5C22544A-7EE6-4342-B048-85BDC9FD1C3A}</a:tableStyleId>
                  </a:tblPr>
                  <a:tblGrid>
                    <a:gridCol w="2140705">
                      <a:extLst>
                        <a:ext uri="{9D8B030D-6E8A-4147-A177-3AD203B41FA5}">
                          <a16:colId xmlns:a16="http://schemas.microsoft.com/office/drawing/2014/main" val="2898089824"/>
                        </a:ext>
                      </a:extLst>
                    </a:gridCol>
                    <a:gridCol w="2140705">
                      <a:extLst>
                        <a:ext uri="{9D8B030D-6E8A-4147-A177-3AD203B41FA5}">
                          <a16:colId xmlns:a16="http://schemas.microsoft.com/office/drawing/2014/main" val="1112678819"/>
                        </a:ext>
                      </a:extLst>
                    </a:gridCol>
                  </a:tblGrid>
                  <a:tr h="406730">
                    <a:tc>
                      <a:txBody>
                        <a:bodyPr/>
                        <a:lstStyle/>
                        <a:p>
                          <a:r>
                            <a:rPr lang="en-GB" sz="1600" dirty="0"/>
                            <a:t>Model</a:t>
                          </a:r>
                        </a:p>
                      </a:txBody>
                      <a:tcPr/>
                    </a:tc>
                    <a:tc>
                      <a:txBody>
                        <a:bodyPr/>
                        <a:lstStyle/>
                        <a:p>
                          <a:endParaRPr lang="en-US"/>
                        </a:p>
                      </a:txBody>
                      <a:tcPr>
                        <a:blipFill>
                          <a:blip r:embed="rId9"/>
                          <a:stretch>
                            <a:fillRect l="-100284" t="-4478" r="-1136" b="-325373"/>
                          </a:stretch>
                        </a:blipFill>
                      </a:tcPr>
                    </a:tc>
                    <a:extLst>
                      <a:ext uri="{0D108BD9-81ED-4DB2-BD59-A6C34878D82A}">
                        <a16:rowId xmlns:a16="http://schemas.microsoft.com/office/drawing/2014/main" val="3228848662"/>
                      </a:ext>
                    </a:extLst>
                  </a:tr>
                  <a:tr h="579120">
                    <a:tc>
                      <a:txBody>
                        <a:bodyPr/>
                        <a:lstStyle/>
                        <a:p>
                          <a:r>
                            <a:rPr lang="en-GB" sz="1600" dirty="0"/>
                            <a:t>Ising model (simulation)</a:t>
                          </a:r>
                        </a:p>
                      </a:txBody>
                      <a:tcPr/>
                    </a:tc>
                    <a:tc>
                      <a:txBody>
                        <a:bodyPr/>
                        <a:lstStyle/>
                        <a:p>
                          <a:endParaRPr lang="en-US"/>
                        </a:p>
                      </a:txBody>
                      <a:tcPr>
                        <a:blipFill>
                          <a:blip r:embed="rId9"/>
                          <a:stretch>
                            <a:fillRect l="-100284" t="-73684" r="-1136" b="-129474"/>
                          </a:stretch>
                        </a:blipFill>
                      </a:tcPr>
                    </a:tc>
                    <a:extLst>
                      <a:ext uri="{0D108BD9-81ED-4DB2-BD59-A6C34878D82A}">
                        <a16:rowId xmlns:a16="http://schemas.microsoft.com/office/drawing/2014/main" val="2020091684"/>
                      </a:ext>
                    </a:extLst>
                  </a:tr>
                  <a:tr h="335280">
                    <a:tc>
                      <a:txBody>
                        <a:bodyPr/>
                        <a:lstStyle/>
                        <a:p>
                          <a:r>
                            <a:rPr lang="en-GB" sz="1600" dirty="0"/>
                            <a:t>Mean Field Theory</a:t>
                          </a:r>
                        </a:p>
                      </a:txBody>
                      <a:tcPr/>
                    </a:tc>
                    <a:tc>
                      <a:txBody>
                        <a:bodyPr/>
                        <a:lstStyle/>
                        <a:p>
                          <a:endParaRPr lang="en-US"/>
                        </a:p>
                      </a:txBody>
                      <a:tcPr>
                        <a:blipFill>
                          <a:blip r:embed="rId9"/>
                          <a:stretch>
                            <a:fillRect l="-100284" t="-294643" r="-1136" b="-119643"/>
                          </a:stretch>
                        </a:blipFill>
                      </a:tcPr>
                    </a:tc>
                    <a:extLst>
                      <a:ext uri="{0D108BD9-81ED-4DB2-BD59-A6C34878D82A}">
                        <a16:rowId xmlns:a16="http://schemas.microsoft.com/office/drawing/2014/main" val="4284135551"/>
                      </a:ext>
                    </a:extLst>
                  </a:tr>
                  <a:tr h="335280">
                    <a:tc>
                      <a:txBody>
                        <a:bodyPr/>
                        <a:lstStyle/>
                        <a:p>
                          <a:r>
                            <a:rPr lang="en-GB" sz="1600" dirty="0"/>
                            <a:t>Ising model (Ansatz)</a:t>
                          </a:r>
                        </a:p>
                      </a:txBody>
                      <a:tcPr/>
                    </a:tc>
                    <a:tc>
                      <a:txBody>
                        <a:bodyPr/>
                        <a:lstStyle/>
                        <a:p>
                          <a:endParaRPr lang="en-US"/>
                        </a:p>
                      </a:txBody>
                      <a:tcPr>
                        <a:blipFill>
                          <a:blip r:embed="rId9"/>
                          <a:stretch>
                            <a:fillRect l="-100284" t="-401818" r="-1136" b="-21818"/>
                          </a:stretch>
                        </a:blipFill>
                      </a:tcPr>
                    </a:tc>
                    <a:extLst>
                      <a:ext uri="{0D108BD9-81ED-4DB2-BD59-A6C34878D82A}">
                        <a16:rowId xmlns:a16="http://schemas.microsoft.com/office/drawing/2014/main" val="2464869283"/>
                      </a:ext>
                    </a:extLst>
                  </a:tr>
                </a:tbl>
              </a:graphicData>
            </a:graphic>
          </p:graphicFrame>
        </mc:Fallback>
      </mc:AlternateContent>
      <p:sp>
        <p:nvSpPr>
          <p:cNvPr id="35" name="Rectangle 34">
            <a:extLst>
              <a:ext uri="{FF2B5EF4-FFF2-40B4-BE49-F238E27FC236}">
                <a16:creationId xmlns:a16="http://schemas.microsoft.com/office/drawing/2014/main" id="{757F16B7-2949-5D41-3E5E-2737F8A0195B}"/>
              </a:ext>
            </a:extLst>
          </p:cNvPr>
          <p:cNvSpPr/>
          <p:nvPr/>
        </p:nvSpPr>
        <p:spPr>
          <a:xfrm>
            <a:off x="16755139" y="7359314"/>
            <a:ext cx="4125364" cy="1981045"/>
          </a:xfrm>
          <a:prstGeom prst="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bg2">
                    <a:lumMod val="25000"/>
                  </a:schemeClr>
                </a:solidFill>
              </a:ln>
            </a:endParaRPr>
          </a:p>
        </p:txBody>
      </p:sp>
      <p:pic>
        <p:nvPicPr>
          <p:cNvPr id="7" name="Picture 6" descr="A black and white pixelated background&#10;&#10;AI-generated content may be incorrect.">
            <a:extLst>
              <a:ext uri="{FF2B5EF4-FFF2-40B4-BE49-F238E27FC236}">
                <a16:creationId xmlns:a16="http://schemas.microsoft.com/office/drawing/2014/main" id="{3E7C101D-2E30-7106-D4DA-59EC0294E65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893895" y="7763934"/>
            <a:ext cx="1163027" cy="1163027"/>
          </a:xfrm>
          <a:prstGeom prst="rect">
            <a:avLst/>
          </a:prstGeom>
          <a:ln>
            <a:solidFill>
              <a:schemeClr val="bg2">
                <a:lumMod val="50000"/>
              </a:schemeClr>
            </a:solidFill>
          </a:ln>
        </p:spPr>
      </p:pic>
      <p:pic>
        <p:nvPicPr>
          <p:cNvPr id="12" name="Picture 11" descr="A black and white pixelated image&#10;&#10;AI-generated content may be incorrect.">
            <a:extLst>
              <a:ext uri="{FF2B5EF4-FFF2-40B4-BE49-F238E27FC236}">
                <a16:creationId xmlns:a16="http://schemas.microsoft.com/office/drawing/2014/main" id="{8EF5D217-88AA-CAF0-0E9A-D7BFA5620FF2}"/>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8256012" y="7737702"/>
            <a:ext cx="1185088" cy="1185088"/>
          </a:xfrm>
          <a:prstGeom prst="rect">
            <a:avLst/>
          </a:prstGeom>
          <a:ln>
            <a:solidFill>
              <a:schemeClr val="bg2">
                <a:lumMod val="50000"/>
              </a:schemeClr>
            </a:solidFill>
          </a:ln>
        </p:spPr>
      </p:pic>
      <p:pic>
        <p:nvPicPr>
          <p:cNvPr id="23" name="Picture 22" descr="A black background with white dots&#10;&#10;AI-generated content may be incorrect.">
            <a:extLst>
              <a:ext uri="{FF2B5EF4-FFF2-40B4-BE49-F238E27FC236}">
                <a16:creationId xmlns:a16="http://schemas.microsoft.com/office/drawing/2014/main" id="{676CF853-60EC-255A-5645-B4B82EAB113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9618214" y="7748732"/>
            <a:ext cx="1163027" cy="1163027"/>
          </a:xfrm>
          <a:prstGeom prst="rect">
            <a:avLst/>
          </a:prstGeom>
          <a:ln>
            <a:solidFill>
              <a:schemeClr val="bg2">
                <a:lumMod val="50000"/>
              </a:schemeClr>
            </a:solidFill>
          </a:ln>
        </p:spPr>
      </p:pic>
      <p:sp>
        <p:nvSpPr>
          <p:cNvPr id="25" name="TextBox 24">
            <a:extLst>
              <a:ext uri="{FF2B5EF4-FFF2-40B4-BE49-F238E27FC236}">
                <a16:creationId xmlns:a16="http://schemas.microsoft.com/office/drawing/2014/main" id="{AE632978-8BDA-64F9-7A74-660AD55C8B42}"/>
              </a:ext>
            </a:extLst>
          </p:cNvPr>
          <p:cNvSpPr txBox="1"/>
          <p:nvPr/>
        </p:nvSpPr>
        <p:spPr>
          <a:xfrm>
            <a:off x="19665200" y="9011371"/>
            <a:ext cx="1190429" cy="338554"/>
          </a:xfrm>
          <a:prstGeom prst="rect">
            <a:avLst/>
          </a:prstGeom>
          <a:noFill/>
        </p:spPr>
        <p:txBody>
          <a:bodyPr wrap="square" rtlCol="0">
            <a:spAutoFit/>
          </a:bodyPr>
          <a:lstStyle/>
          <a:p>
            <a:r>
              <a:rPr lang="en-GB" sz="1600" dirty="0"/>
              <a:t>30 Sweeps</a:t>
            </a:r>
          </a:p>
        </p:txBody>
      </p:sp>
      <p:sp>
        <p:nvSpPr>
          <p:cNvPr id="32" name="TextBox 31">
            <a:extLst>
              <a:ext uri="{FF2B5EF4-FFF2-40B4-BE49-F238E27FC236}">
                <a16:creationId xmlns:a16="http://schemas.microsoft.com/office/drawing/2014/main" id="{57311A1C-8E99-0317-C4A1-9980F5AEE874}"/>
              </a:ext>
            </a:extLst>
          </p:cNvPr>
          <p:cNvSpPr txBox="1"/>
          <p:nvPr/>
        </p:nvSpPr>
        <p:spPr>
          <a:xfrm>
            <a:off x="18306386" y="9001805"/>
            <a:ext cx="1134714" cy="338554"/>
          </a:xfrm>
          <a:prstGeom prst="rect">
            <a:avLst/>
          </a:prstGeom>
          <a:noFill/>
        </p:spPr>
        <p:txBody>
          <a:bodyPr wrap="square" rtlCol="0">
            <a:spAutoFit/>
          </a:bodyPr>
          <a:lstStyle/>
          <a:p>
            <a:r>
              <a:rPr lang="en-GB" sz="1600" dirty="0"/>
              <a:t>5 Sweeps</a:t>
            </a:r>
          </a:p>
        </p:txBody>
      </p:sp>
      <p:sp>
        <p:nvSpPr>
          <p:cNvPr id="33" name="TextBox 32">
            <a:extLst>
              <a:ext uri="{FF2B5EF4-FFF2-40B4-BE49-F238E27FC236}">
                <a16:creationId xmlns:a16="http://schemas.microsoft.com/office/drawing/2014/main" id="{4C09DD61-958E-BBCF-F4F3-1AA8D4FC82ED}"/>
              </a:ext>
            </a:extLst>
          </p:cNvPr>
          <p:cNvSpPr txBox="1"/>
          <p:nvPr/>
        </p:nvSpPr>
        <p:spPr>
          <a:xfrm>
            <a:off x="16976076" y="9001805"/>
            <a:ext cx="1106210" cy="338554"/>
          </a:xfrm>
          <a:prstGeom prst="rect">
            <a:avLst/>
          </a:prstGeom>
          <a:noFill/>
        </p:spPr>
        <p:txBody>
          <a:bodyPr wrap="square" rtlCol="0">
            <a:spAutoFit/>
          </a:bodyPr>
          <a:lstStyle/>
          <a:p>
            <a:r>
              <a:rPr lang="en-GB" sz="1600" dirty="0"/>
              <a:t>0 Sweeps</a:t>
            </a:r>
          </a:p>
        </p:txBody>
      </p:sp>
      <p:sp>
        <p:nvSpPr>
          <p:cNvPr id="34" name="TextBox 33">
            <a:extLst>
              <a:ext uri="{FF2B5EF4-FFF2-40B4-BE49-F238E27FC236}">
                <a16:creationId xmlns:a16="http://schemas.microsoft.com/office/drawing/2014/main" id="{F6541CF5-035A-DBF8-7F09-046048DDA378}"/>
              </a:ext>
            </a:extLst>
          </p:cNvPr>
          <p:cNvSpPr txBox="1"/>
          <p:nvPr/>
        </p:nvSpPr>
        <p:spPr>
          <a:xfrm>
            <a:off x="17838800" y="7322002"/>
            <a:ext cx="3778580" cy="369332"/>
          </a:xfrm>
          <a:prstGeom prst="rect">
            <a:avLst/>
          </a:prstGeom>
          <a:noFill/>
        </p:spPr>
        <p:txBody>
          <a:bodyPr wrap="square" rtlCol="0">
            <a:spAutoFit/>
          </a:bodyPr>
          <a:lstStyle/>
          <a:p>
            <a:r>
              <a:rPr lang="en-GB" b="1" u="sng" dirty="0"/>
              <a:t>Lattice evolution </a:t>
            </a:r>
          </a:p>
        </p:txBody>
      </p:sp>
      <p:sp>
        <p:nvSpPr>
          <p:cNvPr id="43" name="Control 2">
            <a:extLst>
              <a:ext uri="{FF2B5EF4-FFF2-40B4-BE49-F238E27FC236}">
                <a16:creationId xmlns:a16="http://schemas.microsoft.com/office/drawing/2014/main" id="{60AA0F0A-C0CB-3476-5934-C1AEF57AF54B}"/>
              </a:ext>
            </a:extLst>
          </p:cNvPr>
          <p:cNvSpPr>
            <a:spLocks noChangeArrowheads="1" noChangeShapeType="1"/>
          </p:cNvSpPr>
          <p:nvPr/>
        </p:nvSpPr>
        <p:spPr bwMode="auto">
          <a:xfrm>
            <a:off x="2419970" y="15738590"/>
            <a:ext cx="3068319" cy="3084270"/>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sp>
        <p:nvSpPr>
          <p:cNvPr id="47" name="Control 4">
            <a:extLst>
              <a:ext uri="{FF2B5EF4-FFF2-40B4-BE49-F238E27FC236}">
                <a16:creationId xmlns:a16="http://schemas.microsoft.com/office/drawing/2014/main" id="{EC043282-DE68-3BBC-3D82-DE30029E1555}"/>
              </a:ext>
            </a:extLst>
          </p:cNvPr>
          <p:cNvSpPr>
            <a:spLocks noChangeArrowheads="1" noChangeShapeType="1"/>
          </p:cNvSpPr>
          <p:nvPr/>
        </p:nvSpPr>
        <p:spPr bwMode="auto">
          <a:xfrm>
            <a:off x="2474067" y="15743476"/>
            <a:ext cx="2879725" cy="2879725"/>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graphicFrame>
        <p:nvGraphicFramePr>
          <p:cNvPr id="48" name="Table 47">
            <a:extLst>
              <a:ext uri="{FF2B5EF4-FFF2-40B4-BE49-F238E27FC236}">
                <a16:creationId xmlns:a16="http://schemas.microsoft.com/office/drawing/2014/main" id="{463B76E2-7265-A902-2BEC-F1A6CD66E44A}"/>
              </a:ext>
            </a:extLst>
          </p:cNvPr>
          <p:cNvGraphicFramePr>
            <a:graphicFrameLocks noGrp="1"/>
          </p:cNvGraphicFramePr>
          <p:nvPr>
            <p:extLst>
              <p:ext uri="{D42A27DB-BD31-4B8C-83A1-F6EECF244321}">
                <p14:modId xmlns:p14="http://schemas.microsoft.com/office/powerpoint/2010/main" val="3622290538"/>
              </p:ext>
            </p:extLst>
          </p:nvPr>
        </p:nvGraphicFramePr>
        <p:xfrm>
          <a:off x="7788273" y="2055560"/>
          <a:ext cx="2879980" cy="2879980"/>
        </p:xfrm>
        <a:graphic>
          <a:graphicData uri="http://schemas.openxmlformats.org/drawingml/2006/table">
            <a:tbl>
              <a:tblPr/>
              <a:tblGrid>
                <a:gridCol w="575996">
                  <a:extLst>
                    <a:ext uri="{9D8B030D-6E8A-4147-A177-3AD203B41FA5}">
                      <a16:colId xmlns:a16="http://schemas.microsoft.com/office/drawing/2014/main" val="2200406331"/>
                    </a:ext>
                  </a:extLst>
                </a:gridCol>
                <a:gridCol w="575996">
                  <a:extLst>
                    <a:ext uri="{9D8B030D-6E8A-4147-A177-3AD203B41FA5}">
                      <a16:colId xmlns:a16="http://schemas.microsoft.com/office/drawing/2014/main" val="4191477172"/>
                    </a:ext>
                  </a:extLst>
                </a:gridCol>
                <a:gridCol w="575996">
                  <a:extLst>
                    <a:ext uri="{9D8B030D-6E8A-4147-A177-3AD203B41FA5}">
                      <a16:colId xmlns:a16="http://schemas.microsoft.com/office/drawing/2014/main" val="549849989"/>
                    </a:ext>
                  </a:extLst>
                </a:gridCol>
                <a:gridCol w="575996">
                  <a:extLst>
                    <a:ext uri="{9D8B030D-6E8A-4147-A177-3AD203B41FA5}">
                      <a16:colId xmlns:a16="http://schemas.microsoft.com/office/drawing/2014/main" val="2194956128"/>
                    </a:ext>
                  </a:extLst>
                </a:gridCol>
                <a:gridCol w="575996">
                  <a:extLst>
                    <a:ext uri="{9D8B030D-6E8A-4147-A177-3AD203B41FA5}">
                      <a16:colId xmlns:a16="http://schemas.microsoft.com/office/drawing/2014/main" val="771035206"/>
                    </a:ext>
                  </a:extLst>
                </a:gridCol>
              </a:tblGrid>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588321140"/>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1</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2848225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4</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2</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87698032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3</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96496328"/>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481197627"/>
                  </a:ext>
                </a:extLst>
              </a:tr>
            </a:tbl>
          </a:graphicData>
        </a:graphic>
      </p:graphicFrame>
      <p:cxnSp>
        <p:nvCxnSpPr>
          <p:cNvPr id="50" name="Straight Connector 49">
            <a:extLst>
              <a:ext uri="{FF2B5EF4-FFF2-40B4-BE49-F238E27FC236}">
                <a16:creationId xmlns:a16="http://schemas.microsoft.com/office/drawing/2014/main" id="{B4F27F27-4CC1-15E2-AA5B-D8610807DDF5}"/>
              </a:ext>
            </a:extLst>
          </p:cNvPr>
          <p:cNvCxnSpPr>
            <a:cxnSpLocks/>
          </p:cNvCxnSpPr>
          <p:nvPr/>
        </p:nvCxnSpPr>
        <p:spPr>
          <a:xfrm flipH="1">
            <a:off x="1766373" y="9001805"/>
            <a:ext cx="884141" cy="424973"/>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71069329-7F4A-3EC7-C931-98AE1C6BF293}"/>
              </a:ext>
            </a:extLst>
          </p:cNvPr>
          <p:cNvCxnSpPr>
            <a:cxnSpLocks/>
          </p:cNvCxnSpPr>
          <p:nvPr/>
        </p:nvCxnSpPr>
        <p:spPr>
          <a:xfrm flipH="1">
            <a:off x="3418968" y="9001805"/>
            <a:ext cx="342638" cy="424973"/>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B21EF26D-32B1-22B2-E4B7-89151146F908}"/>
              </a:ext>
            </a:extLst>
          </p:cNvPr>
          <p:cNvCxnSpPr>
            <a:cxnSpLocks/>
          </p:cNvCxnSpPr>
          <p:nvPr/>
        </p:nvCxnSpPr>
        <p:spPr>
          <a:xfrm>
            <a:off x="5415882" y="9011371"/>
            <a:ext cx="648820" cy="4154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D2BBDA33-CDA3-F3B6-3C97-B508B9068D87}"/>
              </a:ext>
            </a:extLst>
          </p:cNvPr>
          <p:cNvCxnSpPr>
            <a:cxnSpLocks/>
          </p:cNvCxnSpPr>
          <p:nvPr/>
        </p:nvCxnSpPr>
        <p:spPr>
          <a:xfrm>
            <a:off x="3903181" y="9001805"/>
            <a:ext cx="307322" cy="424119"/>
          </a:xfrm>
          <a:prstGeom prst="line">
            <a:avLst/>
          </a:prstGeom>
        </p:spPr>
        <p:style>
          <a:lnRef idx="2">
            <a:schemeClr val="accent1"/>
          </a:lnRef>
          <a:fillRef idx="0">
            <a:schemeClr val="accent1"/>
          </a:fillRef>
          <a:effectRef idx="1">
            <a:schemeClr val="accent1"/>
          </a:effectRef>
          <a:fontRef idx="minor">
            <a:schemeClr val="tx1"/>
          </a:fontRef>
        </p:style>
      </p:cxnSp>
      <p:pic>
        <p:nvPicPr>
          <p:cNvPr id="65" name="Picture 64" descr="A qr code on a white background&#10;&#10;AI-generated content may be incorrect.">
            <a:extLst>
              <a:ext uri="{FF2B5EF4-FFF2-40B4-BE49-F238E27FC236}">
                <a16:creationId xmlns:a16="http://schemas.microsoft.com/office/drawing/2014/main" id="{B1231787-3729-F985-D141-0AD0BD91D230}"/>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85034" y="12902323"/>
            <a:ext cx="1603451" cy="2102658"/>
          </a:xfrm>
          <a:prstGeom prst="rect">
            <a:avLst/>
          </a:prstGeom>
        </p:spPr>
      </p:pic>
      <p:pic>
        <p:nvPicPr>
          <p:cNvPr id="2054" name="Picture 6" descr="Durham University – My Digital Prospectus – The Durham University ...">
            <a:extLst>
              <a:ext uri="{FF2B5EF4-FFF2-40B4-BE49-F238E27FC236}">
                <a16:creationId xmlns:a16="http://schemas.microsoft.com/office/drawing/2014/main" id="{FCAC4159-4C9D-1929-CCAF-18CA29405507}"/>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7633380" y="67205"/>
            <a:ext cx="2260420" cy="93518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653F24F0-4926-9D46-754F-2875686C128A}"/>
              </a:ext>
            </a:extLst>
          </p:cNvPr>
          <p:cNvSpPr/>
          <p:nvPr/>
        </p:nvSpPr>
        <p:spPr>
          <a:xfrm>
            <a:off x="0" y="1087123"/>
            <a:ext cx="21383624" cy="7704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sz="2000" b="1" dirty="0">
              <a:solidFill>
                <a:sysClr val="windowText" lastClr="000000"/>
              </a:solidFill>
            </a:endParaRPr>
          </a:p>
          <a:p>
            <a:r>
              <a:rPr lang="en-GB" sz="2000" b="1" dirty="0">
                <a:solidFill>
                  <a:sysClr val="windowText" lastClr="000000"/>
                </a:solidFill>
              </a:rPr>
              <a:t>Ferromagnets </a:t>
            </a:r>
            <a:r>
              <a:rPr lang="en-GB" sz="2000" dirty="0">
                <a:solidFill>
                  <a:sysClr val="windowText" lastClr="000000"/>
                </a:solidFill>
              </a:rPr>
              <a:t>can be modelled using a simple </a:t>
            </a:r>
            <a:r>
              <a:rPr lang="en-GB" sz="2000" b="1" dirty="0">
                <a:solidFill>
                  <a:sysClr val="windowText" lastClr="000000"/>
                </a:solidFill>
              </a:rPr>
              <a:t>2D Ising model</a:t>
            </a:r>
            <a:r>
              <a:rPr lang="en-GB" sz="2000" dirty="0">
                <a:solidFill>
                  <a:sysClr val="windowText" lastClr="000000"/>
                </a:solidFill>
              </a:rPr>
              <a:t>. Using this model, and  </a:t>
            </a:r>
            <a:r>
              <a:rPr lang="en-GB" sz="2000" b="1" dirty="0">
                <a:solidFill>
                  <a:sysClr val="windowText" lastClr="000000"/>
                </a:solidFill>
              </a:rPr>
              <a:t>Monte-Carlo methods </a:t>
            </a:r>
            <a:r>
              <a:rPr lang="en-GB" sz="2000" dirty="0">
                <a:solidFill>
                  <a:sysClr val="windowText" lastClr="000000"/>
                </a:solidFill>
              </a:rPr>
              <a:t>(the </a:t>
            </a:r>
            <a:r>
              <a:rPr lang="en-GB" sz="2000" b="1" dirty="0">
                <a:solidFill>
                  <a:sysClr val="windowText" lastClr="000000"/>
                </a:solidFill>
              </a:rPr>
              <a:t>metropolis algorithm</a:t>
            </a:r>
            <a:r>
              <a:rPr lang="en-GB" sz="2000" dirty="0">
                <a:solidFill>
                  <a:sysClr val="windowText" lastClr="000000"/>
                </a:solidFill>
              </a:rPr>
              <a:t>), we determine the </a:t>
            </a:r>
            <a:r>
              <a:rPr lang="en-GB" sz="2000" b="1" dirty="0">
                <a:solidFill>
                  <a:sysClr val="windowText" lastClr="000000"/>
                </a:solidFill>
              </a:rPr>
              <a:t>average magnetisation </a:t>
            </a:r>
            <a:r>
              <a:rPr lang="en-GB" sz="2000" dirty="0">
                <a:solidFill>
                  <a:sysClr val="windowText" lastClr="000000"/>
                </a:solidFill>
              </a:rPr>
              <a:t>in the </a:t>
            </a:r>
            <a:r>
              <a:rPr lang="en-GB" sz="2000" b="1" dirty="0">
                <a:solidFill>
                  <a:sysClr val="windowText" lastClr="000000"/>
                </a:solidFill>
              </a:rPr>
              <a:t>steady state region </a:t>
            </a:r>
            <a:r>
              <a:rPr lang="en-GB" sz="2000" dirty="0">
                <a:solidFill>
                  <a:sysClr val="windowText" lastClr="000000"/>
                </a:solidFill>
              </a:rPr>
              <a:t>for a set of specific conditions and compare to other models of </a:t>
            </a:r>
            <a:r>
              <a:rPr lang="en-GB" sz="2000" b="1" dirty="0">
                <a:solidFill>
                  <a:sysClr val="windowText" lastClr="000000"/>
                </a:solidFill>
              </a:rPr>
              <a:t>ferromagnets</a:t>
            </a:r>
            <a:r>
              <a:rPr lang="en-GB" sz="2000" dirty="0">
                <a:solidFill>
                  <a:sysClr val="windowText" lastClr="000000"/>
                </a:solidFill>
              </a:rPr>
              <a:t>, all showing good agreement with one another. </a:t>
            </a:r>
          </a:p>
          <a:p>
            <a:pPr algn="ctr"/>
            <a:endParaRPr lang="en-GB" dirty="0"/>
          </a:p>
        </p:txBody>
      </p:sp>
      <p:sp>
        <p:nvSpPr>
          <p:cNvPr id="8" name="Rectangle 7">
            <a:extLst>
              <a:ext uri="{FF2B5EF4-FFF2-40B4-BE49-F238E27FC236}">
                <a16:creationId xmlns:a16="http://schemas.microsoft.com/office/drawing/2014/main" id="{57E0D8E8-B7A0-2068-6455-9CB65C632235}"/>
              </a:ext>
            </a:extLst>
          </p:cNvPr>
          <p:cNvSpPr/>
          <p:nvPr/>
        </p:nvSpPr>
        <p:spPr>
          <a:xfrm>
            <a:off x="2371425" y="13976108"/>
            <a:ext cx="4616619" cy="89576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Scan the QR code to see the lattice evolution of a 32x32 lattice for B = -0.05, J= 0.5 over 30 sweeps</a:t>
            </a:r>
          </a:p>
        </p:txBody>
      </p:sp>
      <p:sp>
        <p:nvSpPr>
          <p:cNvPr id="17" name="Arrow: Curved Left 16">
            <a:extLst>
              <a:ext uri="{FF2B5EF4-FFF2-40B4-BE49-F238E27FC236}">
                <a16:creationId xmlns:a16="http://schemas.microsoft.com/office/drawing/2014/main" id="{D1B9E10A-57B0-601A-41D9-5AA8D509A60D}"/>
              </a:ext>
            </a:extLst>
          </p:cNvPr>
          <p:cNvSpPr/>
          <p:nvPr/>
        </p:nvSpPr>
        <p:spPr>
          <a:xfrm flipV="1">
            <a:off x="1699142" y="14032227"/>
            <a:ext cx="593393" cy="767781"/>
          </a:xfrm>
          <a:prstGeom prst="curvedLef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solidFill>
                <a:schemeClr val="tx1"/>
              </a:solidFill>
            </a:endParaRPr>
          </a:p>
        </p:txBody>
      </p:sp>
      <p:sp>
        <p:nvSpPr>
          <p:cNvPr id="19" name="Rectangle 18">
            <a:extLst>
              <a:ext uri="{FF2B5EF4-FFF2-40B4-BE49-F238E27FC236}">
                <a16:creationId xmlns:a16="http://schemas.microsoft.com/office/drawing/2014/main" id="{80B03507-8503-C4F4-F230-EC24B8C015A0}"/>
              </a:ext>
            </a:extLst>
          </p:cNvPr>
          <p:cNvSpPr/>
          <p:nvPr/>
        </p:nvSpPr>
        <p:spPr>
          <a:xfrm>
            <a:off x="353679" y="5849122"/>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1. 2D Ising Model</a:t>
            </a:r>
          </a:p>
        </p:txBody>
      </p:sp>
      <p:sp>
        <p:nvSpPr>
          <p:cNvPr id="26" name="Rectangle 25">
            <a:extLst>
              <a:ext uri="{FF2B5EF4-FFF2-40B4-BE49-F238E27FC236}">
                <a16:creationId xmlns:a16="http://schemas.microsoft.com/office/drawing/2014/main" id="{40023BE6-DDB1-589E-A22D-7F8C57B6492E}"/>
              </a:ext>
            </a:extLst>
          </p:cNvPr>
          <p:cNvSpPr/>
          <p:nvPr/>
        </p:nvSpPr>
        <p:spPr>
          <a:xfrm>
            <a:off x="7678029" y="5091662"/>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28" name="Rectangle 27">
            <a:extLst>
              <a:ext uri="{FF2B5EF4-FFF2-40B4-BE49-F238E27FC236}">
                <a16:creationId xmlns:a16="http://schemas.microsoft.com/office/drawing/2014/main" id="{E0B5737B-E98F-9619-FE74-C01BA01DA243}"/>
              </a:ext>
            </a:extLst>
          </p:cNvPr>
          <p:cNvSpPr/>
          <p:nvPr/>
        </p:nvSpPr>
        <p:spPr>
          <a:xfrm>
            <a:off x="7779687" y="9616738"/>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31" name="Rectangle 30">
            <a:extLst>
              <a:ext uri="{FF2B5EF4-FFF2-40B4-BE49-F238E27FC236}">
                <a16:creationId xmlns:a16="http://schemas.microsoft.com/office/drawing/2014/main" id="{C7C801B6-A2D2-9AC5-2E0E-01C0A7AEC319}"/>
              </a:ext>
            </a:extLst>
          </p:cNvPr>
          <p:cNvSpPr/>
          <p:nvPr/>
        </p:nvSpPr>
        <p:spPr>
          <a:xfrm>
            <a:off x="14949567" y="1894911"/>
            <a:ext cx="6215931"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36" name="TextBox 35">
            <a:extLst>
              <a:ext uri="{FF2B5EF4-FFF2-40B4-BE49-F238E27FC236}">
                <a16:creationId xmlns:a16="http://schemas.microsoft.com/office/drawing/2014/main" id="{FD535C89-890B-4BA3-3460-AC0616BC64D3}"/>
              </a:ext>
            </a:extLst>
          </p:cNvPr>
          <p:cNvSpPr txBox="1"/>
          <p:nvPr/>
        </p:nvSpPr>
        <p:spPr>
          <a:xfrm>
            <a:off x="14905829" y="5123081"/>
            <a:ext cx="2021997" cy="1708160"/>
          </a:xfrm>
          <a:prstGeom prst="rect">
            <a:avLst/>
          </a:prstGeom>
          <a:noFill/>
        </p:spPr>
        <p:txBody>
          <a:bodyPr wrap="square" rtlCol="0">
            <a:spAutoFit/>
          </a:bodyPr>
          <a:lstStyle/>
          <a:p>
            <a:r>
              <a:rPr lang="en-GB" sz="1500" b="1" dirty="0"/>
              <a:t>Table 1: </a:t>
            </a:r>
            <a:r>
              <a:rPr lang="en-GB" sz="1500" dirty="0"/>
              <a:t>Average magnetisation predicted by different models. MFT prediction is slightly larger since it ignores thermal fluctuations.</a:t>
            </a:r>
          </a:p>
        </p:txBody>
      </p:sp>
      <p:sp>
        <p:nvSpPr>
          <p:cNvPr id="56" name="TextBox 55">
            <a:extLst>
              <a:ext uri="{FF2B5EF4-FFF2-40B4-BE49-F238E27FC236}">
                <a16:creationId xmlns:a16="http://schemas.microsoft.com/office/drawing/2014/main" id="{E49081CD-CDAE-7E2F-9EBA-037C84F8AC7D}"/>
              </a:ext>
            </a:extLst>
          </p:cNvPr>
          <p:cNvSpPr txBox="1"/>
          <p:nvPr/>
        </p:nvSpPr>
        <p:spPr>
          <a:xfrm>
            <a:off x="1188958" y="715348"/>
            <a:ext cx="2267570" cy="369332"/>
          </a:xfrm>
          <a:prstGeom prst="rect">
            <a:avLst/>
          </a:prstGeom>
          <a:noFill/>
        </p:spPr>
        <p:txBody>
          <a:bodyPr wrap="square" rtlCol="0">
            <a:spAutoFit/>
          </a:bodyPr>
          <a:lstStyle/>
          <a:p>
            <a:r>
              <a:rPr lang="en-GB" dirty="0">
                <a:solidFill>
                  <a:schemeClr val="bg1"/>
                </a:solidFill>
                <a:latin typeface="ADLaM Display" panose="02010000000000000000" pitchFamily="2" charset="0"/>
                <a:ea typeface="ADLaM Display" panose="02010000000000000000" pitchFamily="2" charset="0"/>
                <a:cs typeface="ADLaM Display" panose="02010000000000000000" pitchFamily="2" charset="0"/>
              </a:rPr>
              <a:t>By Charlie Cook</a:t>
            </a:r>
          </a:p>
        </p:txBody>
      </p:sp>
    </p:spTree>
    <p:extLst>
      <p:ext uri="{BB962C8B-B14F-4D97-AF65-F5344CB8AC3E}">
        <p14:creationId xmlns:p14="http://schemas.microsoft.com/office/powerpoint/2010/main" val="3525691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D816AAD6-AE77-3440-C819-EAA6063D6228}"/>
            </a:ext>
          </a:extLst>
        </p:cNvPr>
        <p:cNvGrpSpPr/>
        <p:nvPr/>
      </p:nvGrpSpPr>
      <p:grpSpPr>
        <a:xfrm>
          <a:off x="0" y="0"/>
          <a:ext cx="0" cy="0"/>
          <a:chOff x="0" y="0"/>
          <a:chExt cx="0" cy="0"/>
        </a:xfrm>
      </p:grpSpPr>
      <p:pic>
        <p:nvPicPr>
          <p:cNvPr id="51" name="Picture 50" descr="A graph of a number of sweeps&#10;&#10;AI-generated content may be incorrect.">
            <a:extLst>
              <a:ext uri="{FF2B5EF4-FFF2-40B4-BE49-F238E27FC236}">
                <a16:creationId xmlns:a16="http://schemas.microsoft.com/office/drawing/2014/main" id="{D4A267F3-80F3-B4BF-CC5E-832580A46AA5}"/>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l="541" t="6470" r="8740" b="1925"/>
          <a:stretch>
            <a:fillRect/>
          </a:stretch>
        </p:blipFill>
        <p:spPr>
          <a:xfrm>
            <a:off x="14949567" y="6841014"/>
            <a:ext cx="6215931" cy="5124131"/>
          </a:xfrm>
          <a:prstGeom prst="rect">
            <a:avLst/>
          </a:prstGeom>
          <a:ln>
            <a:solidFill>
              <a:schemeClr val="bg2">
                <a:lumMod val="75000"/>
              </a:schemeClr>
            </a:solidFill>
          </a:ln>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B5213BCC-86E4-1567-7611-E3E0266437D8}"/>
                  </a:ext>
                </a:extLst>
              </p:cNvPr>
              <p:cNvSpPr txBox="1">
                <a:spLocks/>
              </p:cNvSpPr>
              <p:nvPr/>
            </p:nvSpPr>
            <p:spPr>
              <a:xfrm>
                <a:off x="326823" y="6841014"/>
                <a:ext cx="6972300" cy="7462492"/>
              </a:xfrm>
              <a:prstGeom prst="rect">
                <a:avLst/>
              </a:prstGeom>
              <a:noFill/>
            </p:spPr>
            <p:txBody>
              <a:bodyPr wrap="square" rtlCol="0">
                <a:spAutoFit/>
              </a:bodyPr>
              <a:lstStyle/>
              <a:p>
                <a:pPr marL="285750" indent="-285750">
                  <a:buFont typeface="Arial" panose="020B0604020202020204" pitchFamily="34" charset="0"/>
                  <a:buChar char="•"/>
                </a:pPr>
                <a:r>
                  <a:rPr lang="en-GB" dirty="0"/>
                  <a:t>A </a:t>
                </a:r>
                <a:r>
                  <a:rPr lang="en-GB" b="1" dirty="0"/>
                  <a:t>periodic lattice </a:t>
                </a:r>
                <a:r>
                  <a:rPr lang="en-GB" dirty="0"/>
                  <a:t>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is created.</a:t>
                </a:r>
              </a:p>
              <a:p>
                <a:pPr marL="285750" indent="-285750">
                  <a:buFont typeface="Arial" panose="020B0604020202020204" pitchFamily="34" charset="0"/>
                  <a:buChar char="•"/>
                </a:pPr>
                <a:r>
                  <a:rPr lang="en-GB" dirty="0"/>
                  <a:t> Each point is randomly assigned a </a:t>
                </a:r>
                <a:r>
                  <a:rPr lang="en-GB" b="1" dirty="0"/>
                  <a:t>spin</a:t>
                </a:r>
                <a:r>
                  <a:rPr lang="en-GB" dirty="0"/>
                  <a:t> value, </a:t>
                </a:r>
                <a14:m>
                  <m:oMath xmlns:m="http://schemas.openxmlformats.org/officeDocument/2006/math">
                    <m:r>
                      <a:rPr lang="en-GB" b="0" i="1" smtClean="0">
                        <a:latin typeface="Cambria Math" panose="02040503050406030204" pitchFamily="18" charset="0"/>
                      </a:rPr>
                      <m:t>𝑆</m:t>
                    </m:r>
                  </m:oMath>
                </a14:m>
                <a:r>
                  <a:rPr lang="en-GB" dirty="0"/>
                  <a:t>, of either +1 (</a:t>
                </a:r>
                <a:r>
                  <a:rPr lang="en-GB" b="1" dirty="0"/>
                  <a:t>spin up</a:t>
                </a:r>
                <a:r>
                  <a:rPr lang="en-GB" dirty="0"/>
                  <a:t>) or -1 (</a:t>
                </a:r>
                <a:r>
                  <a:rPr lang="en-GB" b="1" dirty="0"/>
                  <a:t>spin down</a:t>
                </a:r>
                <a:r>
                  <a:rPr lang="en-GB" dirty="0"/>
                  <a:t>). </a:t>
                </a:r>
              </a:p>
              <a:p>
                <a:pPr marL="285750" indent="-285750">
                  <a:buFont typeface="Arial" panose="020B0604020202020204" pitchFamily="34" charset="0"/>
                  <a:buChar char="•"/>
                </a:pPr>
                <a:r>
                  <a:rPr lang="en-GB" dirty="0"/>
                  <a:t>The </a:t>
                </a:r>
                <a:r>
                  <a:rPr lang="en-GB" b="1" dirty="0"/>
                  <a:t>total energy </a:t>
                </a:r>
                <a:r>
                  <a:rPr lang="en-GB" dirty="0"/>
                  <a:t>of the lattice comes from </a:t>
                </a:r>
                <a:r>
                  <a:rPr lang="en-GB" b="1" dirty="0"/>
                  <a:t>two sources </a:t>
                </a:r>
                <a:r>
                  <a:rPr lang="en-GB" dirty="0"/>
                  <a:t>[1,2] and is then given by:</a:t>
                </a:r>
              </a:p>
              <a:p>
                <a:endParaRPr lang="en-GB" dirty="0"/>
              </a:p>
              <a:p>
                <a:pPr/>
                <a14:m>
                  <m:oMathPara xmlns:m="http://schemas.openxmlformats.org/officeDocument/2006/math">
                    <m:oMathParaPr>
                      <m:jc m:val="centerGroup"/>
                    </m:oMathParaPr>
                    <m:oMath xmlns:m="http://schemas.openxmlformats.org/officeDocument/2006/math">
                      <m:r>
                        <a:rPr lang="en-GB" sz="2000" i="1">
                          <a:latin typeface="Cambria Math" panose="02040503050406030204" pitchFamily="18" charset="0"/>
                        </a:rPr>
                        <m:t>𝐸</m:t>
                      </m:r>
                      <m:r>
                        <a:rPr lang="en-GB" sz="2000" i="1">
                          <a:latin typeface="Cambria Math" panose="02040503050406030204" pitchFamily="18" charset="0"/>
                        </a:rPr>
                        <m:t>=−</m:t>
                      </m:r>
                      <m:r>
                        <a:rPr lang="en-GB" sz="2000" i="1">
                          <a:latin typeface="Cambria Math" panose="02040503050406030204" pitchFamily="18" charset="0"/>
                        </a:rPr>
                        <m:t>𝐵</m:t>
                      </m:r>
                      <m:nary>
                        <m:naryPr>
                          <m:chr m:val="∑"/>
                          <m:supHide m:val="on"/>
                          <m:ctrlPr>
                            <a:rPr lang="en-GB" sz="2000" i="1">
                              <a:latin typeface="Cambria Math" panose="02040503050406030204" pitchFamily="18" charset="0"/>
                            </a:rPr>
                          </m:ctrlPr>
                        </m:naryPr>
                        <m:sub>
                          <m:r>
                            <m:rPr>
                              <m:sty m:val="p"/>
                              <m:brk m:alnAt="7"/>
                            </m:rPr>
                            <a:rPr lang="el-GR" sz="2000" i="1">
                              <a:latin typeface="Cambria Math" panose="02040503050406030204" pitchFamily="18" charset="0"/>
                            </a:rPr>
                            <m:t>α</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brk m:alnAt="7"/>
                                </m:rPr>
                                <a:rPr lang="el-GR" sz="2000" i="1">
                                  <a:latin typeface="Cambria Math" panose="02040503050406030204" pitchFamily="18" charset="0"/>
                                </a:rPr>
                                <m:t>α</m:t>
                              </m:r>
                            </m:sub>
                          </m:sSub>
                        </m:e>
                      </m:nary>
                      <m:r>
                        <a:rPr lang="en-GB" sz="2000">
                          <a:latin typeface="Cambria Math" panose="02040503050406030204" pitchFamily="18" charset="0"/>
                        </a:rPr>
                        <m:t> −</m:t>
                      </m:r>
                      <m:r>
                        <m:rPr>
                          <m:sty m:val="p"/>
                        </m:rPr>
                        <a:rPr lang="en-GB" sz="2000">
                          <a:latin typeface="Cambria Math" panose="02040503050406030204" pitchFamily="18" charset="0"/>
                        </a:rPr>
                        <m:t>J</m:t>
                      </m:r>
                      <m:nary>
                        <m:naryPr>
                          <m:chr m:val="∑"/>
                          <m:supHide m:val="on"/>
                          <m:ctrlPr>
                            <a:rPr lang="en-GB" sz="2000" i="1">
                              <a:latin typeface="Cambria Math" panose="02040503050406030204" pitchFamily="18" charset="0"/>
                            </a:rPr>
                          </m:ctrlPr>
                        </m:naryPr>
                        <m:sub>
                          <m:r>
                            <m:rPr>
                              <m:brk m:alnAt="7"/>
                            </m:rPr>
                            <a:rPr lang="en-GB" sz="2000" i="1">
                              <a:latin typeface="Cambria Math" panose="02040503050406030204" pitchFamily="18" charset="0"/>
                            </a:rPr>
                            <m:t>&lt;</m:t>
                          </m:r>
                          <m:r>
                            <m:rPr>
                              <m:sty m:val="p"/>
                            </m:rPr>
                            <a:rPr lang="el-GR" sz="2000" i="1">
                              <a:latin typeface="Cambria Math" panose="02040503050406030204" pitchFamily="18" charset="0"/>
                            </a:rPr>
                            <m:t>αβ</m:t>
                          </m:r>
                          <m:r>
                            <a:rPr lang="en-GB" sz="2000" i="1">
                              <a:latin typeface="Cambria Math" panose="02040503050406030204" pitchFamily="18" charset="0"/>
                            </a:rPr>
                            <m:t>&gt;</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brk m:alnAt="7"/>
                                </m:rPr>
                                <a:rPr lang="el-GR" sz="2000" i="1">
                                  <a:latin typeface="Cambria Math" panose="02040503050406030204" pitchFamily="18" charset="0"/>
                                </a:rPr>
                                <m:t>α</m:t>
                              </m:r>
                            </m:sub>
                          </m:sSub>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rPr>
                                <a:rPr lang="el-GR" sz="2000" i="1">
                                  <a:latin typeface="Cambria Math" panose="02040503050406030204" pitchFamily="18" charset="0"/>
                                </a:rPr>
                                <m:t>β</m:t>
                              </m:r>
                            </m:sub>
                          </m:sSub>
                        </m:e>
                      </m:nary>
                      <m:r>
                        <a:rPr lang="en-GB" sz="2000">
                          <a:latin typeface="Cambria Math" panose="02040503050406030204" pitchFamily="18" charset="0"/>
                        </a:rPr>
                        <m:t>, </m:t>
                      </m:r>
                    </m:oMath>
                  </m:oMathPara>
                </a14:m>
                <a:endParaRPr lang="en-GB" sz="2000" dirty="0"/>
              </a:p>
              <a:p>
                <a:endParaRPr lang="en-GB" dirty="0"/>
              </a:p>
              <a:p>
                <a:endParaRPr lang="en-GB" dirty="0"/>
              </a:p>
              <a:p>
                <a:endParaRPr lang="en-GB" dirty="0"/>
              </a:p>
              <a:p>
                <a:endParaRPr lang="en-GB" dirty="0"/>
              </a:p>
              <a:p>
                <a:pPr marL="285750" indent="-285750">
                  <a:buFont typeface="Arial" panose="020B0604020202020204" pitchFamily="34" charset="0"/>
                  <a:buChar char="•"/>
                </a:pPr>
                <a:r>
                  <a:rPr lang="en-GB" dirty="0"/>
                  <a:t>where </a:t>
                </a:r>
                <a14:m>
                  <m:oMath xmlns:m="http://schemas.openxmlformats.org/officeDocument/2006/math">
                    <m:r>
                      <a:rPr lang="el-GR" i="1" dirty="0">
                        <a:latin typeface="Cambria Math" panose="02040503050406030204" pitchFamily="18" charset="0"/>
                        <a:ea typeface="Cambria Math" panose="02040503050406030204" pitchFamily="18" charset="0"/>
                      </a:rPr>
                      <m:t>𝛼</m:t>
                    </m:r>
                  </m:oMath>
                </a14:m>
                <a:r>
                  <a:rPr lang="en-GB" dirty="0"/>
                  <a:t> is the summation over each </a:t>
                </a:r>
                <a:r>
                  <a:rPr lang="en-GB" b="1" dirty="0"/>
                  <a:t>lattice point </a:t>
                </a:r>
                <a:r>
                  <a:rPr lang="en-GB" dirty="0"/>
                  <a:t>(i.e. over all </a:t>
                </a:r>
                <a14:m>
                  <m:oMath xmlns:m="http://schemas.openxmlformats.org/officeDocument/2006/math">
                    <m:r>
                      <a:rPr lang="en-GB" i="1" dirty="0">
                        <a:latin typeface="Cambria Math" panose="02040503050406030204" pitchFamily="18" charset="0"/>
                      </a:rPr>
                      <m:t>𝑖</m:t>
                    </m:r>
                  </m:oMath>
                </a14:m>
                <a:r>
                  <a:rPr lang="en-GB" dirty="0"/>
                  <a:t> and </a:t>
                </a:r>
                <a14:m>
                  <m:oMath xmlns:m="http://schemas.openxmlformats.org/officeDocument/2006/math">
                    <m:r>
                      <a:rPr lang="en-GB" i="1" dirty="0">
                        <a:latin typeface="Cambria Math" panose="02040503050406030204" pitchFamily="18" charset="0"/>
                      </a:rPr>
                      <m:t>𝑗</m:t>
                    </m:r>
                  </m:oMath>
                </a14:m>
                <a:r>
                  <a:rPr lang="en-GB" dirty="0"/>
                  <a:t>), and</a:t>
                </a:r>
                <a14:m>
                  <m:oMath xmlns:m="http://schemas.openxmlformats.org/officeDocument/2006/math">
                    <m:r>
                      <a:rPr lang="en-GB" i="1" dirty="0">
                        <a:latin typeface="Cambria Math" panose="02040503050406030204" pitchFamily="18" charset="0"/>
                      </a:rPr>
                      <m:t> </m:t>
                    </m:r>
                    <m:r>
                      <a:rPr lang="el-GR" i="1" dirty="0">
                        <a:latin typeface="Cambria Math" panose="02040503050406030204" pitchFamily="18" charset="0"/>
                      </a:rPr>
                      <m:t>𝛽</m:t>
                    </m:r>
                    <m:r>
                      <a:rPr lang="en-GB" i="1" dirty="0">
                        <a:latin typeface="Cambria Math" panose="02040503050406030204" pitchFamily="18" charset="0"/>
                      </a:rPr>
                      <m:t> </m:t>
                    </m:r>
                  </m:oMath>
                </a14:m>
                <a:r>
                  <a:rPr lang="en-GB" dirty="0"/>
                  <a:t>is the summation of the </a:t>
                </a:r>
                <a:r>
                  <a:rPr lang="en-GB" b="1" dirty="0"/>
                  <a:t>four nearest neighbours</a:t>
                </a:r>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oMath>
                </a14:m>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r>
                      <a:rPr lang="en-GB" dirty="0">
                        <a:latin typeface="Cambria Math" panose="02040503050406030204" pitchFamily="18" charset="0"/>
                      </a:rPr>
                      <m:t>, </m:t>
                    </m:r>
                    <m:r>
                      <a:rPr lang="en-GB" i="1" dirty="0">
                        <a:latin typeface="Cambria Math" panose="02040503050406030204" pitchFamily="18" charset="0"/>
                      </a:rPr>
                      <m:t>(</m:t>
                    </m:r>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 </m:t>
                    </m:r>
                  </m:oMath>
                </a14:m>
                <a:r>
                  <a:rPr lang="en-GB" dirty="0"/>
                  <a:t>and </a:t>
                </a:r>
                <a14:m>
                  <m:oMath xmlns:m="http://schemas.openxmlformats.org/officeDocument/2006/math">
                    <m:d>
                      <m:dPr>
                        <m:ctrlPr>
                          <a:rPr lang="en-GB" i="1" dirty="0" err="1">
                            <a:latin typeface="Cambria Math" panose="02040503050406030204" pitchFamily="18" charset="0"/>
                          </a:rPr>
                        </m:ctrlPr>
                      </m:dPr>
                      <m:e>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m:t>
                        </m:r>
                      </m:e>
                    </m:d>
                  </m:oMath>
                </a14:m>
                <a:r>
                  <a:rPr lang="en-GB" dirty="0"/>
                  <a:t>[2]. </a:t>
                </a:r>
              </a:p>
              <a:p>
                <a:pPr marL="285750" indent="-285750">
                  <a:buFont typeface="Arial" panose="020B0604020202020204" pitchFamily="34" charset="0"/>
                  <a:buChar char="•"/>
                </a:pPr>
                <a:r>
                  <a:rPr lang="en-GB" dirty="0"/>
                  <a:t>J is the </a:t>
                </a:r>
                <a:r>
                  <a:rPr lang="en-GB" b="1" dirty="0"/>
                  <a:t>interaction strength</a:t>
                </a:r>
                <a:r>
                  <a:rPr lang="en-GB" dirty="0"/>
                  <a:t> between</a:t>
                </a:r>
                <a:r>
                  <a:rPr lang="en-GB" b="1" dirty="0"/>
                  <a:t> neighbouring </a:t>
                </a:r>
                <a:r>
                  <a:rPr lang="en-GB" dirty="0"/>
                  <a:t>spins:  J &gt; 0 and J &lt; 0 corresponding with the tendency for neighbouring spins to align (</a:t>
                </a:r>
                <a:r>
                  <a:rPr lang="en-GB" b="1" dirty="0"/>
                  <a:t>ferromagnetism</a:t>
                </a:r>
                <a:r>
                  <a:rPr lang="en-GB" dirty="0"/>
                  <a:t>) or anti-align (</a:t>
                </a:r>
                <a:r>
                  <a:rPr lang="en-GB" b="1" dirty="0"/>
                  <a:t>anti-ferromagnetism</a:t>
                </a:r>
                <a:r>
                  <a:rPr lang="en-GB" dirty="0"/>
                  <a:t>), respectively.</a:t>
                </a:r>
              </a:p>
              <a:p>
                <a:pPr marL="285750" indent="-285750">
                  <a:buFont typeface="Arial" panose="020B0604020202020204" pitchFamily="34" charset="0"/>
                  <a:buChar char="•"/>
                </a:pPr>
                <a:r>
                  <a:rPr lang="en-GB" b="1" dirty="0"/>
                  <a:t>Average magnetisation </a:t>
                </a:r>
                <a:r>
                  <a:rPr lang="en-GB" dirty="0"/>
                  <a:t>of the lattice can be calculated using:  </a:t>
                </a:r>
              </a:p>
              <a:p>
                <a:pPr/>
                <a14:m>
                  <m:oMathPara xmlns:m="http://schemas.openxmlformats.org/officeDocument/2006/math">
                    <m:oMathParaPr>
                      <m:jc m:val="centerGroup"/>
                    </m:oMathParaPr>
                    <m:oMath xmlns:m="http://schemas.openxmlformats.org/officeDocument/2006/math">
                      <m:r>
                        <a:rPr lang="en-GB" sz="2000" i="1">
                          <a:latin typeface="Cambria Math" panose="02040503050406030204" pitchFamily="18" charset="0"/>
                        </a:rPr>
                        <m:t>&lt;</m:t>
                      </m:r>
                      <m:r>
                        <a:rPr lang="en-GB" sz="2000" i="1">
                          <a:latin typeface="Cambria Math" panose="02040503050406030204" pitchFamily="18" charset="0"/>
                        </a:rPr>
                        <m:t>𝑚</m:t>
                      </m:r>
                      <m:r>
                        <a:rPr lang="en-GB" sz="2000" i="1">
                          <a:latin typeface="Cambria Math" panose="02040503050406030204" pitchFamily="18" charset="0"/>
                        </a:rPr>
                        <m:t>&gt; =</m:t>
                      </m:r>
                      <m:f>
                        <m:fPr>
                          <m:ctrlPr>
                            <a:rPr lang="en-GB" sz="2000" i="1">
                              <a:latin typeface="Cambria Math" panose="02040503050406030204" pitchFamily="18" charset="0"/>
                            </a:rPr>
                          </m:ctrlPr>
                        </m:fPr>
                        <m:num>
                          <m:r>
                            <a:rPr lang="en-GB" sz="2000" i="1">
                              <a:latin typeface="Cambria Math" panose="02040503050406030204" pitchFamily="18" charset="0"/>
                            </a:rPr>
                            <m:t>1</m:t>
                          </m:r>
                        </m:num>
                        <m:den>
                          <m:sSub>
                            <m:sSubPr>
                              <m:ctrlPr>
                                <a:rPr lang="en-GB" sz="2000" i="1">
                                  <a:latin typeface="Cambria Math" panose="02040503050406030204" pitchFamily="18" charset="0"/>
                                </a:rPr>
                              </m:ctrlPr>
                            </m:sSubPr>
                            <m:e>
                              <m:r>
                                <a:rPr lang="en-GB" sz="2000" i="1">
                                  <a:latin typeface="Cambria Math" panose="02040503050406030204" pitchFamily="18" charset="0"/>
                                </a:rPr>
                                <m:t>𝑁</m:t>
                              </m:r>
                            </m:e>
                            <m:sub>
                              <m:r>
                                <a:rPr lang="en-GB" sz="2000" i="1">
                                  <a:latin typeface="Cambria Math" panose="02040503050406030204" pitchFamily="18" charset="0"/>
                                </a:rPr>
                                <m:t>𝑥</m:t>
                              </m:r>
                            </m:sub>
                          </m:sSub>
                          <m:sSub>
                            <m:sSubPr>
                              <m:ctrlPr>
                                <a:rPr lang="en-GB" sz="2000" i="1">
                                  <a:latin typeface="Cambria Math" panose="02040503050406030204" pitchFamily="18" charset="0"/>
                                </a:rPr>
                              </m:ctrlPr>
                            </m:sSubPr>
                            <m:e>
                              <m:r>
                                <a:rPr lang="en-GB" sz="2000" i="1">
                                  <a:latin typeface="Cambria Math" panose="02040503050406030204" pitchFamily="18" charset="0"/>
                                </a:rPr>
                                <m:t>𝑁</m:t>
                              </m:r>
                            </m:e>
                            <m:sub>
                              <m:r>
                                <a:rPr lang="en-GB" sz="2000" i="1">
                                  <a:latin typeface="Cambria Math" panose="02040503050406030204" pitchFamily="18" charset="0"/>
                                </a:rPr>
                                <m:t>𝑦</m:t>
                              </m:r>
                            </m:sub>
                          </m:sSub>
                        </m:den>
                      </m:f>
                      <m:nary>
                        <m:naryPr>
                          <m:chr m:val="∑"/>
                          <m:supHide m:val="on"/>
                          <m:ctrlPr>
                            <a:rPr lang="en-GB" sz="2000" i="1">
                              <a:latin typeface="Cambria Math" panose="02040503050406030204" pitchFamily="18" charset="0"/>
                            </a:rPr>
                          </m:ctrlPr>
                        </m:naryPr>
                        <m:sub>
                          <m:r>
                            <a:rPr lang="en-GB" sz="2000" i="1">
                              <a:latin typeface="Cambria Math" panose="02040503050406030204" pitchFamily="18" charset="0"/>
                            </a:rPr>
                            <m:t>𝛼</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a:rPr lang="en-GB" sz="2000" i="1">
                                  <a:latin typeface="Cambria Math" panose="02040503050406030204" pitchFamily="18" charset="0"/>
                                </a:rPr>
                                <m:t>𝛼</m:t>
                              </m:r>
                            </m:sub>
                          </m:sSub>
                        </m:e>
                      </m:nary>
                    </m:oMath>
                  </m:oMathPara>
                </a14:m>
                <a:endParaRPr lang="en-GB" dirty="0"/>
              </a:p>
              <a:p>
                <a:pPr marL="285750" indent="-285750">
                  <a:buFont typeface="Arial" panose="020B0604020202020204" pitchFamily="34" charset="0"/>
                  <a:buChar char="•"/>
                </a:pPr>
                <a:endParaRPr lang="en-GB" dirty="0"/>
              </a:p>
              <a:p>
                <a:endParaRPr lang="en-GB" dirty="0"/>
              </a:p>
            </p:txBody>
          </p:sp>
        </mc:Choice>
        <mc:Fallback>
          <p:sp>
            <p:nvSpPr>
              <p:cNvPr id="14" name="TextBox 13">
                <a:extLst>
                  <a:ext uri="{FF2B5EF4-FFF2-40B4-BE49-F238E27FC236}">
                    <a16:creationId xmlns:a16="http://schemas.microsoft.com/office/drawing/2014/main" id="{B5213BCC-86E4-1567-7611-E3E0266437D8}"/>
                  </a:ext>
                </a:extLst>
              </p:cNvPr>
              <p:cNvSpPr txBox="1">
                <a:spLocks noRot="1" noChangeAspect="1" noMove="1" noResize="1" noEditPoints="1" noAdjustHandles="1" noChangeArrowheads="1" noChangeShapeType="1" noTextEdit="1"/>
              </p:cNvSpPr>
              <p:nvPr/>
            </p:nvSpPr>
            <p:spPr>
              <a:xfrm>
                <a:off x="326823" y="6841014"/>
                <a:ext cx="6972300" cy="7462492"/>
              </a:xfrm>
              <a:prstGeom prst="rect">
                <a:avLst/>
              </a:prstGeom>
              <a:blipFill>
                <a:blip r:embed="rId4"/>
                <a:stretch>
                  <a:fillRect l="-612" t="-245" r="-700"/>
                </a:stretch>
              </a:blipFill>
            </p:spPr>
            <p:txBody>
              <a:bodyPr/>
              <a:lstStyle/>
              <a:p>
                <a:r>
                  <a:rPr lang="en-GB">
                    <a:noFill/>
                  </a:rPr>
                  <a:t> </a:t>
                </a:r>
              </a:p>
            </p:txBody>
          </p:sp>
        </mc:Fallback>
      </mc:AlternateContent>
      <p:sp>
        <p:nvSpPr>
          <p:cNvPr id="4" name="Rectangle 3">
            <a:extLst>
              <a:ext uri="{FF2B5EF4-FFF2-40B4-BE49-F238E27FC236}">
                <a16:creationId xmlns:a16="http://schemas.microsoft.com/office/drawing/2014/main" id="{2EDC7014-9616-7A33-BDEC-43749833EAFC}"/>
              </a:ext>
            </a:extLst>
          </p:cNvPr>
          <p:cNvSpPr/>
          <p:nvPr/>
        </p:nvSpPr>
        <p:spPr>
          <a:xfrm>
            <a:off x="-1" y="1"/>
            <a:ext cx="21383625" cy="109879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a ferromagnet using the Ising model</a:t>
            </a:r>
          </a:p>
          <a:p>
            <a:pPr algn="ctr"/>
            <a:endParaRPr lang="en-GB" dirty="0"/>
          </a:p>
        </p:txBody>
      </p:sp>
      <p:sp>
        <p:nvSpPr>
          <p:cNvPr id="18" name="Rectangle 17">
            <a:extLst>
              <a:ext uri="{FF2B5EF4-FFF2-40B4-BE49-F238E27FC236}">
                <a16:creationId xmlns:a16="http://schemas.microsoft.com/office/drawing/2014/main" id="{D36496F6-B261-0DA3-634A-931723E5843B}"/>
              </a:ext>
            </a:extLst>
          </p:cNvPr>
          <p:cNvSpPr/>
          <p:nvPr/>
        </p:nvSpPr>
        <p:spPr>
          <a:xfrm>
            <a:off x="15140965" y="13455839"/>
            <a:ext cx="5956300" cy="306434"/>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sp>
        <p:nvSpPr>
          <p:cNvPr id="27" name="Rectangle 26">
            <a:extLst>
              <a:ext uri="{FF2B5EF4-FFF2-40B4-BE49-F238E27FC236}">
                <a16:creationId xmlns:a16="http://schemas.microsoft.com/office/drawing/2014/main" id="{12ED792C-8E7F-91FB-36B2-DFABD509B72F}"/>
              </a:ext>
            </a:extLst>
          </p:cNvPr>
          <p:cNvSpPr/>
          <p:nvPr/>
        </p:nvSpPr>
        <p:spPr>
          <a:xfrm>
            <a:off x="1785892" y="9417610"/>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AB431008-C187-F1CE-8F9B-DE4C92621A6E}"/>
              </a:ext>
            </a:extLst>
          </p:cNvPr>
          <p:cNvSpPr/>
          <p:nvPr/>
        </p:nvSpPr>
        <p:spPr>
          <a:xfrm>
            <a:off x="4210503" y="9417610"/>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0D1FF1B2-EA9A-ED88-0977-EAFACFB049E0}"/>
                  </a:ext>
                </a:extLst>
              </p:cNvPr>
              <p:cNvSpPr txBox="1"/>
              <p:nvPr/>
            </p:nvSpPr>
            <p:spPr>
              <a:xfrm>
                <a:off x="15131564" y="12106631"/>
                <a:ext cx="5883278" cy="1600438"/>
              </a:xfrm>
              <a:prstGeom prst="rect">
                <a:avLst/>
              </a:prstGeom>
              <a:noFill/>
            </p:spPr>
            <p:txBody>
              <a:bodyPr wrap="square" rtlCol="0">
                <a:spAutoFit/>
              </a:bodyPr>
              <a:lstStyle/>
              <a:p>
                <a:r>
                  <a:rPr lang="en-GB" sz="1600" dirty="0"/>
                  <a:t>Fig. 2: Plot of average magnetisation per spin against number of sweeps of the Monte Carlo algorithm for a 32x32 lattice, with </a:t>
                </a:r>
                <a14:m>
                  <m:oMath xmlns:m="http://schemas.openxmlformats.org/officeDocument/2006/math">
                    <m:r>
                      <a:rPr lang="en-GB" sz="1600" i="1" dirty="0" smtClean="0">
                        <a:latin typeface="Cambria Math" panose="02040503050406030204" pitchFamily="18" charset="0"/>
                      </a:rPr>
                      <m:t>𝐵</m:t>
                    </m:r>
                    <m:r>
                      <a:rPr lang="en-GB" sz="1600" i="1" dirty="0" smtClean="0">
                        <a:latin typeface="Cambria Math" panose="02040503050406030204" pitchFamily="18" charset="0"/>
                      </a:rPr>
                      <m:t> = −0.05</m:t>
                    </m:r>
                  </m:oMath>
                </a14:m>
                <a:r>
                  <a:rPr lang="en-GB" sz="1600" dirty="0"/>
                  <a:t>, </a:t>
                </a:r>
                <a14:m>
                  <m:oMath xmlns:m="http://schemas.openxmlformats.org/officeDocument/2006/math">
                    <m:r>
                      <a:rPr lang="en-GB" sz="1600" i="1" dirty="0" smtClean="0">
                        <a:latin typeface="Cambria Math" panose="02040503050406030204" pitchFamily="18" charset="0"/>
                      </a:rPr>
                      <m:t>𝐽</m:t>
                    </m:r>
                    <m:r>
                      <a:rPr lang="en-GB" sz="1600" i="1" dirty="0" smtClean="0">
                        <a:latin typeface="Cambria Math" panose="02040503050406030204" pitchFamily="18" charset="0"/>
                      </a:rPr>
                      <m:t> = 0.5</m:t>
                    </m:r>
                  </m:oMath>
                </a14:m>
                <a:r>
                  <a:rPr lang="en-GB" sz="1600" dirty="0"/>
                  <a:t>, and </a:t>
                </a:r>
                <a14:m>
                  <m:oMath xmlns:m="http://schemas.openxmlformats.org/officeDocument/2006/math">
                    <m:r>
                      <a:rPr lang="en-GB" sz="1600" i="1" dirty="0" smtClean="0">
                        <a:latin typeface="Cambria Math" panose="02040503050406030204" pitchFamily="18" charset="0"/>
                      </a:rPr>
                      <m:t>𝑘𝑇</m:t>
                    </m:r>
                    <m:r>
                      <a:rPr lang="en-GB" sz="1600" i="1" dirty="0">
                        <a:latin typeface="Cambria Math" panose="02040503050406030204" pitchFamily="18" charset="0"/>
                      </a:rPr>
                      <m:t> = 1</m:t>
                    </m:r>
                  </m:oMath>
                </a14:m>
                <a:r>
                  <a:rPr lang="en-GB" sz="1600" dirty="0"/>
                  <a:t>. </a:t>
                </a:r>
              </a:p>
              <a:p>
                <a:r>
                  <a:rPr lang="en-GB" sz="1600" dirty="0"/>
                  <a:t>Insets show lattice at sweeps 0, 5 and 30,  further illustrating the rapid evolution into alignment with the B field.</a:t>
                </a:r>
              </a:p>
              <a:p>
                <a:endParaRPr lang="en-GB" dirty="0"/>
              </a:p>
            </p:txBody>
          </p:sp>
        </mc:Choice>
        <mc:Fallback>
          <p:sp>
            <p:nvSpPr>
              <p:cNvPr id="3" name="TextBox 2">
                <a:extLst>
                  <a:ext uri="{FF2B5EF4-FFF2-40B4-BE49-F238E27FC236}">
                    <a16:creationId xmlns:a16="http://schemas.microsoft.com/office/drawing/2014/main" id="{0D1FF1B2-EA9A-ED88-0977-EAFACFB049E0}"/>
                  </a:ext>
                </a:extLst>
              </p:cNvPr>
              <p:cNvSpPr txBox="1">
                <a:spLocks noRot="1" noChangeAspect="1" noMove="1" noResize="1" noEditPoints="1" noAdjustHandles="1" noChangeArrowheads="1" noChangeShapeType="1" noTextEdit="1"/>
              </p:cNvSpPr>
              <p:nvPr/>
            </p:nvSpPr>
            <p:spPr>
              <a:xfrm>
                <a:off x="15131564" y="12106631"/>
                <a:ext cx="5883278" cy="1600438"/>
              </a:xfrm>
              <a:prstGeom prst="rect">
                <a:avLst/>
              </a:prstGeom>
              <a:blipFill>
                <a:blip r:embed="rId5"/>
                <a:stretch>
                  <a:fillRect l="-518" t="-114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33152C22-D357-DAEB-7326-7FD3E2103490}"/>
                  </a:ext>
                </a:extLst>
              </p:cNvPr>
              <p:cNvSpPr txBox="1"/>
              <p:nvPr/>
            </p:nvSpPr>
            <p:spPr>
              <a:xfrm>
                <a:off x="14949566" y="2496737"/>
                <a:ext cx="6215932" cy="2585323"/>
              </a:xfrm>
              <a:prstGeom prst="rect">
                <a:avLst/>
              </a:prstGeom>
              <a:noFill/>
            </p:spPr>
            <p:txBody>
              <a:bodyPr wrap="square" rtlCol="0">
                <a:spAutoFit/>
              </a:bodyPr>
              <a:lstStyle/>
              <a:p>
                <a:pPr marL="285750" indent="-285750">
                  <a:buFont typeface="Arial" panose="020B0604020202020204" pitchFamily="34" charset="0"/>
                  <a:buChar char="•"/>
                </a:pPr>
                <a:r>
                  <a:rPr lang="en-GB" dirty="0"/>
                  <a:t>Fig. 2 shows the </a:t>
                </a:r>
                <a:r>
                  <a:rPr lang="en-GB" b="1" dirty="0"/>
                  <a:t>average magnetisation </a:t>
                </a:r>
                <a:r>
                  <a:rPr lang="en-GB" dirty="0"/>
                  <a:t>as a function of </a:t>
                </a:r>
                <a:r>
                  <a:rPr lang="en-GB" b="1" dirty="0"/>
                  <a:t>sweeps</a:t>
                </a:r>
                <a:r>
                  <a:rPr lang="en-GB" dirty="0"/>
                  <a:t>, for  a 32x32 lattice with </a:t>
                </a:r>
                <a14:m>
                  <m:oMath xmlns:m="http://schemas.openxmlformats.org/officeDocument/2006/math">
                    <m:r>
                      <a:rPr lang="en-GB" i="1" dirty="0" smtClean="0">
                        <a:latin typeface="Cambria Math" panose="02040503050406030204" pitchFamily="18" charset="0"/>
                      </a:rPr>
                      <m:t>𝐵</m:t>
                    </m:r>
                    <m:r>
                      <a:rPr lang="en-GB" i="1" dirty="0" smtClean="0">
                        <a:latin typeface="Cambria Math" panose="02040503050406030204" pitchFamily="18" charset="0"/>
                      </a:rPr>
                      <m:t> = −0.05 </m:t>
                    </m:r>
                  </m:oMath>
                </a14:m>
                <a:r>
                  <a:rPr lang="en-GB" dirty="0"/>
                  <a:t>and </a:t>
                </a:r>
                <a14:m>
                  <m:oMath xmlns:m="http://schemas.openxmlformats.org/officeDocument/2006/math">
                    <m:r>
                      <a:rPr lang="en-GB" i="1" dirty="0" smtClean="0">
                        <a:latin typeface="Cambria Math" panose="02040503050406030204" pitchFamily="18" charset="0"/>
                      </a:rPr>
                      <m:t>𝐽</m:t>
                    </m:r>
                    <m:r>
                      <a:rPr lang="en-GB" i="1" dirty="0" smtClean="0">
                        <a:latin typeface="Cambria Math" panose="02040503050406030204" pitchFamily="18" charset="0"/>
                      </a:rPr>
                      <m:t> = 0.5</m:t>
                    </m:r>
                  </m:oMath>
                </a14:m>
                <a:r>
                  <a:rPr lang="en-GB" dirty="0"/>
                  <a:t>.</a:t>
                </a:r>
              </a:p>
              <a:p>
                <a:pPr marL="285750" indent="-285750">
                  <a:buFont typeface="Arial" panose="020B0604020202020204" pitchFamily="34" charset="0"/>
                  <a:buChar char="•"/>
                </a:pPr>
                <a:r>
                  <a:rPr lang="en-GB" dirty="0"/>
                  <a:t> We chose to define the </a:t>
                </a:r>
                <a:r>
                  <a:rPr lang="en-GB" b="1" dirty="0"/>
                  <a:t>steady state region </a:t>
                </a:r>
                <a:r>
                  <a:rPr lang="en-GB" dirty="0"/>
                  <a:t>as: the point where the running average magnetisation doesn’t fluctuate by more than 5% of the difference between the initial and final value.</a:t>
                </a:r>
                <a:endParaRPr lang="en-GB" dirty="0">
                  <a:solidFill>
                    <a:srgbClr val="FF0000"/>
                  </a:solidFill>
                </a:endParaRPr>
              </a:p>
              <a:p>
                <a:pPr marL="285750" indent="-285750">
                  <a:buFont typeface="Arial" panose="020B0604020202020204" pitchFamily="34" charset="0"/>
                  <a:buChar char="•"/>
                </a:pPr>
                <a:r>
                  <a:rPr lang="en-GB" b="1" dirty="0"/>
                  <a:t>Average magnetisation</a:t>
                </a:r>
                <a:r>
                  <a:rPr lang="en-GB" dirty="0"/>
                  <a:t> predicted by my </a:t>
                </a:r>
                <a:r>
                  <a:rPr lang="en-GB" b="1" dirty="0"/>
                  <a:t>simulation</a:t>
                </a:r>
                <a:r>
                  <a:rPr lang="en-GB" dirty="0"/>
                  <a:t>, </a:t>
                </a:r>
                <a:r>
                  <a:rPr lang="en-GB" b="1" dirty="0"/>
                  <a:t>MFT </a:t>
                </a:r>
                <a:r>
                  <a:rPr lang="en-GB" dirty="0"/>
                  <a:t>[4] and an </a:t>
                </a:r>
                <a:r>
                  <a:rPr lang="en-GB" b="1" dirty="0"/>
                  <a:t>Ansatz approach </a:t>
                </a:r>
                <a:r>
                  <a:rPr lang="en-GB" dirty="0"/>
                  <a:t>[5] is shown below in </a:t>
                </a:r>
                <a:r>
                  <a:rPr lang="en-GB" b="1" dirty="0"/>
                  <a:t>Table 1</a:t>
                </a:r>
                <a:r>
                  <a:rPr lang="en-GB" dirty="0"/>
                  <a:t>. The results show good overall agreement.</a:t>
                </a:r>
              </a:p>
            </p:txBody>
          </p:sp>
        </mc:Choice>
        <mc:Fallback>
          <p:sp>
            <p:nvSpPr>
              <p:cNvPr id="20" name="TextBox 19">
                <a:extLst>
                  <a:ext uri="{FF2B5EF4-FFF2-40B4-BE49-F238E27FC236}">
                    <a16:creationId xmlns:a16="http://schemas.microsoft.com/office/drawing/2014/main" id="{33152C22-D357-DAEB-7326-7FD3E2103490}"/>
                  </a:ext>
                </a:extLst>
              </p:cNvPr>
              <p:cNvSpPr txBox="1">
                <a:spLocks noRot="1" noChangeAspect="1" noMove="1" noResize="1" noEditPoints="1" noAdjustHandles="1" noChangeArrowheads="1" noChangeShapeType="1" noTextEdit="1"/>
              </p:cNvSpPr>
              <p:nvPr/>
            </p:nvSpPr>
            <p:spPr>
              <a:xfrm>
                <a:off x="14949566" y="2496737"/>
                <a:ext cx="6215932" cy="2585323"/>
              </a:xfrm>
              <a:prstGeom prst="rect">
                <a:avLst/>
              </a:prstGeom>
              <a:blipFill>
                <a:blip r:embed="rId6"/>
                <a:stretch>
                  <a:fillRect l="-588" t="-1179" r="-196" b="-3066"/>
                </a:stretch>
              </a:blipFill>
            </p:spPr>
            <p:txBody>
              <a:bodyPr/>
              <a:lstStyle/>
              <a:p>
                <a:r>
                  <a:rPr lang="en-GB">
                    <a:noFill/>
                  </a:rPr>
                  <a:t> </a:t>
                </a:r>
              </a:p>
            </p:txBody>
          </p:sp>
        </mc:Fallback>
      </mc:AlternateContent>
      <p:sp>
        <p:nvSpPr>
          <p:cNvPr id="21" name="TextBox 20">
            <a:extLst>
              <a:ext uri="{FF2B5EF4-FFF2-40B4-BE49-F238E27FC236}">
                <a16:creationId xmlns:a16="http://schemas.microsoft.com/office/drawing/2014/main" id="{4B6D26F9-1C73-D19A-02DA-0ABB3727BDEE}"/>
              </a:ext>
            </a:extLst>
          </p:cNvPr>
          <p:cNvSpPr txBox="1"/>
          <p:nvPr/>
        </p:nvSpPr>
        <p:spPr>
          <a:xfrm>
            <a:off x="15126436" y="13762273"/>
            <a:ext cx="5985358" cy="1323439"/>
          </a:xfrm>
          <a:prstGeom prst="rect">
            <a:avLst/>
          </a:prstGeom>
          <a:noFill/>
        </p:spPr>
        <p:txBody>
          <a:bodyPr wrap="square" rtlCol="0">
            <a:spAutoFit/>
          </a:bodyPr>
          <a:lstStyle/>
          <a:p>
            <a:pPr marL="228600" indent="-228600">
              <a:buAutoNum type="arabicPeriod"/>
            </a:pPr>
            <a:r>
              <a:rPr lang="de-DE" sz="800" dirty="0"/>
              <a:t>Ising, E. Beitrag zur Theorie des Ferromagnetismus. </a:t>
            </a:r>
            <a:r>
              <a:rPr lang="de-DE" sz="800" i="1" dirty="0"/>
              <a:t>Z. Physik</a:t>
            </a:r>
            <a:r>
              <a:rPr lang="de-DE" sz="800" dirty="0"/>
              <a:t> </a:t>
            </a:r>
            <a:r>
              <a:rPr lang="de-DE" sz="800" b="1" dirty="0"/>
              <a:t>31</a:t>
            </a:r>
            <a:r>
              <a:rPr lang="de-DE" sz="800" dirty="0"/>
              <a:t>, 253–258 (1925). </a:t>
            </a:r>
            <a:r>
              <a:rPr lang="de-DE" sz="800" dirty="0">
                <a:hlinkClick r:id="rId7"/>
              </a:rPr>
              <a:t>https://doi.org/10.1007/BF02980577</a:t>
            </a:r>
            <a:endParaRPr lang="de-DE" sz="800" dirty="0"/>
          </a:p>
          <a:p>
            <a:pPr marL="228600" indent="-228600">
              <a:buAutoNum type="arabicPeriod"/>
            </a:pPr>
            <a:r>
              <a:rPr lang="en-GB" sz="800" dirty="0"/>
              <a:t>Onsager, L. Crystal Statistics. I. A Two-Dimensional Model with an Order-Disorder Transition. </a:t>
            </a:r>
            <a:r>
              <a:rPr lang="en-GB" sz="800" i="1" dirty="0"/>
              <a:t>Phys. Rev.</a:t>
            </a:r>
            <a:r>
              <a:rPr lang="en-GB" sz="800" dirty="0"/>
              <a:t> </a:t>
            </a:r>
            <a:r>
              <a:rPr lang="en-GB" sz="800" b="1" dirty="0"/>
              <a:t>65</a:t>
            </a:r>
            <a:r>
              <a:rPr lang="en-GB" sz="800" dirty="0"/>
              <a:t>, 117–149 (1944). </a:t>
            </a:r>
            <a:r>
              <a:rPr lang="en-GB" sz="800" dirty="0">
                <a:hlinkClick r:id="rId8"/>
              </a:rPr>
              <a:t>https://doi.org/10.1103/PhysRev.65.117</a:t>
            </a:r>
            <a:endParaRPr lang="en-GB" sz="800" dirty="0"/>
          </a:p>
          <a:p>
            <a:pPr marL="228600" indent="-228600">
              <a:buAutoNum type="arabicPeriod"/>
            </a:pPr>
            <a:r>
              <a:rPr lang="en-GB" sz="800" dirty="0"/>
              <a:t>Metropolis, N., Rosenbluth, A., Rosenbluth, M., Teller, A., and Teller, E. (1953). Equations of state calculations by fast computing machines. J. Chem. Phys., 21(6): 10871092.</a:t>
            </a:r>
          </a:p>
          <a:p>
            <a:pPr marL="228600" indent="-228600">
              <a:buAutoNum type="arabicPeriod"/>
            </a:pPr>
            <a:r>
              <a:rPr lang="en-GB" sz="800" dirty="0"/>
              <a:t>Sakthivadivel, Dalton A. R. "Magnetisation and mean field theory in the Ising model." </a:t>
            </a:r>
            <a:r>
              <a:rPr lang="en-GB" sz="800" dirty="0" err="1"/>
              <a:t>SciPost</a:t>
            </a:r>
            <a:r>
              <a:rPr lang="en-GB" sz="800" dirty="0"/>
              <a:t> Physics Lecture Notes, vol. 35, 2022. </a:t>
            </a:r>
            <a:r>
              <a:rPr lang="en-GB" sz="800" dirty="0" err="1"/>
              <a:t>arXiv</a:t>
            </a:r>
            <a:r>
              <a:rPr lang="en-GB" sz="800" dirty="0"/>
              <a:t>, 2102.00960.</a:t>
            </a:r>
          </a:p>
          <a:p>
            <a:pPr marL="228600" indent="-228600">
              <a:buAutoNum type="arabicPeriod"/>
            </a:pPr>
            <a:r>
              <a:rPr lang="en-GB" sz="800" dirty="0"/>
              <a:t>Alexanian, Moorad. "Ansatz for the Two-Dimensional Ising Model in an External Magnetic Field." Armenian Journal of Physics, vol. 17, no. 3, 2024, pp. 52–57. doi:10.54503/18291171-2024.17.3-52.</a:t>
            </a:r>
          </a:p>
          <a:p>
            <a:r>
              <a:rPr lang="en-GB" sz="800" dirty="0"/>
              <a:t>Generative AI in the form of ChatGPT was occasionally used to improve clarity of writing only. </a:t>
            </a:r>
          </a:p>
        </p:txBody>
      </p:sp>
      <p:sp>
        <p:nvSpPr>
          <p:cNvPr id="9" name="Rectangle 8">
            <a:extLst>
              <a:ext uri="{FF2B5EF4-FFF2-40B4-BE49-F238E27FC236}">
                <a16:creationId xmlns:a16="http://schemas.microsoft.com/office/drawing/2014/main" id="{5EC02F8A-3D3C-661F-998B-8BE4561CC176}"/>
              </a:ext>
            </a:extLst>
          </p:cNvPr>
          <p:cNvSpPr/>
          <p:nvPr/>
        </p:nvSpPr>
        <p:spPr>
          <a:xfrm>
            <a:off x="278636" y="1964483"/>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8A900A47-06D8-4667-9D8B-6244A246ECBD}"/>
              </a:ext>
            </a:extLst>
          </p:cNvPr>
          <p:cNvSpPr txBox="1"/>
          <p:nvPr/>
        </p:nvSpPr>
        <p:spPr>
          <a:xfrm>
            <a:off x="271563" y="2741819"/>
            <a:ext cx="7056132" cy="3139321"/>
          </a:xfrm>
          <a:prstGeom prst="rect">
            <a:avLst/>
          </a:prstGeom>
          <a:noFill/>
        </p:spPr>
        <p:txBody>
          <a:bodyPr wrap="square" rtlCol="0">
            <a:spAutoFit/>
          </a:bodyPr>
          <a:lstStyle/>
          <a:p>
            <a:pPr marL="285750" indent="-285750">
              <a:buFont typeface="Arial" panose="020B0604020202020204" pitchFamily="34" charset="0"/>
              <a:buChar char="•"/>
            </a:pPr>
            <a:r>
              <a:rPr lang="en-GB" b="1" dirty="0"/>
              <a:t>Magnetism</a:t>
            </a:r>
            <a:r>
              <a:rPr lang="en-GB" dirty="0"/>
              <a:t> has long been central to technology, from early compasses to modern data storage. </a:t>
            </a:r>
          </a:p>
          <a:p>
            <a:pPr marL="285750" indent="-285750">
              <a:buFont typeface="Arial" panose="020B0604020202020204" pitchFamily="34" charset="0"/>
              <a:buChar char="•"/>
            </a:pPr>
            <a:r>
              <a:rPr lang="en-GB" dirty="0"/>
              <a:t>Many models successfully described</a:t>
            </a:r>
            <a:r>
              <a:rPr lang="en-GB" b="1" dirty="0"/>
              <a:t> ferromagnetism</a:t>
            </a:r>
            <a:r>
              <a:rPr lang="en-GB" dirty="0"/>
              <a:t>, such as </a:t>
            </a:r>
            <a:r>
              <a:rPr lang="en-GB" b="1" dirty="0"/>
              <a:t>Mean Field Theory (MFT) </a:t>
            </a:r>
            <a:r>
              <a:rPr lang="en-GB" dirty="0"/>
              <a:t>and the </a:t>
            </a:r>
            <a:r>
              <a:rPr lang="en-GB" b="1" dirty="0"/>
              <a:t>Heisenberg model</a:t>
            </a:r>
            <a:r>
              <a:rPr lang="en-GB" dirty="0"/>
              <a:t>, but the </a:t>
            </a:r>
            <a:r>
              <a:rPr lang="en-GB" b="1" dirty="0"/>
              <a:t>Ising model</a:t>
            </a:r>
            <a:r>
              <a:rPr lang="en-GB" dirty="0"/>
              <a:t> stands out for its </a:t>
            </a:r>
            <a:r>
              <a:rPr lang="en-GB" b="1" dirty="0"/>
              <a:t>simplicity</a:t>
            </a:r>
            <a:r>
              <a:rPr lang="en-GB" dirty="0"/>
              <a:t> and </a:t>
            </a:r>
            <a:r>
              <a:rPr lang="en-GB" b="1" dirty="0"/>
              <a:t>analytical tractability</a:t>
            </a:r>
            <a:r>
              <a:rPr lang="en-GB" dirty="0"/>
              <a:t>.</a:t>
            </a:r>
          </a:p>
          <a:p>
            <a:pPr marL="285750" indent="-285750">
              <a:buFont typeface="Arial" panose="020B0604020202020204" pitchFamily="34" charset="0"/>
              <a:buChar char="•"/>
            </a:pPr>
            <a:r>
              <a:rPr lang="en-GB" dirty="0"/>
              <a:t> Despite being simple, it captures key phenomena, such as</a:t>
            </a:r>
            <a:r>
              <a:rPr lang="en-GB" b="1" dirty="0"/>
              <a:t> phase transitions and critical temperatures</a:t>
            </a:r>
            <a:r>
              <a:rPr lang="en-GB" dirty="0"/>
              <a:t>, and is widely used even outside of physics e.g. to model financial markets. </a:t>
            </a:r>
          </a:p>
          <a:p>
            <a:pPr marL="285750" indent="-285750">
              <a:buFont typeface="Arial" panose="020B0604020202020204" pitchFamily="34" charset="0"/>
              <a:buChar char="•"/>
            </a:pPr>
            <a:r>
              <a:rPr lang="en-GB" dirty="0"/>
              <a:t>In this project, the </a:t>
            </a:r>
            <a:r>
              <a:rPr lang="en-GB" b="1" dirty="0"/>
              <a:t>Ising model </a:t>
            </a:r>
            <a:r>
              <a:rPr lang="en-GB" dirty="0"/>
              <a:t>is used to calculate the </a:t>
            </a:r>
            <a:r>
              <a:rPr lang="en-GB" b="1" dirty="0"/>
              <a:t>average magnetisation </a:t>
            </a:r>
            <a:r>
              <a:rPr lang="en-GB" dirty="0"/>
              <a:t>(at steady state) of a lattice when placed in an </a:t>
            </a:r>
            <a:r>
              <a:rPr lang="en-GB" b="1" dirty="0"/>
              <a:t>external field </a:t>
            </a:r>
          </a:p>
        </p:txBody>
      </p:sp>
      <p:sp>
        <p:nvSpPr>
          <p:cNvPr id="24" name="TextBox 23">
            <a:extLst>
              <a:ext uri="{FF2B5EF4-FFF2-40B4-BE49-F238E27FC236}">
                <a16:creationId xmlns:a16="http://schemas.microsoft.com/office/drawing/2014/main" id="{37A560E6-A047-C669-1FC7-5D30F8768BF0}"/>
              </a:ext>
            </a:extLst>
          </p:cNvPr>
          <p:cNvSpPr txBox="1"/>
          <p:nvPr/>
        </p:nvSpPr>
        <p:spPr>
          <a:xfrm>
            <a:off x="11030388" y="2532933"/>
            <a:ext cx="3081884" cy="2369880"/>
          </a:xfrm>
          <a:prstGeom prst="rect">
            <a:avLst/>
          </a:prstGeom>
          <a:noFill/>
        </p:spPr>
        <p:txBody>
          <a:bodyPr wrap="square" rtlCol="0">
            <a:spAutoFit/>
          </a:bodyPr>
          <a:lstStyle/>
          <a:p>
            <a:r>
              <a:rPr lang="en-GB" sz="1600" dirty="0"/>
              <a:t>Fig. 1: </a:t>
            </a:r>
            <a:r>
              <a:rPr lang="en-GB" sz="1600" b="1" dirty="0"/>
              <a:t>Periodic lattice </a:t>
            </a:r>
            <a:r>
              <a:rPr lang="en-GB" sz="1600" dirty="0"/>
              <a:t>(i.e. edges wrap around) with randomly assigned spins. White = </a:t>
            </a:r>
            <a:r>
              <a:rPr lang="en-GB" sz="1600" b="1" dirty="0"/>
              <a:t>spin-up</a:t>
            </a:r>
            <a:r>
              <a:rPr lang="en-GB" sz="1600" dirty="0"/>
              <a:t>, Black = </a:t>
            </a:r>
            <a:r>
              <a:rPr lang="en-GB" sz="1600" b="1" dirty="0"/>
              <a:t>spin-down</a:t>
            </a:r>
            <a:r>
              <a:rPr lang="en-GB" sz="1600" dirty="0"/>
              <a:t> . </a:t>
            </a:r>
          </a:p>
          <a:p>
            <a:r>
              <a:rPr lang="en-GB" sz="1600" dirty="0"/>
              <a:t>The four </a:t>
            </a:r>
            <a:r>
              <a:rPr lang="en-GB" sz="1600" b="1" dirty="0"/>
              <a:t>nearest neighbours </a:t>
            </a:r>
            <a:r>
              <a:rPr lang="en-GB" sz="1600" dirty="0"/>
              <a:t>of the centre square are shown using red borders and numbers.</a:t>
            </a:r>
          </a:p>
          <a:p>
            <a:endParaRPr lang="en-GB" dirty="0"/>
          </a:p>
          <a:p>
            <a:endParaRPr lang="en-GB" dirty="0"/>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6D66EBFF-7C36-4760-9EC0-7C2BAEC45E7A}"/>
                  </a:ext>
                </a:extLst>
              </p:cNvPr>
              <p:cNvSpPr txBox="1"/>
              <p:nvPr/>
            </p:nvSpPr>
            <p:spPr>
              <a:xfrm>
                <a:off x="7788272" y="5792831"/>
                <a:ext cx="6594475" cy="3891515"/>
              </a:xfrm>
              <a:prstGeom prst="rect">
                <a:avLst/>
              </a:prstGeom>
              <a:noFill/>
            </p:spPr>
            <p:txBody>
              <a:bodyPr wrap="square">
                <a:spAutoFit/>
              </a:bodyPr>
              <a:lstStyle/>
              <a:p>
                <a:pPr marL="285750" indent="-285750">
                  <a:buFont typeface="Arial" panose="020B0604020202020204" pitchFamily="34" charset="0"/>
                  <a:buChar char="•"/>
                </a:pPr>
                <a:r>
                  <a:rPr lang="en-GB" sz="1800" dirty="0"/>
                  <a:t>Even using a small lattice, checking each possible </a:t>
                </a:r>
                <a:r>
                  <a:rPr lang="en-GB" sz="1800" b="1" dirty="0"/>
                  <a:t>state configuration</a:t>
                </a:r>
                <a:r>
                  <a:rPr lang="en-GB" sz="1800" dirty="0"/>
                  <a:t> would be impossible</a:t>
                </a:r>
                <a:r>
                  <a:rPr lang="en-GB" dirty="0"/>
                  <a: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sup>
                    </m:sSup>
                    <m:r>
                      <a:rPr lang="en-GB" b="0" i="1" smtClean="0">
                        <a:latin typeface="Cambria Math" panose="02040503050406030204" pitchFamily="18" charset="0"/>
                      </a:rPr>
                      <m:t> </m:t>
                    </m:r>
                  </m:oMath>
                </a14:m>
                <a:r>
                  <a:rPr lang="en-GB" sz="1800" dirty="0"/>
                  <a:t>configurations)</a:t>
                </a:r>
              </a:p>
              <a:p>
                <a:pPr marL="285750" indent="-285750">
                  <a:buFont typeface="Arial" panose="020B0604020202020204" pitchFamily="34" charset="0"/>
                  <a:buChar char="•"/>
                </a:pPr>
                <a:r>
                  <a:rPr lang="en-GB" sz="1800" dirty="0"/>
                  <a:t>To address this, we remove configurations that are extremely unlikely</a:t>
                </a:r>
                <a:r>
                  <a:rPr lang="en-GB" dirty="0"/>
                  <a:t> </a:t>
                </a:r>
                <a:r>
                  <a:rPr lang="en-GB" sz="1800" dirty="0"/>
                  <a:t>by considering the </a:t>
                </a:r>
                <a:r>
                  <a:rPr lang="en-GB" sz="1800" b="1" dirty="0"/>
                  <a:t>partition function</a:t>
                </a:r>
                <a:r>
                  <a:rPr lang="en-GB" sz="1800" dirty="0"/>
                  <a:t>, </a:t>
                </a:r>
                <a14:m>
                  <m:oMath xmlns:m="http://schemas.openxmlformats.org/officeDocument/2006/math">
                    <m:r>
                      <a:rPr lang="en-GB" sz="1800" b="0" i="1" smtClean="0">
                        <a:latin typeface="Cambria Math" panose="02040503050406030204" pitchFamily="18" charset="0"/>
                      </a:rPr>
                      <m:t>𝑍</m:t>
                    </m:r>
                  </m:oMath>
                </a14:m>
                <a:r>
                  <a:rPr lang="en-GB" sz="1800" dirty="0"/>
                  <a:t>. </a:t>
                </a:r>
              </a:p>
              <a:p>
                <a:pPr marL="285750" indent="-285750">
                  <a:buFont typeface="Arial" panose="020B0604020202020204" pitchFamily="34" charset="0"/>
                  <a:buChar char="•"/>
                </a:pPr>
                <a:r>
                  <a:rPr lang="en-GB" sz="1800" dirty="0"/>
                  <a:t>This helps us determine which  states are </a:t>
                </a:r>
                <a:r>
                  <a:rPr lang="en-GB" sz="1800" b="1" dirty="0"/>
                  <a:t>most probable </a:t>
                </a:r>
                <a:r>
                  <a:rPr lang="en-GB" sz="1800" dirty="0"/>
                  <a:t>at a given temperature, so we can restrict our consideration to these configurations only. </a:t>
                </a:r>
              </a:p>
              <a:p>
                <a:pPr marL="285750" indent="-285750">
                  <a:buFont typeface="Arial" panose="020B0604020202020204" pitchFamily="34" charset="0"/>
                  <a:buChar char="•"/>
                </a:pPr>
                <a:r>
                  <a:rPr lang="en-GB" sz="1800" dirty="0"/>
                  <a:t>We define the </a:t>
                </a:r>
                <a:r>
                  <a:rPr lang="en-GB" sz="1800" b="1" dirty="0"/>
                  <a:t>partition function </a:t>
                </a:r>
                <a:r>
                  <a:rPr lang="en-GB" sz="1800" dirty="0"/>
                  <a:t>as </a:t>
                </a:r>
              </a:p>
              <a:p>
                <a:pPr/>
                <a14:m>
                  <m:oMathPara xmlns:m="http://schemas.openxmlformats.org/officeDocument/2006/math">
                    <m:oMathParaPr>
                      <m:jc m:val="centerGroup"/>
                    </m:oMathParaPr>
                    <m:oMath xmlns:m="http://schemas.openxmlformats.org/officeDocument/2006/math">
                      <m:r>
                        <a:rPr lang="en-GB" sz="2000" b="0" i="1" smtClean="0">
                          <a:latin typeface="Cambria Math" panose="02040503050406030204" pitchFamily="18" charset="0"/>
                        </a:rPr>
                        <m:t>𝑍</m:t>
                      </m:r>
                      <m:r>
                        <a:rPr lang="en-GB" sz="2000" b="0" i="1" smtClean="0">
                          <a:latin typeface="Cambria Math" panose="02040503050406030204" pitchFamily="18" charset="0"/>
                        </a:rPr>
                        <m:t>= </m:t>
                      </m:r>
                      <m:nary>
                        <m:naryPr>
                          <m:chr m:val="∑"/>
                          <m:supHide m:val="on"/>
                          <m:ctrlPr>
                            <a:rPr lang="en-GB" sz="2000" b="0" i="1" smtClean="0">
                              <a:latin typeface="Cambria Math" panose="02040503050406030204" pitchFamily="18" charset="0"/>
                            </a:rPr>
                          </m:ctrlPr>
                        </m:naryPr>
                        <m:sub>
                          <m:r>
                            <m:rPr>
                              <m:brk m:alnAt="7"/>
                            </m:rPr>
                            <a:rPr lang="en-GB" sz="2000" b="0" i="1" smtClean="0">
                              <a:latin typeface="Cambria Math" panose="02040503050406030204" pitchFamily="18" charset="0"/>
                            </a:rPr>
                            <m:t>𝑖</m:t>
                          </m:r>
                        </m:sub>
                        <m:sup/>
                        <m:e>
                          <m:r>
                            <m:rPr>
                              <m:sty m:val="p"/>
                            </m:rPr>
                            <a:rPr lang="en-GB" sz="2000" b="0" i="0" smtClean="0">
                              <a:latin typeface="Cambria Math" panose="02040503050406030204" pitchFamily="18" charset="0"/>
                            </a:rPr>
                            <m:t>exp</m:t>
                          </m:r>
                          <m:r>
                            <a:rPr lang="en-GB" sz="2000" b="0" i="1" smtClean="0">
                              <a:latin typeface="Cambria Math" panose="02040503050406030204" pitchFamily="18" charset="0"/>
                            </a:rPr>
                            <m:t>⁡</m:t>
                          </m:r>
                          <m:f>
                            <m:fPr>
                              <m:type m:val="skw"/>
                              <m:ctrlPr>
                                <a:rPr lang="en-GB" sz="2000" b="0" i="1" smtClean="0">
                                  <a:latin typeface="Cambria Math" panose="02040503050406030204" pitchFamily="18" charset="0"/>
                                </a:rPr>
                              </m:ctrlPr>
                            </m:fPr>
                            <m:num>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𝐸</m:t>
                                  </m:r>
                                </m:e>
                                <m:sub>
                                  <m:r>
                                    <a:rPr lang="en-GB" sz="2000" b="0" i="1" smtClean="0">
                                      <a:latin typeface="Cambria Math" panose="02040503050406030204" pitchFamily="18" charset="0"/>
                                    </a:rPr>
                                    <m:t>𝑖</m:t>
                                  </m:r>
                                </m:sub>
                              </m:sSub>
                            </m:num>
                            <m:den>
                              <m:r>
                                <a:rPr lang="en-GB" sz="2000" b="0" i="1" smtClean="0">
                                  <a:latin typeface="Cambria Math" panose="02040503050406030204" pitchFamily="18" charset="0"/>
                                </a:rPr>
                                <m:t>𝑘𝑇</m:t>
                              </m:r>
                            </m:den>
                          </m:f>
                        </m:e>
                      </m:nary>
                      <m:r>
                        <a:rPr lang="en-GB" sz="2000" b="0" i="0" smtClean="0">
                          <a:latin typeface="Cambria Math" panose="02040503050406030204" pitchFamily="18" charset="0"/>
                        </a:rPr>
                        <m:t>,</m:t>
                      </m:r>
                    </m:oMath>
                  </m:oMathPara>
                </a14:m>
                <a:endParaRPr lang="en-GB" sz="1800" dirty="0"/>
              </a:p>
              <a:p>
                <a:pPr marL="285750" indent="-285750">
                  <a:buFont typeface="Arial" panose="020B0604020202020204" pitchFamily="34" charset="0"/>
                  <a:buChar char="•"/>
                </a:pPr>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 For simplicity we have set </a:t>
                </a:r>
                <a14:m>
                  <m:oMath xmlns:m="http://schemas.openxmlformats.org/officeDocument/2006/math">
                    <m:r>
                      <a:rPr lang="en-GB" sz="1800" i="1" dirty="0" smtClean="0">
                        <a:latin typeface="Cambria Math" panose="02040503050406030204" pitchFamily="18" charset="0"/>
                        <a:ea typeface="Cambria Math" panose="02040503050406030204" pitchFamily="18" charset="0"/>
                      </a:rPr>
                      <m:t>𝑘𝑇</m:t>
                    </m:r>
                    <m:r>
                      <a:rPr lang="en-GB" sz="1800" i="1" dirty="0" smtClean="0">
                        <a:latin typeface="Cambria Math" panose="02040503050406030204" pitchFamily="18" charset="0"/>
                        <a:ea typeface="Cambria Math" panose="02040503050406030204" pitchFamily="18" charset="0"/>
                      </a:rPr>
                      <m:t> = 1</m:t>
                    </m:r>
                  </m:oMath>
                </a14:m>
                <a:r>
                  <a:rPr lang="en-GB" sz="1800" dirty="0">
                    <a:ea typeface="Cambria Math" panose="02040503050406030204" pitchFamily="18" charset="0"/>
                  </a:rPr>
                  <a:t> for this simulation.</a:t>
                </a:r>
              </a:p>
            </p:txBody>
          </p:sp>
        </mc:Choice>
        <mc:Fallback>
          <p:sp>
            <p:nvSpPr>
              <p:cNvPr id="38" name="TextBox 37">
                <a:extLst>
                  <a:ext uri="{FF2B5EF4-FFF2-40B4-BE49-F238E27FC236}">
                    <a16:creationId xmlns:a16="http://schemas.microsoft.com/office/drawing/2014/main" id="{6D66EBFF-7C36-4760-9EC0-7C2BAEC45E7A}"/>
                  </a:ext>
                </a:extLst>
              </p:cNvPr>
              <p:cNvSpPr txBox="1">
                <a:spLocks noRot="1" noChangeAspect="1" noMove="1" noResize="1" noEditPoints="1" noAdjustHandles="1" noChangeArrowheads="1" noChangeShapeType="1" noTextEdit="1"/>
              </p:cNvSpPr>
              <p:nvPr/>
            </p:nvSpPr>
            <p:spPr>
              <a:xfrm>
                <a:off x="7788272" y="5792831"/>
                <a:ext cx="6594475" cy="3891515"/>
              </a:xfrm>
              <a:prstGeom prst="rect">
                <a:avLst/>
              </a:prstGeom>
              <a:blipFill>
                <a:blip r:embed="rId9"/>
                <a:stretch>
                  <a:fillRect l="-648" t="-626" b="-156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1C85D0F-BFB0-15C9-72EF-CE5FE8A7AD1A}"/>
                  </a:ext>
                </a:extLst>
              </p:cNvPr>
              <p:cNvSpPr txBox="1"/>
              <p:nvPr/>
            </p:nvSpPr>
            <p:spPr>
              <a:xfrm>
                <a:off x="7678029" y="10317907"/>
                <a:ext cx="6704718" cy="4801443"/>
              </a:xfrm>
              <a:prstGeom prst="rect">
                <a:avLst/>
              </a:prstGeom>
              <a:noFill/>
            </p:spPr>
            <p:txBody>
              <a:bodyPr wrap="square">
                <a:spAutoFit/>
              </a:bodyPr>
              <a:lstStyle/>
              <a:p>
                <a:pPr marL="285750" indent="-285750">
                  <a:buFont typeface="Arial" panose="020B0604020202020204" pitchFamily="34" charset="0"/>
                  <a:buChar char="•"/>
                </a:pPr>
                <a:r>
                  <a:rPr lang="en-GB" dirty="0"/>
                  <a:t>To update the lattice, we flip a chosen spin and calculate the resulting </a:t>
                </a:r>
                <a:r>
                  <a:rPr lang="en-GB" b="1" dirty="0"/>
                  <a:t>energy change</a:t>
                </a:r>
                <a:r>
                  <a:rPr lang="en-GB" dirty="0"/>
                  <a:t>, </a:t>
                </a:r>
                <a14:m>
                  <m:oMath xmlns:m="http://schemas.openxmlformats.org/officeDocument/2006/math">
                    <m:r>
                      <m:rPr>
                        <m:sty m:val="p"/>
                      </m:rPr>
                      <a:rPr lang="en-GB">
                        <a:latin typeface="Cambria Math" panose="02040503050406030204" pitchFamily="18" charset="0"/>
                        <a:cs typeface="Times New Roman" panose="02020603050405020304" pitchFamily="18" charset="0"/>
                      </a:rPr>
                      <m:t>Δ</m:t>
                    </m:r>
                    <m:r>
                      <a:rPr lang="en-GB" i="1">
                        <a:latin typeface="Cambria Math" panose="02040503050406030204" pitchFamily="18" charset="0"/>
                        <a:cs typeface="Times New Roman" panose="02020603050405020304" pitchFamily="18" charset="0"/>
                      </a:rPr>
                      <m:t>𝐸</m:t>
                    </m:r>
                    <m:r>
                      <a:rPr lang="en-GB" i="1">
                        <a:latin typeface="Cambria Math" panose="02040503050406030204" pitchFamily="18" charset="0"/>
                        <a:cs typeface="Times New Roman" panose="02020603050405020304" pitchFamily="18" charset="0"/>
                      </a:rPr>
                      <m:t>=−2</m:t>
                    </m:r>
                    <m:d>
                      <m:dPr>
                        <m:begChr m:val="["/>
                        <m:endChr m:val="]"/>
                        <m:ctrlPr>
                          <a:rPr lang="en-GB" i="1">
                            <a:latin typeface="Cambria Math" panose="02040503050406030204" pitchFamily="18" charset="0"/>
                            <a:cs typeface="Times New Roman" panose="02020603050405020304" pitchFamily="18" charset="0"/>
                          </a:rPr>
                        </m:ctrlPr>
                      </m:dPr>
                      <m:e>
                        <m:r>
                          <a:rPr lang="en-GB" i="1">
                            <a:latin typeface="Cambria Math" panose="02040503050406030204" pitchFamily="18" charset="0"/>
                            <a:cs typeface="Times New Roman" panose="02020603050405020304" pitchFamily="18" charset="0"/>
                          </a:rPr>
                          <m:t>𝐽𝑓</m:t>
                        </m:r>
                        <m:r>
                          <a:rPr lang="en-GB" i="1">
                            <a:latin typeface="Cambria Math" panose="02040503050406030204" pitchFamily="18" charset="0"/>
                            <a:cs typeface="Times New Roman" panose="02020603050405020304" pitchFamily="18" charset="0"/>
                          </a:rPr>
                          <m:t>+</m:t>
                        </m:r>
                        <m:r>
                          <a:rPr lang="en-GB" i="1">
                            <a:latin typeface="Cambria Math" panose="02040503050406030204" pitchFamily="18" charset="0"/>
                            <a:cs typeface="Times New Roman" panose="02020603050405020304" pitchFamily="18" charset="0"/>
                          </a:rPr>
                          <m:t>𝐵</m:t>
                        </m:r>
                      </m:e>
                    </m:d>
                    <m:sSub>
                      <m:sSubPr>
                        <m:ctrlPr>
                          <a:rPr lang="en-GB" i="1">
                            <a:latin typeface="Cambria Math" panose="02040503050406030204" pitchFamily="18" charset="0"/>
                            <a:cs typeface="Times New Roman" panose="02020603050405020304" pitchFamily="18" charset="0"/>
                          </a:rPr>
                        </m:ctrlPr>
                      </m:sSubPr>
                      <m:e>
                        <m:r>
                          <a:rPr lang="en-GB" i="1">
                            <a:latin typeface="Cambria Math" panose="02040503050406030204" pitchFamily="18" charset="0"/>
                            <a:cs typeface="Times New Roman" panose="02020603050405020304" pitchFamily="18" charset="0"/>
                          </a:rPr>
                          <m:t>𝑆</m:t>
                        </m:r>
                      </m:e>
                      <m:sub>
                        <m:r>
                          <m:rPr>
                            <m:sty m:val="p"/>
                          </m:rPr>
                          <a:rPr lang="en-GB" i="1">
                            <a:latin typeface="Cambria Math" panose="02040503050406030204" pitchFamily="18" charset="0"/>
                            <a:cs typeface="Times New Roman" panose="02020603050405020304" pitchFamily="18" charset="0"/>
                          </a:rPr>
                          <m:t>α</m:t>
                        </m:r>
                      </m:sub>
                    </m:sSub>
                    <m:r>
                      <a:rPr lang="en-GB" b="0" i="0" smtClean="0">
                        <a:latin typeface="Cambria Math" panose="02040503050406030204" pitchFamily="18" charset="0"/>
                        <a:cs typeface="Times New Roman" panose="02020603050405020304" pitchFamily="18" charset="0"/>
                      </a:rPr>
                      <m:t>.</m:t>
                    </m:r>
                  </m:oMath>
                </a14:m>
                <a:r>
                  <a:rPr lang="en-GB" dirty="0"/>
                  <a:t> We use this to gauge how likely this flip is to occur.</a:t>
                </a:r>
              </a:p>
              <a:p>
                <a:pPr marL="742950" lvl="1" indent="-285750">
                  <a:buFont typeface="Arial" panose="020B0604020202020204" pitchFamily="34" charset="0"/>
                  <a:buChar char="•"/>
                </a:pPr>
                <a:r>
                  <a:rPr lang="en-GB" dirty="0"/>
                  <a:t>f is the sum of the </a:t>
                </a:r>
                <a:r>
                  <a:rPr lang="en-GB" b="1" dirty="0"/>
                  <a:t>four neighbouring spins</a:t>
                </a:r>
                <a:r>
                  <a:rPr lang="en-GB" dirty="0"/>
                  <a:t>.</a:t>
                </a:r>
              </a:p>
              <a:p>
                <a:pPr marL="742950" lvl="1" indent="-285750">
                  <a:buFont typeface="Arial" panose="020B0604020202020204" pitchFamily="34" charset="0"/>
                  <a:buChar char="•"/>
                </a:pPr>
                <a:r>
                  <a:rPr lang="en-GB" dirty="0"/>
                  <a:t> The negative sign ensures that aligned spins correspond to lower energy.</a:t>
                </a:r>
              </a:p>
              <a:p>
                <a:pPr marL="285750" indent="-285750">
                  <a:buFont typeface="Arial" panose="020B0604020202020204" pitchFamily="34" charset="0"/>
                  <a:buChar char="•"/>
                </a:pPr>
                <a:r>
                  <a:rPr lang="en-GB" dirty="0"/>
                  <a:t>We then decide whether to keep the flip using the </a:t>
                </a:r>
                <a:r>
                  <a:rPr lang="en-GB" b="1" dirty="0"/>
                  <a:t>Metropolis criterion</a:t>
                </a:r>
                <a:r>
                  <a:rPr lang="en-GB" dirty="0"/>
                  <a:t>:</a:t>
                </a:r>
              </a:p>
              <a:p>
                <a:pPr marL="742950" lvl="1" indent="-285750">
                  <a:buFont typeface="Wingdings" panose="05000000000000000000" pitchFamily="2" charset="2"/>
                  <a:buChar char="v"/>
                </a:pPr>
                <a:r>
                  <a:rPr lang="en-GB" dirty="0">
                    <a:cs typeface="Times New Roman" panose="02020603050405020304" pitchFamily="18" charset="0"/>
                  </a:rPr>
                  <a:t>If </a:t>
                </a:r>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exp</m:t>
                        </m:r>
                      </m:fName>
                      <m:e>
                        <m:d>
                          <m:dPr>
                            <m:ctrlPr>
                              <a:rPr lang="en-GB" i="1">
                                <a:latin typeface="Cambria Math" panose="02040503050406030204" pitchFamily="18" charset="0"/>
                              </a:rPr>
                            </m:ctrlPr>
                          </m:dPr>
                          <m:e>
                            <m:f>
                              <m:fPr>
                                <m:type m:val="skw"/>
                                <m:ctrlPr>
                                  <a:rPr lang="en-GB" i="1">
                                    <a:latin typeface="Cambria Math" panose="02040503050406030204" pitchFamily="18" charset="0"/>
                                  </a:rPr>
                                </m:ctrlPr>
                              </m:fPr>
                              <m:num>
                                <m:r>
                                  <m:rPr>
                                    <m:sty m:val="p"/>
                                  </m:rPr>
                                  <a:rPr lang="en-GB">
                                    <a:latin typeface="Cambria Math" panose="02040503050406030204" pitchFamily="18" charset="0"/>
                                  </a:rPr>
                                  <m:t>Δ</m:t>
                                </m:r>
                                <m:r>
                                  <a:rPr lang="en-GB" i="1">
                                    <a:latin typeface="Cambria Math" panose="02040503050406030204" pitchFamily="18" charset="0"/>
                                  </a:rPr>
                                  <m:t>𝐸</m:t>
                                </m:r>
                              </m:num>
                              <m:den>
                                <m:r>
                                  <a:rPr lang="en-GB" i="1">
                                    <a:latin typeface="Cambria Math" panose="02040503050406030204" pitchFamily="18" charset="0"/>
                                  </a:rPr>
                                  <m:t>𝑘𝑇</m:t>
                                </m:r>
                              </m:den>
                            </m:f>
                          </m:e>
                        </m:d>
                      </m:e>
                    </m:func>
                    <m:r>
                      <a:rPr lang="en-GB" i="1">
                        <a:latin typeface="Cambria Math" panose="02040503050406030204" pitchFamily="18" charset="0"/>
                      </a:rPr>
                      <m:t>&gt;1  </m:t>
                    </m:r>
                  </m:oMath>
                </a14:m>
                <a:r>
                  <a:rPr lang="en-GB" dirty="0">
                    <a:cs typeface="Times New Roman" panose="02020603050405020304" pitchFamily="18" charset="0"/>
                  </a:rPr>
                  <a:t>keep the flipped spin</a:t>
                </a:r>
              </a:p>
              <a:p>
                <a:pPr marL="742950" lvl="1" indent="-285750">
                  <a:buFont typeface="Wingdings" panose="05000000000000000000" pitchFamily="2" charset="2"/>
                  <a:buChar char="v"/>
                </a:pPr>
                <a:r>
                  <a:rPr lang="en-GB" dirty="0"/>
                  <a:t>Otherwise, generate a random number, </a:t>
                </a:r>
                <a14:m>
                  <m:oMath xmlns:m="http://schemas.openxmlformats.org/officeDocument/2006/math">
                    <m:r>
                      <a:rPr lang="en-GB" i="1" dirty="0">
                        <a:latin typeface="Cambria Math" panose="02040503050406030204" pitchFamily="18" charset="0"/>
                      </a:rPr>
                      <m:t>𝑛</m:t>
                    </m:r>
                    <m:r>
                      <a:rPr lang="en-GB" i="1" dirty="0">
                        <a:latin typeface="Cambria Math" panose="02040503050406030204" pitchFamily="18" charset="0"/>
                      </a:rPr>
                      <m:t> ∈ [0,1]</m:t>
                    </m:r>
                  </m:oMath>
                </a14:m>
                <a:r>
                  <a:rPr lang="en-GB" dirty="0">
                    <a:cs typeface="Times New Roman" panose="02020603050405020304" pitchFamily="18" charset="0"/>
                  </a:rPr>
                  <a:t>. </a:t>
                </a:r>
                <a:r>
                  <a:rPr lang="en-GB" dirty="0"/>
                  <a:t>If </a:t>
                </a:r>
                <a:endParaRPr lang="en-GB" i="1" dirty="0">
                  <a:latin typeface="Cambria Math" panose="02040503050406030204" pitchFamily="18" charset="0"/>
                </a:endParaRPr>
              </a:p>
              <a:p>
                <a:pPr lvl="1"/>
                <a14:m>
                  <m:oMath xmlns:m="http://schemas.openxmlformats.org/officeDocument/2006/math">
                    <m:r>
                      <a:rPr lang="en-GB" i="1" dirty="0">
                        <a:latin typeface="Cambria Math" panose="02040503050406030204" pitchFamily="18" charset="0"/>
                      </a:rPr>
                      <m:t>      </m:t>
                    </m:r>
                    <m:r>
                      <m:rPr>
                        <m:sty m:val="p"/>
                      </m:rPr>
                      <a:rPr lang="en-GB" i="1" dirty="0">
                        <a:latin typeface="Cambria Math" panose="02040503050406030204" pitchFamily="18" charset="0"/>
                      </a:rPr>
                      <m:t>exp</m:t>
                    </m:r>
                    <m:r>
                      <a:rPr lang="en-GB" i="1" dirty="0">
                        <a:latin typeface="Cambria Math" panose="02040503050406030204" pitchFamily="18" charset="0"/>
                      </a:rPr>
                      <m:t>⁡(−</m:t>
                    </m:r>
                    <m:r>
                      <m:rPr>
                        <m:sty m:val="p"/>
                      </m:rPr>
                      <a:rPr lang="en-GB" dirty="0">
                        <a:latin typeface="Cambria Math" panose="02040503050406030204" pitchFamily="18" charset="0"/>
                      </a:rPr>
                      <m:t>Δ</m:t>
                    </m:r>
                    <m:r>
                      <a:rPr lang="en-GB" i="1" dirty="0">
                        <a:latin typeface="Cambria Math" panose="02040503050406030204" pitchFamily="18" charset="0"/>
                      </a:rPr>
                      <m:t>𝐸</m:t>
                    </m:r>
                    <m:r>
                      <a:rPr lang="en-GB" i="1" dirty="0">
                        <a:latin typeface="Cambria Math" panose="02040503050406030204" pitchFamily="18" charset="0"/>
                      </a:rPr>
                      <m:t>/</m:t>
                    </m:r>
                    <m:r>
                      <a:rPr lang="en-GB" i="1" dirty="0">
                        <a:latin typeface="Cambria Math" panose="02040503050406030204" pitchFamily="18" charset="0"/>
                      </a:rPr>
                      <m:t>𝑘𝑇</m:t>
                    </m:r>
                    <m:r>
                      <a:rPr lang="en-GB" i="1" dirty="0">
                        <a:latin typeface="Cambria Math" panose="02040503050406030204" pitchFamily="18" charset="0"/>
                      </a:rPr>
                      <m:t>)&gt;</m:t>
                    </m:r>
                    <m:r>
                      <a:rPr lang="en-GB" i="1" dirty="0">
                        <a:latin typeface="Cambria Math" panose="02040503050406030204" pitchFamily="18" charset="0"/>
                      </a:rPr>
                      <m:t>𝑛</m:t>
                    </m:r>
                  </m:oMath>
                </a14:m>
                <a:r>
                  <a:rPr lang="en-GB" dirty="0"/>
                  <a:t>, keep the flip.</a:t>
                </a:r>
              </a:p>
              <a:p>
                <a:pPr marL="742950" lvl="1" indent="-285750">
                  <a:buFont typeface="Wingdings" panose="05000000000000000000" pitchFamily="2" charset="2"/>
                  <a:buChar char="v"/>
                </a:pPr>
                <a:r>
                  <a:rPr lang="en-GB" dirty="0"/>
                  <a:t>If neither condition is met, revert the flip back.</a:t>
                </a:r>
              </a:p>
              <a:p>
                <a:endParaRPr lang="en-GB" dirty="0"/>
              </a:p>
              <a:p>
                <a:pPr marL="285750" indent="-285750">
                  <a:buFont typeface="Arial" panose="020B0604020202020204" pitchFamily="34" charset="0"/>
                  <a:buChar char="•"/>
                </a:pPr>
                <a:r>
                  <a:rPr lang="en-GB" dirty="0"/>
                  <a:t>This procedure is repeated for every lattice point (a </a:t>
                </a:r>
                <a:r>
                  <a:rPr lang="en-GB" b="1" dirty="0"/>
                  <a:t>full sweep</a:t>
                </a:r>
                <a:r>
                  <a:rPr lang="en-GB" dirty="0"/>
                  <a:t>), using </a:t>
                </a:r>
                <a:r>
                  <a:rPr lang="en-GB" b="1" dirty="0"/>
                  <a:t>periodic boundary conditions</a:t>
                </a:r>
                <a:r>
                  <a:rPr lang="en-GB" dirty="0"/>
                  <a:t>. Together, these steps form the </a:t>
                </a:r>
                <a:r>
                  <a:rPr lang="en-GB" b="1" dirty="0"/>
                  <a:t>Metropolis algorithm </a:t>
                </a:r>
                <a:r>
                  <a:rPr lang="en-GB" dirty="0"/>
                  <a:t>[3].</a:t>
                </a:r>
              </a:p>
              <a:p>
                <a:endParaRPr lang="en-GB" sz="1800" dirty="0">
                  <a:cs typeface="Times New Roman" panose="02020603050405020304" pitchFamily="18" charset="0"/>
                </a:endParaRPr>
              </a:p>
            </p:txBody>
          </p:sp>
        </mc:Choice>
        <mc:Fallback>
          <p:sp>
            <p:nvSpPr>
              <p:cNvPr id="40" name="TextBox 39">
                <a:extLst>
                  <a:ext uri="{FF2B5EF4-FFF2-40B4-BE49-F238E27FC236}">
                    <a16:creationId xmlns:a16="http://schemas.microsoft.com/office/drawing/2014/main" id="{E1C85D0F-BFB0-15C9-72EF-CE5FE8A7AD1A}"/>
                  </a:ext>
                </a:extLst>
              </p:cNvPr>
              <p:cNvSpPr txBox="1">
                <a:spLocks noRot="1" noChangeAspect="1" noMove="1" noResize="1" noEditPoints="1" noAdjustHandles="1" noChangeArrowheads="1" noChangeShapeType="1" noTextEdit="1"/>
              </p:cNvSpPr>
              <p:nvPr/>
            </p:nvSpPr>
            <p:spPr>
              <a:xfrm>
                <a:off x="7678029" y="10317907"/>
                <a:ext cx="6704718" cy="4801443"/>
              </a:xfrm>
              <a:prstGeom prst="rect">
                <a:avLst/>
              </a:prstGeom>
              <a:blipFill>
                <a:blip r:embed="rId10"/>
                <a:stretch>
                  <a:fillRect l="-637" t="-635" r="-127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E9E762E1-1DFC-027E-FBFD-7449D2C6B3FD}"/>
                  </a:ext>
                </a:extLst>
              </p:cNvPr>
              <p:cNvGraphicFramePr>
                <a:graphicFrameLocks noGrp="1"/>
              </p:cNvGraphicFramePr>
              <p:nvPr/>
            </p:nvGraphicFramePr>
            <p:xfrm>
              <a:off x="16884088" y="5080779"/>
              <a:ext cx="4281410" cy="1656410"/>
            </p:xfrm>
            <a:graphic>
              <a:graphicData uri="http://schemas.openxmlformats.org/drawingml/2006/table">
                <a:tbl>
                  <a:tblPr firstRow="1" bandRow="1">
                    <a:tableStyleId>{5C22544A-7EE6-4342-B048-85BDC9FD1C3A}</a:tableStyleId>
                  </a:tblPr>
                  <a:tblGrid>
                    <a:gridCol w="2140705">
                      <a:extLst>
                        <a:ext uri="{9D8B030D-6E8A-4147-A177-3AD203B41FA5}">
                          <a16:colId xmlns:a16="http://schemas.microsoft.com/office/drawing/2014/main" val="2898089824"/>
                        </a:ext>
                      </a:extLst>
                    </a:gridCol>
                    <a:gridCol w="2140705">
                      <a:extLst>
                        <a:ext uri="{9D8B030D-6E8A-4147-A177-3AD203B41FA5}">
                          <a16:colId xmlns:a16="http://schemas.microsoft.com/office/drawing/2014/main" val="1112678819"/>
                        </a:ext>
                      </a:extLst>
                    </a:gridCol>
                  </a:tblGrid>
                  <a:tr h="406730">
                    <a:tc>
                      <a:txBody>
                        <a:bodyPr/>
                        <a:lstStyle/>
                        <a:p>
                          <a:r>
                            <a:rPr lang="en-GB" sz="1600" dirty="0"/>
                            <a:t>Model</a:t>
                          </a:r>
                        </a:p>
                      </a:txBody>
                      <a:tcPr/>
                    </a:tc>
                    <a:tc>
                      <a:txBody>
                        <a:bodyPr/>
                        <a:lstStyle/>
                        <a:p>
                          <a:pPr/>
                          <a14:m>
                            <m:oMathPara xmlns:m="http://schemas.openxmlformats.org/officeDocument/2006/math">
                              <m:oMathParaPr>
                                <m:jc m:val="centerGroup"/>
                              </m:oMathParaPr>
                              <m:oMath xmlns:m="http://schemas.openxmlformats.org/officeDocument/2006/math">
                                <m:r>
                                  <a:rPr lang="en-GB" sz="1600" b="1" i="1" smtClean="0">
                                    <a:latin typeface="Cambria Math" panose="02040503050406030204" pitchFamily="18" charset="0"/>
                                  </a:rPr>
                                  <m:t>&lt;</m:t>
                                </m:r>
                                <m:r>
                                  <a:rPr lang="en-GB" sz="1600" b="1" i="1" smtClean="0">
                                    <a:latin typeface="Cambria Math" panose="02040503050406030204" pitchFamily="18" charset="0"/>
                                  </a:rPr>
                                  <m:t>𝒎</m:t>
                                </m:r>
                                <m:r>
                                  <a:rPr lang="en-GB" sz="1600" b="1" i="1" smtClean="0">
                                    <a:latin typeface="Cambria Math" panose="02040503050406030204" pitchFamily="18" charset="0"/>
                                  </a:rPr>
                                  <m:t>&gt;</m:t>
                                </m:r>
                              </m:oMath>
                            </m:oMathPara>
                          </a14:m>
                          <a:endParaRPr lang="en-GB" sz="1600" dirty="0"/>
                        </a:p>
                      </a:txBody>
                      <a:tcPr/>
                    </a:tc>
                    <a:extLst>
                      <a:ext uri="{0D108BD9-81ED-4DB2-BD59-A6C34878D82A}">
                        <a16:rowId xmlns:a16="http://schemas.microsoft.com/office/drawing/2014/main" val="3228848662"/>
                      </a:ext>
                    </a:extLst>
                  </a:tr>
                  <a:tr h="531470">
                    <a:tc>
                      <a:txBody>
                        <a:bodyPr/>
                        <a:lstStyle/>
                        <a:p>
                          <a:r>
                            <a:rPr lang="en-GB" sz="1600" dirty="0"/>
                            <a:t>Ising model (simulation)</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−0.936±0.003</m:t>
                                </m:r>
                              </m:oMath>
                            </m:oMathPara>
                          </a14:m>
                          <a:endParaRPr lang="en-GB" sz="1600" dirty="0"/>
                        </a:p>
                      </a:txBody>
                      <a:tcPr/>
                    </a:tc>
                    <a:extLst>
                      <a:ext uri="{0D108BD9-81ED-4DB2-BD59-A6C34878D82A}">
                        <a16:rowId xmlns:a16="http://schemas.microsoft.com/office/drawing/2014/main" val="2020091684"/>
                      </a:ext>
                    </a:extLst>
                  </a:tr>
                  <a:tr h="307693">
                    <a:tc>
                      <a:txBody>
                        <a:bodyPr/>
                        <a:lstStyle/>
                        <a:p>
                          <a:r>
                            <a:rPr lang="en-GB" sz="1600" dirty="0"/>
                            <a:t>Mean Field Theory</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~−0.96</m:t>
                                </m:r>
                              </m:oMath>
                            </m:oMathPara>
                          </a14:m>
                          <a:endParaRPr lang="en-GB" sz="1600" dirty="0"/>
                        </a:p>
                      </a:txBody>
                      <a:tcPr/>
                    </a:tc>
                    <a:extLst>
                      <a:ext uri="{0D108BD9-81ED-4DB2-BD59-A6C34878D82A}">
                        <a16:rowId xmlns:a16="http://schemas.microsoft.com/office/drawing/2014/main" val="4284135551"/>
                      </a:ext>
                    </a:extLst>
                  </a:tr>
                  <a:tr h="307693">
                    <a:tc>
                      <a:txBody>
                        <a:bodyPr/>
                        <a:lstStyle/>
                        <a:p>
                          <a:r>
                            <a:rPr lang="en-GB" sz="1600" dirty="0"/>
                            <a:t>Ising model (Ansatz)</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 −0.92</m:t>
                                </m:r>
                              </m:oMath>
                            </m:oMathPara>
                          </a14:m>
                          <a:endParaRPr lang="en-GB" sz="1600" dirty="0"/>
                        </a:p>
                      </a:txBody>
                      <a:tcPr/>
                    </a:tc>
                    <a:extLst>
                      <a:ext uri="{0D108BD9-81ED-4DB2-BD59-A6C34878D82A}">
                        <a16:rowId xmlns:a16="http://schemas.microsoft.com/office/drawing/2014/main" val="2464869283"/>
                      </a:ext>
                    </a:extLst>
                  </a:tr>
                </a:tbl>
              </a:graphicData>
            </a:graphic>
          </p:graphicFrame>
        </mc:Choice>
        <mc:Fallback>
          <p:graphicFrame>
            <p:nvGraphicFramePr>
              <p:cNvPr id="2" name="Table 1">
                <a:extLst>
                  <a:ext uri="{FF2B5EF4-FFF2-40B4-BE49-F238E27FC236}">
                    <a16:creationId xmlns:a16="http://schemas.microsoft.com/office/drawing/2014/main" id="{E9E762E1-1DFC-027E-FBFD-7449D2C6B3FD}"/>
                  </a:ext>
                </a:extLst>
              </p:cNvPr>
              <p:cNvGraphicFramePr>
                <a:graphicFrameLocks noGrp="1"/>
              </p:cNvGraphicFramePr>
              <p:nvPr/>
            </p:nvGraphicFramePr>
            <p:xfrm>
              <a:off x="16884088" y="5080779"/>
              <a:ext cx="4281410" cy="1656410"/>
            </p:xfrm>
            <a:graphic>
              <a:graphicData uri="http://schemas.openxmlformats.org/drawingml/2006/table">
                <a:tbl>
                  <a:tblPr firstRow="1" bandRow="1">
                    <a:tableStyleId>{5C22544A-7EE6-4342-B048-85BDC9FD1C3A}</a:tableStyleId>
                  </a:tblPr>
                  <a:tblGrid>
                    <a:gridCol w="2140705">
                      <a:extLst>
                        <a:ext uri="{9D8B030D-6E8A-4147-A177-3AD203B41FA5}">
                          <a16:colId xmlns:a16="http://schemas.microsoft.com/office/drawing/2014/main" val="2898089824"/>
                        </a:ext>
                      </a:extLst>
                    </a:gridCol>
                    <a:gridCol w="2140705">
                      <a:extLst>
                        <a:ext uri="{9D8B030D-6E8A-4147-A177-3AD203B41FA5}">
                          <a16:colId xmlns:a16="http://schemas.microsoft.com/office/drawing/2014/main" val="1112678819"/>
                        </a:ext>
                      </a:extLst>
                    </a:gridCol>
                  </a:tblGrid>
                  <a:tr h="406730">
                    <a:tc>
                      <a:txBody>
                        <a:bodyPr/>
                        <a:lstStyle/>
                        <a:p>
                          <a:r>
                            <a:rPr lang="en-GB" sz="1600" dirty="0"/>
                            <a:t>Model</a:t>
                          </a:r>
                        </a:p>
                      </a:txBody>
                      <a:tcPr/>
                    </a:tc>
                    <a:tc>
                      <a:txBody>
                        <a:bodyPr/>
                        <a:lstStyle/>
                        <a:p>
                          <a:endParaRPr lang="en-US"/>
                        </a:p>
                      </a:txBody>
                      <a:tcPr>
                        <a:blipFill>
                          <a:blip r:embed="rId11"/>
                          <a:stretch>
                            <a:fillRect l="-100284" t="-4478" r="-1136" b="-325373"/>
                          </a:stretch>
                        </a:blipFill>
                      </a:tcPr>
                    </a:tc>
                    <a:extLst>
                      <a:ext uri="{0D108BD9-81ED-4DB2-BD59-A6C34878D82A}">
                        <a16:rowId xmlns:a16="http://schemas.microsoft.com/office/drawing/2014/main" val="3228848662"/>
                      </a:ext>
                    </a:extLst>
                  </a:tr>
                  <a:tr h="579120">
                    <a:tc>
                      <a:txBody>
                        <a:bodyPr/>
                        <a:lstStyle/>
                        <a:p>
                          <a:r>
                            <a:rPr lang="en-GB" sz="1600" dirty="0"/>
                            <a:t>Ising model (simulation)</a:t>
                          </a:r>
                        </a:p>
                      </a:txBody>
                      <a:tcPr/>
                    </a:tc>
                    <a:tc>
                      <a:txBody>
                        <a:bodyPr/>
                        <a:lstStyle/>
                        <a:p>
                          <a:endParaRPr lang="en-US"/>
                        </a:p>
                      </a:txBody>
                      <a:tcPr>
                        <a:blipFill>
                          <a:blip r:embed="rId11"/>
                          <a:stretch>
                            <a:fillRect l="-100284" t="-73684" r="-1136" b="-129474"/>
                          </a:stretch>
                        </a:blipFill>
                      </a:tcPr>
                    </a:tc>
                    <a:extLst>
                      <a:ext uri="{0D108BD9-81ED-4DB2-BD59-A6C34878D82A}">
                        <a16:rowId xmlns:a16="http://schemas.microsoft.com/office/drawing/2014/main" val="2020091684"/>
                      </a:ext>
                    </a:extLst>
                  </a:tr>
                  <a:tr h="335280">
                    <a:tc>
                      <a:txBody>
                        <a:bodyPr/>
                        <a:lstStyle/>
                        <a:p>
                          <a:r>
                            <a:rPr lang="en-GB" sz="1600" dirty="0"/>
                            <a:t>Mean Field Theory</a:t>
                          </a:r>
                        </a:p>
                      </a:txBody>
                      <a:tcPr/>
                    </a:tc>
                    <a:tc>
                      <a:txBody>
                        <a:bodyPr/>
                        <a:lstStyle/>
                        <a:p>
                          <a:endParaRPr lang="en-US"/>
                        </a:p>
                      </a:txBody>
                      <a:tcPr>
                        <a:blipFill>
                          <a:blip r:embed="rId11"/>
                          <a:stretch>
                            <a:fillRect l="-100284" t="-294643" r="-1136" b="-119643"/>
                          </a:stretch>
                        </a:blipFill>
                      </a:tcPr>
                    </a:tc>
                    <a:extLst>
                      <a:ext uri="{0D108BD9-81ED-4DB2-BD59-A6C34878D82A}">
                        <a16:rowId xmlns:a16="http://schemas.microsoft.com/office/drawing/2014/main" val="4284135551"/>
                      </a:ext>
                    </a:extLst>
                  </a:tr>
                  <a:tr h="335280">
                    <a:tc>
                      <a:txBody>
                        <a:bodyPr/>
                        <a:lstStyle/>
                        <a:p>
                          <a:r>
                            <a:rPr lang="en-GB" sz="1600" dirty="0"/>
                            <a:t>Ising model (Ansatz)</a:t>
                          </a:r>
                        </a:p>
                      </a:txBody>
                      <a:tcPr/>
                    </a:tc>
                    <a:tc>
                      <a:txBody>
                        <a:bodyPr/>
                        <a:lstStyle/>
                        <a:p>
                          <a:endParaRPr lang="en-US"/>
                        </a:p>
                      </a:txBody>
                      <a:tcPr>
                        <a:blipFill>
                          <a:blip r:embed="rId11"/>
                          <a:stretch>
                            <a:fillRect l="-100284" t="-401818" r="-1136" b="-21818"/>
                          </a:stretch>
                        </a:blipFill>
                      </a:tcPr>
                    </a:tc>
                    <a:extLst>
                      <a:ext uri="{0D108BD9-81ED-4DB2-BD59-A6C34878D82A}">
                        <a16:rowId xmlns:a16="http://schemas.microsoft.com/office/drawing/2014/main" val="2464869283"/>
                      </a:ext>
                    </a:extLst>
                  </a:tr>
                </a:tbl>
              </a:graphicData>
            </a:graphic>
          </p:graphicFrame>
        </mc:Fallback>
      </mc:AlternateContent>
      <p:sp>
        <p:nvSpPr>
          <p:cNvPr id="35" name="Rectangle 34">
            <a:extLst>
              <a:ext uri="{FF2B5EF4-FFF2-40B4-BE49-F238E27FC236}">
                <a16:creationId xmlns:a16="http://schemas.microsoft.com/office/drawing/2014/main" id="{B8F6BAA4-8181-913D-970D-B31FF8E97C6F}"/>
              </a:ext>
            </a:extLst>
          </p:cNvPr>
          <p:cNvSpPr/>
          <p:nvPr/>
        </p:nvSpPr>
        <p:spPr>
          <a:xfrm>
            <a:off x="16755139" y="7359314"/>
            <a:ext cx="4125364" cy="1981045"/>
          </a:xfrm>
          <a:prstGeom prst="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bg2">
                    <a:lumMod val="25000"/>
                  </a:schemeClr>
                </a:solidFill>
              </a:ln>
            </a:endParaRPr>
          </a:p>
        </p:txBody>
      </p:sp>
      <p:pic>
        <p:nvPicPr>
          <p:cNvPr id="7" name="Picture 6" descr="A black and white pixelated background&#10;&#10;AI-generated content may be incorrect.">
            <a:extLst>
              <a:ext uri="{FF2B5EF4-FFF2-40B4-BE49-F238E27FC236}">
                <a16:creationId xmlns:a16="http://schemas.microsoft.com/office/drawing/2014/main" id="{A2E20F69-7336-BB7E-22A0-71E02759E64E}"/>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6893895" y="7763934"/>
            <a:ext cx="1163027" cy="1163027"/>
          </a:xfrm>
          <a:prstGeom prst="rect">
            <a:avLst/>
          </a:prstGeom>
          <a:ln>
            <a:solidFill>
              <a:schemeClr val="bg2">
                <a:lumMod val="50000"/>
              </a:schemeClr>
            </a:solidFill>
          </a:ln>
        </p:spPr>
      </p:pic>
      <p:pic>
        <p:nvPicPr>
          <p:cNvPr id="12" name="Picture 11" descr="A black and white pixelated image&#10;&#10;AI-generated content may be incorrect.">
            <a:extLst>
              <a:ext uri="{FF2B5EF4-FFF2-40B4-BE49-F238E27FC236}">
                <a16:creationId xmlns:a16="http://schemas.microsoft.com/office/drawing/2014/main" id="{50CC298A-5BD6-6630-20F0-51F40DA0655A}"/>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8256012" y="7737702"/>
            <a:ext cx="1185088" cy="1185088"/>
          </a:xfrm>
          <a:prstGeom prst="rect">
            <a:avLst/>
          </a:prstGeom>
          <a:ln>
            <a:solidFill>
              <a:schemeClr val="bg2">
                <a:lumMod val="50000"/>
              </a:schemeClr>
            </a:solidFill>
          </a:ln>
        </p:spPr>
      </p:pic>
      <p:pic>
        <p:nvPicPr>
          <p:cNvPr id="23" name="Picture 22" descr="A black background with white dots&#10;&#10;AI-generated content may be incorrect.">
            <a:extLst>
              <a:ext uri="{FF2B5EF4-FFF2-40B4-BE49-F238E27FC236}">
                <a16:creationId xmlns:a16="http://schemas.microsoft.com/office/drawing/2014/main" id="{C6C63396-7BE2-36C8-CD95-49C2F98970EC}"/>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9618214" y="7748732"/>
            <a:ext cx="1163027" cy="1163027"/>
          </a:xfrm>
          <a:prstGeom prst="rect">
            <a:avLst/>
          </a:prstGeom>
          <a:ln>
            <a:solidFill>
              <a:schemeClr val="bg2">
                <a:lumMod val="50000"/>
              </a:schemeClr>
            </a:solidFill>
          </a:ln>
        </p:spPr>
      </p:pic>
      <p:sp>
        <p:nvSpPr>
          <p:cNvPr id="25" name="TextBox 24">
            <a:extLst>
              <a:ext uri="{FF2B5EF4-FFF2-40B4-BE49-F238E27FC236}">
                <a16:creationId xmlns:a16="http://schemas.microsoft.com/office/drawing/2014/main" id="{F0FF9E0B-8973-F43F-92BA-6D021CE11626}"/>
              </a:ext>
            </a:extLst>
          </p:cNvPr>
          <p:cNvSpPr txBox="1"/>
          <p:nvPr/>
        </p:nvSpPr>
        <p:spPr>
          <a:xfrm>
            <a:off x="19665200" y="9011371"/>
            <a:ext cx="1190429" cy="338554"/>
          </a:xfrm>
          <a:prstGeom prst="rect">
            <a:avLst/>
          </a:prstGeom>
          <a:noFill/>
        </p:spPr>
        <p:txBody>
          <a:bodyPr wrap="square" rtlCol="0">
            <a:spAutoFit/>
          </a:bodyPr>
          <a:lstStyle/>
          <a:p>
            <a:r>
              <a:rPr lang="en-GB" sz="1600" dirty="0"/>
              <a:t>30 Sweeps</a:t>
            </a:r>
          </a:p>
        </p:txBody>
      </p:sp>
      <p:sp>
        <p:nvSpPr>
          <p:cNvPr id="32" name="TextBox 31">
            <a:extLst>
              <a:ext uri="{FF2B5EF4-FFF2-40B4-BE49-F238E27FC236}">
                <a16:creationId xmlns:a16="http://schemas.microsoft.com/office/drawing/2014/main" id="{7853EEA6-FB1F-42BC-8D71-820D58FD0736}"/>
              </a:ext>
            </a:extLst>
          </p:cNvPr>
          <p:cNvSpPr txBox="1"/>
          <p:nvPr/>
        </p:nvSpPr>
        <p:spPr>
          <a:xfrm>
            <a:off x="18306386" y="9001805"/>
            <a:ext cx="1134714" cy="338554"/>
          </a:xfrm>
          <a:prstGeom prst="rect">
            <a:avLst/>
          </a:prstGeom>
          <a:noFill/>
        </p:spPr>
        <p:txBody>
          <a:bodyPr wrap="square" rtlCol="0">
            <a:spAutoFit/>
          </a:bodyPr>
          <a:lstStyle/>
          <a:p>
            <a:r>
              <a:rPr lang="en-GB" sz="1600" dirty="0"/>
              <a:t>5 Sweeps</a:t>
            </a:r>
          </a:p>
        </p:txBody>
      </p:sp>
      <p:sp>
        <p:nvSpPr>
          <p:cNvPr id="33" name="TextBox 32">
            <a:extLst>
              <a:ext uri="{FF2B5EF4-FFF2-40B4-BE49-F238E27FC236}">
                <a16:creationId xmlns:a16="http://schemas.microsoft.com/office/drawing/2014/main" id="{6272BD1A-CEDF-2C5F-1A78-2DC10911CA73}"/>
              </a:ext>
            </a:extLst>
          </p:cNvPr>
          <p:cNvSpPr txBox="1"/>
          <p:nvPr/>
        </p:nvSpPr>
        <p:spPr>
          <a:xfrm>
            <a:off x="16976076" y="9001805"/>
            <a:ext cx="1106210" cy="338554"/>
          </a:xfrm>
          <a:prstGeom prst="rect">
            <a:avLst/>
          </a:prstGeom>
          <a:noFill/>
        </p:spPr>
        <p:txBody>
          <a:bodyPr wrap="square" rtlCol="0">
            <a:spAutoFit/>
          </a:bodyPr>
          <a:lstStyle/>
          <a:p>
            <a:r>
              <a:rPr lang="en-GB" sz="1600" dirty="0"/>
              <a:t>0 Sweeps</a:t>
            </a:r>
          </a:p>
        </p:txBody>
      </p:sp>
      <p:sp>
        <p:nvSpPr>
          <p:cNvPr id="34" name="TextBox 33">
            <a:extLst>
              <a:ext uri="{FF2B5EF4-FFF2-40B4-BE49-F238E27FC236}">
                <a16:creationId xmlns:a16="http://schemas.microsoft.com/office/drawing/2014/main" id="{E1D6E320-1A32-B8D5-0C93-3F7F6733E414}"/>
              </a:ext>
            </a:extLst>
          </p:cNvPr>
          <p:cNvSpPr txBox="1"/>
          <p:nvPr/>
        </p:nvSpPr>
        <p:spPr>
          <a:xfrm>
            <a:off x="17838800" y="7322002"/>
            <a:ext cx="3778580" cy="369332"/>
          </a:xfrm>
          <a:prstGeom prst="rect">
            <a:avLst/>
          </a:prstGeom>
          <a:noFill/>
        </p:spPr>
        <p:txBody>
          <a:bodyPr wrap="square" rtlCol="0">
            <a:spAutoFit/>
          </a:bodyPr>
          <a:lstStyle/>
          <a:p>
            <a:r>
              <a:rPr lang="en-GB" b="1" u="sng" dirty="0"/>
              <a:t>Lattice evolution </a:t>
            </a:r>
          </a:p>
        </p:txBody>
      </p:sp>
      <p:sp>
        <p:nvSpPr>
          <p:cNvPr id="43" name="Control 2">
            <a:extLst>
              <a:ext uri="{FF2B5EF4-FFF2-40B4-BE49-F238E27FC236}">
                <a16:creationId xmlns:a16="http://schemas.microsoft.com/office/drawing/2014/main" id="{5446A663-078B-EC3E-0B00-AEBB589C4F96}"/>
              </a:ext>
            </a:extLst>
          </p:cNvPr>
          <p:cNvSpPr>
            <a:spLocks noChangeArrowheads="1" noChangeShapeType="1"/>
          </p:cNvSpPr>
          <p:nvPr/>
        </p:nvSpPr>
        <p:spPr bwMode="auto">
          <a:xfrm>
            <a:off x="2419970" y="15738590"/>
            <a:ext cx="3068319" cy="3084270"/>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sp>
        <p:nvSpPr>
          <p:cNvPr id="47" name="Control 4">
            <a:extLst>
              <a:ext uri="{FF2B5EF4-FFF2-40B4-BE49-F238E27FC236}">
                <a16:creationId xmlns:a16="http://schemas.microsoft.com/office/drawing/2014/main" id="{56DC41D9-2CA0-4DB7-DDA8-CFA7A3C83B6B}"/>
              </a:ext>
            </a:extLst>
          </p:cNvPr>
          <p:cNvSpPr>
            <a:spLocks noChangeArrowheads="1" noChangeShapeType="1"/>
          </p:cNvSpPr>
          <p:nvPr/>
        </p:nvSpPr>
        <p:spPr bwMode="auto">
          <a:xfrm>
            <a:off x="2474067" y="15743476"/>
            <a:ext cx="2879725" cy="2879725"/>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graphicFrame>
        <p:nvGraphicFramePr>
          <p:cNvPr id="48" name="Table 47">
            <a:extLst>
              <a:ext uri="{FF2B5EF4-FFF2-40B4-BE49-F238E27FC236}">
                <a16:creationId xmlns:a16="http://schemas.microsoft.com/office/drawing/2014/main" id="{B9788EEB-3F26-AD43-E329-DE73DE02999C}"/>
              </a:ext>
            </a:extLst>
          </p:cNvPr>
          <p:cNvGraphicFramePr>
            <a:graphicFrameLocks noGrp="1"/>
          </p:cNvGraphicFramePr>
          <p:nvPr/>
        </p:nvGraphicFramePr>
        <p:xfrm>
          <a:off x="7788273" y="2055560"/>
          <a:ext cx="2879980" cy="2879980"/>
        </p:xfrm>
        <a:graphic>
          <a:graphicData uri="http://schemas.openxmlformats.org/drawingml/2006/table">
            <a:tbl>
              <a:tblPr/>
              <a:tblGrid>
                <a:gridCol w="575996">
                  <a:extLst>
                    <a:ext uri="{9D8B030D-6E8A-4147-A177-3AD203B41FA5}">
                      <a16:colId xmlns:a16="http://schemas.microsoft.com/office/drawing/2014/main" val="2200406331"/>
                    </a:ext>
                  </a:extLst>
                </a:gridCol>
                <a:gridCol w="575996">
                  <a:extLst>
                    <a:ext uri="{9D8B030D-6E8A-4147-A177-3AD203B41FA5}">
                      <a16:colId xmlns:a16="http://schemas.microsoft.com/office/drawing/2014/main" val="4191477172"/>
                    </a:ext>
                  </a:extLst>
                </a:gridCol>
                <a:gridCol w="575996">
                  <a:extLst>
                    <a:ext uri="{9D8B030D-6E8A-4147-A177-3AD203B41FA5}">
                      <a16:colId xmlns:a16="http://schemas.microsoft.com/office/drawing/2014/main" val="549849989"/>
                    </a:ext>
                  </a:extLst>
                </a:gridCol>
                <a:gridCol w="575996">
                  <a:extLst>
                    <a:ext uri="{9D8B030D-6E8A-4147-A177-3AD203B41FA5}">
                      <a16:colId xmlns:a16="http://schemas.microsoft.com/office/drawing/2014/main" val="2194956128"/>
                    </a:ext>
                  </a:extLst>
                </a:gridCol>
                <a:gridCol w="575996">
                  <a:extLst>
                    <a:ext uri="{9D8B030D-6E8A-4147-A177-3AD203B41FA5}">
                      <a16:colId xmlns:a16="http://schemas.microsoft.com/office/drawing/2014/main" val="771035206"/>
                    </a:ext>
                  </a:extLst>
                </a:gridCol>
              </a:tblGrid>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588321140"/>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1</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2848225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4</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2</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87698032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3</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96496328"/>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481197627"/>
                  </a:ext>
                </a:extLst>
              </a:tr>
            </a:tbl>
          </a:graphicData>
        </a:graphic>
      </p:graphicFrame>
      <p:cxnSp>
        <p:nvCxnSpPr>
          <p:cNvPr id="50" name="Straight Connector 49">
            <a:extLst>
              <a:ext uri="{FF2B5EF4-FFF2-40B4-BE49-F238E27FC236}">
                <a16:creationId xmlns:a16="http://schemas.microsoft.com/office/drawing/2014/main" id="{85157A68-FCC9-A6B0-D747-8D86933B87CD}"/>
              </a:ext>
            </a:extLst>
          </p:cNvPr>
          <p:cNvCxnSpPr>
            <a:cxnSpLocks/>
          </p:cNvCxnSpPr>
          <p:nvPr/>
        </p:nvCxnSpPr>
        <p:spPr>
          <a:xfrm flipH="1">
            <a:off x="1766373" y="9001805"/>
            <a:ext cx="884141" cy="424973"/>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C2F7553-3479-5520-0E90-2D26560BF8A3}"/>
              </a:ext>
            </a:extLst>
          </p:cNvPr>
          <p:cNvCxnSpPr>
            <a:cxnSpLocks/>
          </p:cNvCxnSpPr>
          <p:nvPr/>
        </p:nvCxnSpPr>
        <p:spPr>
          <a:xfrm flipH="1">
            <a:off x="3418968" y="9001805"/>
            <a:ext cx="342638" cy="424973"/>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751E356E-D648-8287-8E0A-10A388D7F681}"/>
              </a:ext>
            </a:extLst>
          </p:cNvPr>
          <p:cNvCxnSpPr>
            <a:cxnSpLocks/>
          </p:cNvCxnSpPr>
          <p:nvPr/>
        </p:nvCxnSpPr>
        <p:spPr>
          <a:xfrm>
            <a:off x="5415882" y="9011371"/>
            <a:ext cx="648820" cy="4154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3501775-1973-D938-C310-EFFD2394D638}"/>
              </a:ext>
            </a:extLst>
          </p:cNvPr>
          <p:cNvCxnSpPr>
            <a:cxnSpLocks/>
          </p:cNvCxnSpPr>
          <p:nvPr/>
        </p:nvCxnSpPr>
        <p:spPr>
          <a:xfrm>
            <a:off x="3903181" y="9001805"/>
            <a:ext cx="307322" cy="424119"/>
          </a:xfrm>
          <a:prstGeom prst="line">
            <a:avLst/>
          </a:prstGeom>
        </p:spPr>
        <p:style>
          <a:lnRef idx="2">
            <a:schemeClr val="accent1"/>
          </a:lnRef>
          <a:fillRef idx="0">
            <a:schemeClr val="accent1"/>
          </a:fillRef>
          <a:effectRef idx="1">
            <a:schemeClr val="accent1"/>
          </a:effectRef>
          <a:fontRef idx="minor">
            <a:schemeClr val="tx1"/>
          </a:fontRef>
        </p:style>
      </p:cxnSp>
      <p:pic>
        <p:nvPicPr>
          <p:cNvPr id="65" name="Picture 64" descr="A qr code on a white background&#10;&#10;AI-generated content may be incorrect.">
            <a:extLst>
              <a:ext uri="{FF2B5EF4-FFF2-40B4-BE49-F238E27FC236}">
                <a16:creationId xmlns:a16="http://schemas.microsoft.com/office/drawing/2014/main" id="{07995012-812F-FFFC-6664-8D7973C58A36}"/>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85034" y="12902323"/>
            <a:ext cx="1603451" cy="2102658"/>
          </a:xfrm>
          <a:prstGeom prst="rect">
            <a:avLst/>
          </a:prstGeom>
        </p:spPr>
      </p:pic>
      <p:pic>
        <p:nvPicPr>
          <p:cNvPr id="2054" name="Picture 6" descr="Durham University – My Digital Prospectus – The Durham University ...">
            <a:extLst>
              <a:ext uri="{FF2B5EF4-FFF2-40B4-BE49-F238E27FC236}">
                <a16:creationId xmlns:a16="http://schemas.microsoft.com/office/drawing/2014/main" id="{01D3358E-4D08-D3AE-46A4-48E2E41B911D}"/>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7633380" y="67205"/>
            <a:ext cx="2260420" cy="93518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2906CC0-1596-327E-3A3D-4E40CE0AD0A9}"/>
              </a:ext>
            </a:extLst>
          </p:cNvPr>
          <p:cNvSpPr/>
          <p:nvPr/>
        </p:nvSpPr>
        <p:spPr>
          <a:xfrm>
            <a:off x="0" y="1087123"/>
            <a:ext cx="21383624" cy="7704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sz="2000" b="1" dirty="0">
              <a:solidFill>
                <a:sysClr val="windowText" lastClr="000000"/>
              </a:solidFill>
            </a:endParaRPr>
          </a:p>
          <a:p>
            <a:r>
              <a:rPr lang="en-GB" sz="2000" b="1" dirty="0">
                <a:solidFill>
                  <a:sysClr val="windowText" lastClr="000000"/>
                </a:solidFill>
              </a:rPr>
              <a:t>Ferromagnets </a:t>
            </a:r>
            <a:r>
              <a:rPr lang="en-GB" sz="2000" dirty="0">
                <a:solidFill>
                  <a:sysClr val="windowText" lastClr="000000"/>
                </a:solidFill>
              </a:rPr>
              <a:t>can be modelled using a simple </a:t>
            </a:r>
            <a:r>
              <a:rPr lang="en-GB" sz="2000" b="1" dirty="0">
                <a:solidFill>
                  <a:sysClr val="windowText" lastClr="000000"/>
                </a:solidFill>
              </a:rPr>
              <a:t>2D Ising model</a:t>
            </a:r>
            <a:r>
              <a:rPr lang="en-GB" sz="2000" dirty="0">
                <a:solidFill>
                  <a:sysClr val="windowText" lastClr="000000"/>
                </a:solidFill>
              </a:rPr>
              <a:t>. Using this model, and  </a:t>
            </a:r>
            <a:r>
              <a:rPr lang="en-GB" sz="2000" b="1" dirty="0">
                <a:solidFill>
                  <a:sysClr val="windowText" lastClr="000000"/>
                </a:solidFill>
              </a:rPr>
              <a:t>Monte-Carlo methods </a:t>
            </a:r>
            <a:r>
              <a:rPr lang="en-GB" sz="2000" dirty="0">
                <a:solidFill>
                  <a:sysClr val="windowText" lastClr="000000"/>
                </a:solidFill>
              </a:rPr>
              <a:t>(the </a:t>
            </a:r>
            <a:r>
              <a:rPr lang="en-GB" sz="2000" b="1" dirty="0">
                <a:solidFill>
                  <a:sysClr val="windowText" lastClr="000000"/>
                </a:solidFill>
              </a:rPr>
              <a:t>metropolis algorithm</a:t>
            </a:r>
            <a:r>
              <a:rPr lang="en-GB" sz="2000" dirty="0">
                <a:solidFill>
                  <a:sysClr val="windowText" lastClr="000000"/>
                </a:solidFill>
              </a:rPr>
              <a:t>), the </a:t>
            </a:r>
            <a:r>
              <a:rPr lang="en-GB" sz="2000" b="1" dirty="0">
                <a:solidFill>
                  <a:sysClr val="windowText" lastClr="000000"/>
                </a:solidFill>
              </a:rPr>
              <a:t>average magnetisation </a:t>
            </a:r>
            <a:r>
              <a:rPr lang="en-GB" sz="2000" dirty="0">
                <a:solidFill>
                  <a:sysClr val="windowText" lastClr="000000"/>
                </a:solidFill>
              </a:rPr>
              <a:t>in the </a:t>
            </a:r>
            <a:r>
              <a:rPr lang="en-GB" sz="2000" b="1" dirty="0">
                <a:solidFill>
                  <a:sysClr val="windowText" lastClr="000000"/>
                </a:solidFill>
              </a:rPr>
              <a:t>steady state region </a:t>
            </a:r>
            <a:r>
              <a:rPr lang="en-GB" sz="2000" dirty="0">
                <a:solidFill>
                  <a:sysClr val="windowText" lastClr="000000"/>
                </a:solidFill>
              </a:rPr>
              <a:t>is determined</a:t>
            </a:r>
            <a:r>
              <a:rPr lang="en-GB" sz="2000" b="1" dirty="0">
                <a:solidFill>
                  <a:sysClr val="windowText" lastClr="000000"/>
                </a:solidFill>
              </a:rPr>
              <a:t> </a:t>
            </a:r>
            <a:r>
              <a:rPr lang="en-GB" sz="2000" dirty="0">
                <a:solidFill>
                  <a:sysClr val="windowText" lastClr="000000"/>
                </a:solidFill>
              </a:rPr>
              <a:t>for a set of specific conditions, and compared to other models of </a:t>
            </a:r>
            <a:r>
              <a:rPr lang="en-GB" sz="2000" b="1" dirty="0">
                <a:solidFill>
                  <a:sysClr val="windowText" lastClr="000000"/>
                </a:solidFill>
              </a:rPr>
              <a:t>ferromagnets</a:t>
            </a:r>
            <a:r>
              <a:rPr lang="en-GB" sz="2000" dirty="0">
                <a:solidFill>
                  <a:sysClr val="windowText" lastClr="000000"/>
                </a:solidFill>
              </a:rPr>
              <a:t>, all showing good agreement with one another. </a:t>
            </a:r>
          </a:p>
          <a:p>
            <a:pPr algn="ctr"/>
            <a:endParaRPr lang="en-GB" dirty="0"/>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C910B4B7-E911-30C4-DF3A-C1C412FA8873}"/>
                  </a:ext>
                </a:extLst>
              </p:cNvPr>
              <p:cNvSpPr/>
              <p:nvPr/>
            </p:nvSpPr>
            <p:spPr>
              <a:xfrm>
                <a:off x="2371425" y="13976108"/>
                <a:ext cx="4879511" cy="89576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Scan the QR code to see the lattice evolution of a 32x32 lattice </a:t>
                </a:r>
                <a14:m>
                  <m:oMath xmlns:m="http://schemas.openxmlformats.org/officeDocument/2006/math">
                    <m:r>
                      <a:rPr lang="en-GB" i="1" dirty="0" smtClean="0">
                        <a:solidFill>
                          <a:schemeClr val="tx1"/>
                        </a:solidFill>
                        <a:latin typeface="Cambria Math" panose="02040503050406030204" pitchFamily="18" charset="0"/>
                      </a:rPr>
                      <m:t>𝑓𝑜𝑟</m:t>
                    </m:r>
                    <m:r>
                      <a:rPr lang="en-GB" i="1" dirty="0" smtClean="0">
                        <a:solidFill>
                          <a:schemeClr val="tx1"/>
                        </a:solidFill>
                        <a:latin typeface="Cambria Math" panose="02040503050406030204" pitchFamily="18" charset="0"/>
                      </a:rPr>
                      <m:t> </m:t>
                    </m:r>
                    <m:r>
                      <a:rPr lang="en-GB" i="1" dirty="0" smtClean="0">
                        <a:solidFill>
                          <a:schemeClr val="tx1"/>
                        </a:solidFill>
                        <a:latin typeface="Cambria Math" panose="02040503050406030204" pitchFamily="18" charset="0"/>
                      </a:rPr>
                      <m:t>𝐵</m:t>
                    </m:r>
                    <m:r>
                      <a:rPr lang="en-GB" i="1" dirty="0" smtClean="0">
                        <a:solidFill>
                          <a:schemeClr val="tx1"/>
                        </a:solidFill>
                        <a:latin typeface="Cambria Math" panose="02040503050406030204" pitchFamily="18" charset="0"/>
                      </a:rPr>
                      <m:t> = −0.05, </m:t>
                    </m:r>
                    <m:r>
                      <a:rPr lang="en-GB" i="1" dirty="0" smtClean="0">
                        <a:solidFill>
                          <a:schemeClr val="tx1"/>
                        </a:solidFill>
                        <a:latin typeface="Cambria Math" panose="02040503050406030204" pitchFamily="18" charset="0"/>
                      </a:rPr>
                      <m:t>𝐽</m:t>
                    </m:r>
                    <m:r>
                      <a:rPr lang="en-GB" i="1" dirty="0" smtClean="0">
                        <a:solidFill>
                          <a:schemeClr val="tx1"/>
                        </a:solidFill>
                        <a:latin typeface="Cambria Math" panose="02040503050406030204" pitchFamily="18" charset="0"/>
                      </a:rPr>
                      <m:t>= 0.5 </m:t>
                    </m:r>
                  </m:oMath>
                </a14:m>
                <a:r>
                  <a:rPr lang="en-GB" dirty="0">
                    <a:solidFill>
                      <a:schemeClr val="tx1"/>
                    </a:solidFill>
                  </a:rPr>
                  <a:t>over 30 sweeps</a:t>
                </a:r>
              </a:p>
            </p:txBody>
          </p:sp>
        </mc:Choice>
        <mc:Fallback>
          <p:sp>
            <p:nvSpPr>
              <p:cNvPr id="8" name="Rectangle 7">
                <a:extLst>
                  <a:ext uri="{FF2B5EF4-FFF2-40B4-BE49-F238E27FC236}">
                    <a16:creationId xmlns:a16="http://schemas.microsoft.com/office/drawing/2014/main" id="{C910B4B7-E911-30C4-DF3A-C1C412FA8873}"/>
                  </a:ext>
                </a:extLst>
              </p:cNvPr>
              <p:cNvSpPr>
                <a:spLocks noRot="1" noChangeAspect="1" noMove="1" noResize="1" noEditPoints="1" noAdjustHandles="1" noChangeArrowheads="1" noChangeShapeType="1" noTextEdit="1"/>
              </p:cNvSpPr>
              <p:nvPr/>
            </p:nvSpPr>
            <p:spPr>
              <a:xfrm>
                <a:off x="2371425" y="13976108"/>
                <a:ext cx="4879511" cy="895767"/>
              </a:xfrm>
              <a:prstGeom prst="rect">
                <a:avLst/>
              </a:prstGeom>
              <a:blipFill>
                <a:blip r:embed="rId17"/>
                <a:stretch>
                  <a:fillRect l="-249" t="-3333" r="-1245" b="-10667"/>
                </a:stretch>
              </a:blipFill>
            </p:spPr>
            <p:txBody>
              <a:bodyPr/>
              <a:lstStyle/>
              <a:p>
                <a:r>
                  <a:rPr lang="en-GB">
                    <a:noFill/>
                  </a:rPr>
                  <a:t> </a:t>
                </a:r>
              </a:p>
            </p:txBody>
          </p:sp>
        </mc:Fallback>
      </mc:AlternateContent>
      <p:sp>
        <p:nvSpPr>
          <p:cNvPr id="17" name="Arrow: Curved Left 16">
            <a:extLst>
              <a:ext uri="{FF2B5EF4-FFF2-40B4-BE49-F238E27FC236}">
                <a16:creationId xmlns:a16="http://schemas.microsoft.com/office/drawing/2014/main" id="{47D15028-C312-167C-1F45-0637DEFD3DDF}"/>
              </a:ext>
            </a:extLst>
          </p:cNvPr>
          <p:cNvSpPr/>
          <p:nvPr/>
        </p:nvSpPr>
        <p:spPr>
          <a:xfrm flipV="1">
            <a:off x="1699142" y="14032227"/>
            <a:ext cx="593393" cy="767781"/>
          </a:xfrm>
          <a:prstGeom prst="curvedLef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solidFill>
                <a:schemeClr val="tx1"/>
              </a:solidFill>
            </a:endParaRPr>
          </a:p>
        </p:txBody>
      </p:sp>
      <p:sp>
        <p:nvSpPr>
          <p:cNvPr id="19" name="Rectangle 18">
            <a:extLst>
              <a:ext uri="{FF2B5EF4-FFF2-40B4-BE49-F238E27FC236}">
                <a16:creationId xmlns:a16="http://schemas.microsoft.com/office/drawing/2014/main" id="{26B3EFFF-3219-B43A-E779-051A09A9FC61}"/>
              </a:ext>
            </a:extLst>
          </p:cNvPr>
          <p:cNvSpPr/>
          <p:nvPr/>
        </p:nvSpPr>
        <p:spPr>
          <a:xfrm>
            <a:off x="353679" y="5849122"/>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1. 2D Ising Model</a:t>
            </a:r>
          </a:p>
        </p:txBody>
      </p:sp>
      <p:sp>
        <p:nvSpPr>
          <p:cNvPr id="26" name="Rectangle 25">
            <a:extLst>
              <a:ext uri="{FF2B5EF4-FFF2-40B4-BE49-F238E27FC236}">
                <a16:creationId xmlns:a16="http://schemas.microsoft.com/office/drawing/2014/main" id="{B1210C8B-4223-162D-6AE4-58E110368260}"/>
              </a:ext>
            </a:extLst>
          </p:cNvPr>
          <p:cNvSpPr/>
          <p:nvPr/>
        </p:nvSpPr>
        <p:spPr>
          <a:xfrm>
            <a:off x="7678029" y="5091662"/>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28" name="Rectangle 27">
            <a:extLst>
              <a:ext uri="{FF2B5EF4-FFF2-40B4-BE49-F238E27FC236}">
                <a16:creationId xmlns:a16="http://schemas.microsoft.com/office/drawing/2014/main" id="{AD40BB50-E35D-FE05-B3A9-B88804D9EFE5}"/>
              </a:ext>
            </a:extLst>
          </p:cNvPr>
          <p:cNvSpPr/>
          <p:nvPr/>
        </p:nvSpPr>
        <p:spPr>
          <a:xfrm>
            <a:off x="7779687" y="9616738"/>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31" name="Rectangle 30">
            <a:extLst>
              <a:ext uri="{FF2B5EF4-FFF2-40B4-BE49-F238E27FC236}">
                <a16:creationId xmlns:a16="http://schemas.microsoft.com/office/drawing/2014/main" id="{FD1D69D1-29F8-BD75-9D05-DDE081419BB6}"/>
              </a:ext>
            </a:extLst>
          </p:cNvPr>
          <p:cNvSpPr/>
          <p:nvPr/>
        </p:nvSpPr>
        <p:spPr>
          <a:xfrm>
            <a:off x="14949567" y="1894911"/>
            <a:ext cx="6215931"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36" name="TextBox 35">
            <a:extLst>
              <a:ext uri="{FF2B5EF4-FFF2-40B4-BE49-F238E27FC236}">
                <a16:creationId xmlns:a16="http://schemas.microsoft.com/office/drawing/2014/main" id="{8DA59E5E-772C-9150-88E7-CCDA3E0EE1F8}"/>
              </a:ext>
            </a:extLst>
          </p:cNvPr>
          <p:cNvSpPr txBox="1"/>
          <p:nvPr/>
        </p:nvSpPr>
        <p:spPr>
          <a:xfrm>
            <a:off x="14905829" y="5123081"/>
            <a:ext cx="2021997" cy="1708160"/>
          </a:xfrm>
          <a:prstGeom prst="rect">
            <a:avLst/>
          </a:prstGeom>
          <a:noFill/>
        </p:spPr>
        <p:txBody>
          <a:bodyPr wrap="square" rtlCol="0">
            <a:spAutoFit/>
          </a:bodyPr>
          <a:lstStyle/>
          <a:p>
            <a:r>
              <a:rPr lang="en-GB" sz="1500" b="1" dirty="0"/>
              <a:t>Table 1: </a:t>
            </a:r>
            <a:r>
              <a:rPr lang="en-GB" sz="1500" dirty="0"/>
              <a:t>Average magnetisation predicted by different models. MFT prediction is slightly larger since it ignores thermal fluctuations.</a:t>
            </a:r>
          </a:p>
        </p:txBody>
      </p:sp>
      <p:sp>
        <p:nvSpPr>
          <p:cNvPr id="56" name="TextBox 55">
            <a:extLst>
              <a:ext uri="{FF2B5EF4-FFF2-40B4-BE49-F238E27FC236}">
                <a16:creationId xmlns:a16="http://schemas.microsoft.com/office/drawing/2014/main" id="{7BC17077-140E-BDEB-3FCC-0CB041F983EC}"/>
              </a:ext>
            </a:extLst>
          </p:cNvPr>
          <p:cNvSpPr txBox="1"/>
          <p:nvPr/>
        </p:nvSpPr>
        <p:spPr>
          <a:xfrm>
            <a:off x="1188958" y="715348"/>
            <a:ext cx="2267570" cy="369332"/>
          </a:xfrm>
          <a:prstGeom prst="rect">
            <a:avLst/>
          </a:prstGeom>
          <a:noFill/>
        </p:spPr>
        <p:txBody>
          <a:bodyPr wrap="square" rtlCol="0">
            <a:spAutoFit/>
          </a:bodyPr>
          <a:lstStyle/>
          <a:p>
            <a:r>
              <a:rPr lang="en-GB" dirty="0">
                <a:solidFill>
                  <a:schemeClr val="bg1"/>
                </a:solidFill>
                <a:latin typeface="ADLaM Display" panose="02010000000000000000" pitchFamily="2" charset="0"/>
                <a:ea typeface="ADLaM Display" panose="02010000000000000000" pitchFamily="2" charset="0"/>
                <a:cs typeface="ADLaM Display" panose="02010000000000000000" pitchFamily="2" charset="0"/>
              </a:rPr>
              <a:t>By Charlie Cook</a:t>
            </a:r>
          </a:p>
        </p:txBody>
      </p:sp>
      <p:cxnSp>
        <p:nvCxnSpPr>
          <p:cNvPr id="64" name="Straight Connector 63">
            <a:extLst>
              <a:ext uri="{FF2B5EF4-FFF2-40B4-BE49-F238E27FC236}">
                <a16:creationId xmlns:a16="http://schemas.microsoft.com/office/drawing/2014/main" id="{567A75E5-9469-22ED-DAE2-93A1F2454D78}"/>
              </a:ext>
            </a:extLst>
          </p:cNvPr>
          <p:cNvCxnSpPr>
            <a:cxnSpLocks/>
          </p:cNvCxnSpPr>
          <p:nvPr/>
        </p:nvCxnSpPr>
        <p:spPr>
          <a:xfrm flipV="1">
            <a:off x="19230975" y="10619593"/>
            <a:ext cx="0" cy="198414"/>
          </a:xfrm>
          <a:prstGeom prst="line">
            <a:avLst/>
          </a:prstGeom>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1FFB7EC5-671A-7389-6BA2-08ECC911E9BF}"/>
              </a:ext>
            </a:extLst>
          </p:cNvPr>
          <p:cNvSpPr txBox="1"/>
          <p:nvPr/>
        </p:nvSpPr>
        <p:spPr>
          <a:xfrm>
            <a:off x="19129415" y="10302779"/>
            <a:ext cx="1751088" cy="323165"/>
          </a:xfrm>
          <a:prstGeom prst="rect">
            <a:avLst/>
          </a:prstGeom>
          <a:noFill/>
        </p:spPr>
        <p:txBody>
          <a:bodyPr wrap="square" rtlCol="0">
            <a:spAutoFit/>
          </a:bodyPr>
          <a:lstStyle/>
          <a:p>
            <a:r>
              <a:rPr lang="en-GB" sz="1500" dirty="0"/>
              <a:t>Steady state region</a:t>
            </a:r>
          </a:p>
        </p:txBody>
      </p:sp>
      <p:cxnSp>
        <p:nvCxnSpPr>
          <p:cNvPr id="10" name="Straight Arrow Connector 9">
            <a:extLst>
              <a:ext uri="{FF2B5EF4-FFF2-40B4-BE49-F238E27FC236}">
                <a16:creationId xmlns:a16="http://schemas.microsoft.com/office/drawing/2014/main" id="{6A5AF3A5-BB17-3E73-95FB-4865CC739417}"/>
              </a:ext>
            </a:extLst>
          </p:cNvPr>
          <p:cNvCxnSpPr>
            <a:cxnSpLocks/>
          </p:cNvCxnSpPr>
          <p:nvPr/>
        </p:nvCxnSpPr>
        <p:spPr>
          <a:xfrm>
            <a:off x="19230975" y="10721975"/>
            <a:ext cx="16246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775A2CEC-1DB8-AB77-DCFD-2736A0B22890}"/>
              </a:ext>
            </a:extLst>
          </p:cNvPr>
          <p:cNvSpPr txBox="1"/>
          <p:nvPr/>
        </p:nvSpPr>
        <p:spPr>
          <a:xfrm>
            <a:off x="6098087" y="8699652"/>
            <a:ext cx="787400" cy="446276"/>
          </a:xfrm>
          <a:prstGeom prst="rect">
            <a:avLst/>
          </a:prstGeom>
          <a:noFill/>
        </p:spPr>
        <p:txBody>
          <a:bodyPr wrap="square" rtlCol="0">
            <a:spAutoFit/>
          </a:bodyPr>
          <a:lstStyle/>
          <a:p>
            <a:r>
              <a:rPr lang="en-GB" sz="2200" dirty="0"/>
              <a:t> </a:t>
            </a:r>
            <a:r>
              <a:rPr lang="en-GB" sz="2000" dirty="0">
                <a:latin typeface="Cambria Math" panose="02040503050406030204" pitchFamily="18" charset="0"/>
                <a:ea typeface="Cambria Math" panose="02040503050406030204" pitchFamily="18" charset="0"/>
              </a:rPr>
              <a:t>(1)</a:t>
            </a:r>
          </a:p>
        </p:txBody>
      </p:sp>
      <p:sp>
        <p:nvSpPr>
          <p:cNvPr id="30" name="TextBox 29">
            <a:extLst>
              <a:ext uri="{FF2B5EF4-FFF2-40B4-BE49-F238E27FC236}">
                <a16:creationId xmlns:a16="http://schemas.microsoft.com/office/drawing/2014/main" id="{3A8229D9-3A2B-F0C1-DB77-502F2D21D51A}"/>
              </a:ext>
            </a:extLst>
          </p:cNvPr>
          <p:cNvSpPr txBox="1"/>
          <p:nvPr/>
        </p:nvSpPr>
        <p:spPr>
          <a:xfrm>
            <a:off x="5277302" y="12749956"/>
            <a:ext cx="787400" cy="446276"/>
          </a:xfrm>
          <a:prstGeom prst="rect">
            <a:avLst/>
          </a:prstGeom>
          <a:noFill/>
        </p:spPr>
        <p:txBody>
          <a:bodyPr wrap="square" rtlCol="0">
            <a:spAutoFit/>
          </a:bodyPr>
          <a:lstStyle/>
          <a:p>
            <a:r>
              <a:rPr lang="en-GB" sz="2200" dirty="0"/>
              <a:t> </a:t>
            </a:r>
            <a:r>
              <a:rPr lang="en-GB" sz="2000" dirty="0">
                <a:latin typeface="Cambria Math" panose="02040503050406030204" pitchFamily="18" charset="0"/>
                <a:ea typeface="Cambria Math" panose="02040503050406030204" pitchFamily="18" charset="0"/>
              </a:rPr>
              <a:t>(2)</a:t>
            </a:r>
          </a:p>
        </p:txBody>
      </p:sp>
      <p:sp>
        <p:nvSpPr>
          <p:cNvPr id="37" name="TextBox 36">
            <a:extLst>
              <a:ext uri="{FF2B5EF4-FFF2-40B4-BE49-F238E27FC236}">
                <a16:creationId xmlns:a16="http://schemas.microsoft.com/office/drawing/2014/main" id="{3B6E3BB4-C879-A308-EF2F-F518052F1A31}"/>
              </a:ext>
            </a:extLst>
          </p:cNvPr>
          <p:cNvSpPr txBox="1"/>
          <p:nvPr/>
        </p:nvSpPr>
        <p:spPr>
          <a:xfrm>
            <a:off x="12571330" y="8322267"/>
            <a:ext cx="787400" cy="446276"/>
          </a:xfrm>
          <a:prstGeom prst="rect">
            <a:avLst/>
          </a:prstGeom>
          <a:noFill/>
        </p:spPr>
        <p:txBody>
          <a:bodyPr wrap="square" rtlCol="0">
            <a:spAutoFit/>
          </a:bodyPr>
          <a:lstStyle/>
          <a:p>
            <a:r>
              <a:rPr lang="en-GB" sz="2200" dirty="0"/>
              <a:t> </a:t>
            </a:r>
            <a:r>
              <a:rPr lang="en-GB" sz="2000" dirty="0">
                <a:latin typeface="Cambria Math" panose="02040503050406030204" pitchFamily="18" charset="0"/>
                <a:ea typeface="Cambria Math" panose="02040503050406030204" pitchFamily="18" charset="0"/>
              </a:rPr>
              <a:t>(3)</a:t>
            </a:r>
          </a:p>
        </p:txBody>
      </p:sp>
    </p:spTree>
    <p:extLst>
      <p:ext uri="{BB962C8B-B14F-4D97-AF65-F5344CB8AC3E}">
        <p14:creationId xmlns:p14="http://schemas.microsoft.com/office/powerpoint/2010/main" val="1141417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10000">
              <a:schemeClr val="bg1"/>
            </a:gs>
            <a:gs pos="97000">
              <a:srgbClr val="B2E5FA"/>
            </a:gs>
          </a:gsLst>
          <a:lin ang="5400000" scaled="1"/>
        </a:gradFill>
        <a:effectLst/>
      </p:bgPr>
    </p:bg>
    <p:spTree>
      <p:nvGrpSpPr>
        <p:cNvPr id="1" name="">
          <a:extLst>
            <a:ext uri="{FF2B5EF4-FFF2-40B4-BE49-F238E27FC236}">
              <a16:creationId xmlns:a16="http://schemas.microsoft.com/office/drawing/2014/main" id="{EAE63C45-4D33-4263-B8B4-CB827EB99141}"/>
            </a:ext>
          </a:extLst>
        </p:cNvPr>
        <p:cNvGrpSpPr/>
        <p:nvPr/>
      </p:nvGrpSpPr>
      <p:grpSpPr>
        <a:xfrm>
          <a:off x="0" y="0"/>
          <a:ext cx="0" cy="0"/>
          <a:chOff x="0" y="0"/>
          <a:chExt cx="0" cy="0"/>
        </a:xfrm>
      </p:grpSpPr>
      <p:pic>
        <p:nvPicPr>
          <p:cNvPr id="51" name="Picture 50" descr="A graph of a number of sweeps&#10;&#10;AI-generated content may be incorrect.">
            <a:extLst>
              <a:ext uri="{FF2B5EF4-FFF2-40B4-BE49-F238E27FC236}">
                <a16:creationId xmlns:a16="http://schemas.microsoft.com/office/drawing/2014/main" id="{90D1ECD0-640B-1831-BE82-F0E931D631B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l="541" t="6470" r="8740" b="1925"/>
          <a:stretch>
            <a:fillRect/>
          </a:stretch>
        </p:blipFill>
        <p:spPr>
          <a:xfrm>
            <a:off x="14949567" y="6841014"/>
            <a:ext cx="6215931" cy="5124131"/>
          </a:xfrm>
          <a:prstGeom prst="rect">
            <a:avLst/>
          </a:prstGeom>
          <a:ln>
            <a:solidFill>
              <a:schemeClr val="bg2">
                <a:lumMod val="75000"/>
              </a:schemeClr>
            </a:solidFill>
          </a:ln>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AD9F6176-B3CD-A83B-7661-946F5979AE19}"/>
                  </a:ext>
                </a:extLst>
              </p:cNvPr>
              <p:cNvSpPr txBox="1">
                <a:spLocks/>
              </p:cNvSpPr>
              <p:nvPr/>
            </p:nvSpPr>
            <p:spPr>
              <a:xfrm>
                <a:off x="326823" y="6841014"/>
                <a:ext cx="6972300" cy="7462492"/>
              </a:xfrm>
              <a:prstGeom prst="rect">
                <a:avLst/>
              </a:prstGeom>
              <a:noFill/>
            </p:spPr>
            <p:txBody>
              <a:bodyPr wrap="square" rtlCol="0">
                <a:spAutoFit/>
              </a:bodyPr>
              <a:lstStyle/>
              <a:p>
                <a:pPr marL="285750" indent="-285750">
                  <a:buFont typeface="Arial" panose="020B0604020202020204" pitchFamily="34" charset="0"/>
                  <a:buChar char="•"/>
                </a:pPr>
                <a:r>
                  <a:rPr lang="en-GB" dirty="0"/>
                  <a:t>A </a:t>
                </a:r>
                <a:r>
                  <a:rPr lang="en-GB" b="1" dirty="0"/>
                  <a:t>periodic lattice </a:t>
                </a:r>
                <a:r>
                  <a:rPr lang="en-GB" dirty="0"/>
                  <a:t>of dimensions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by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𝑦</m:t>
                        </m:r>
                      </m:sub>
                    </m:sSub>
                  </m:oMath>
                </a14:m>
                <a:r>
                  <a:rPr lang="en-GB" dirty="0"/>
                  <a:t> is created.</a:t>
                </a:r>
              </a:p>
              <a:p>
                <a:pPr marL="285750" indent="-285750">
                  <a:buFont typeface="Arial" panose="020B0604020202020204" pitchFamily="34" charset="0"/>
                  <a:buChar char="•"/>
                </a:pPr>
                <a:r>
                  <a:rPr lang="en-GB" dirty="0"/>
                  <a:t> Each point is randomly assigned a </a:t>
                </a:r>
                <a:r>
                  <a:rPr lang="en-GB" b="1" dirty="0"/>
                  <a:t>spin</a:t>
                </a:r>
                <a:r>
                  <a:rPr lang="en-GB" dirty="0"/>
                  <a:t> value, </a:t>
                </a:r>
                <a14:m>
                  <m:oMath xmlns:m="http://schemas.openxmlformats.org/officeDocument/2006/math">
                    <m:r>
                      <a:rPr lang="en-GB" b="0" i="1" smtClean="0">
                        <a:latin typeface="Cambria Math" panose="02040503050406030204" pitchFamily="18" charset="0"/>
                      </a:rPr>
                      <m:t>𝑆</m:t>
                    </m:r>
                  </m:oMath>
                </a14:m>
                <a:r>
                  <a:rPr lang="en-GB" dirty="0"/>
                  <a:t>, of either +1 (</a:t>
                </a:r>
                <a:r>
                  <a:rPr lang="en-GB" b="1" dirty="0"/>
                  <a:t>spin up</a:t>
                </a:r>
                <a:r>
                  <a:rPr lang="en-GB" dirty="0"/>
                  <a:t>) or -1 (</a:t>
                </a:r>
                <a:r>
                  <a:rPr lang="en-GB" b="1" dirty="0"/>
                  <a:t>spin down</a:t>
                </a:r>
                <a:r>
                  <a:rPr lang="en-GB" dirty="0"/>
                  <a:t>). </a:t>
                </a:r>
              </a:p>
              <a:p>
                <a:pPr marL="285750" indent="-285750">
                  <a:buFont typeface="Arial" panose="020B0604020202020204" pitchFamily="34" charset="0"/>
                  <a:buChar char="•"/>
                </a:pPr>
                <a:r>
                  <a:rPr lang="en-GB" dirty="0"/>
                  <a:t>The </a:t>
                </a:r>
                <a:r>
                  <a:rPr lang="en-GB" b="1" dirty="0"/>
                  <a:t>total energy </a:t>
                </a:r>
                <a:r>
                  <a:rPr lang="en-GB" dirty="0"/>
                  <a:t>of the lattice comes from </a:t>
                </a:r>
                <a:r>
                  <a:rPr lang="en-GB" b="1" dirty="0"/>
                  <a:t>two sources </a:t>
                </a:r>
                <a:r>
                  <a:rPr lang="en-GB" dirty="0"/>
                  <a:t>[1,2] and is then given by:</a:t>
                </a:r>
              </a:p>
              <a:p>
                <a:endParaRPr lang="en-GB" dirty="0"/>
              </a:p>
              <a:p>
                <a:pPr/>
                <a14:m>
                  <m:oMathPara xmlns:m="http://schemas.openxmlformats.org/officeDocument/2006/math">
                    <m:oMathParaPr>
                      <m:jc m:val="centerGroup"/>
                    </m:oMathParaPr>
                    <m:oMath xmlns:m="http://schemas.openxmlformats.org/officeDocument/2006/math">
                      <m:r>
                        <a:rPr lang="en-GB" sz="2000" i="1">
                          <a:latin typeface="Cambria Math" panose="02040503050406030204" pitchFamily="18" charset="0"/>
                        </a:rPr>
                        <m:t>𝐸</m:t>
                      </m:r>
                      <m:r>
                        <a:rPr lang="en-GB" sz="2000" i="1">
                          <a:latin typeface="Cambria Math" panose="02040503050406030204" pitchFamily="18" charset="0"/>
                        </a:rPr>
                        <m:t>=−</m:t>
                      </m:r>
                      <m:r>
                        <a:rPr lang="en-GB" sz="2000" i="1">
                          <a:latin typeface="Cambria Math" panose="02040503050406030204" pitchFamily="18" charset="0"/>
                        </a:rPr>
                        <m:t>𝐵</m:t>
                      </m:r>
                      <m:nary>
                        <m:naryPr>
                          <m:chr m:val="∑"/>
                          <m:supHide m:val="on"/>
                          <m:ctrlPr>
                            <a:rPr lang="en-GB" sz="2000" i="1">
                              <a:latin typeface="Cambria Math" panose="02040503050406030204" pitchFamily="18" charset="0"/>
                            </a:rPr>
                          </m:ctrlPr>
                        </m:naryPr>
                        <m:sub>
                          <m:r>
                            <m:rPr>
                              <m:sty m:val="p"/>
                              <m:brk m:alnAt="7"/>
                            </m:rPr>
                            <a:rPr lang="el-GR" sz="2000" i="1">
                              <a:latin typeface="Cambria Math" panose="02040503050406030204" pitchFamily="18" charset="0"/>
                            </a:rPr>
                            <m:t>α</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brk m:alnAt="7"/>
                                </m:rPr>
                                <a:rPr lang="el-GR" sz="2000" i="1">
                                  <a:latin typeface="Cambria Math" panose="02040503050406030204" pitchFamily="18" charset="0"/>
                                </a:rPr>
                                <m:t>α</m:t>
                              </m:r>
                            </m:sub>
                          </m:sSub>
                        </m:e>
                      </m:nary>
                      <m:r>
                        <a:rPr lang="en-GB" sz="2000">
                          <a:latin typeface="Cambria Math" panose="02040503050406030204" pitchFamily="18" charset="0"/>
                        </a:rPr>
                        <m:t> −</m:t>
                      </m:r>
                      <m:r>
                        <m:rPr>
                          <m:sty m:val="p"/>
                        </m:rPr>
                        <a:rPr lang="en-GB" sz="2000">
                          <a:latin typeface="Cambria Math" panose="02040503050406030204" pitchFamily="18" charset="0"/>
                        </a:rPr>
                        <m:t>J</m:t>
                      </m:r>
                      <m:nary>
                        <m:naryPr>
                          <m:chr m:val="∑"/>
                          <m:supHide m:val="on"/>
                          <m:ctrlPr>
                            <a:rPr lang="en-GB" sz="2000" i="1">
                              <a:latin typeface="Cambria Math" panose="02040503050406030204" pitchFamily="18" charset="0"/>
                            </a:rPr>
                          </m:ctrlPr>
                        </m:naryPr>
                        <m:sub>
                          <m:r>
                            <m:rPr>
                              <m:brk m:alnAt="7"/>
                            </m:rPr>
                            <a:rPr lang="en-GB" sz="2000" i="1">
                              <a:latin typeface="Cambria Math" panose="02040503050406030204" pitchFamily="18" charset="0"/>
                            </a:rPr>
                            <m:t>&lt;</m:t>
                          </m:r>
                          <m:r>
                            <m:rPr>
                              <m:sty m:val="p"/>
                            </m:rPr>
                            <a:rPr lang="el-GR" sz="2000" i="1">
                              <a:latin typeface="Cambria Math" panose="02040503050406030204" pitchFamily="18" charset="0"/>
                            </a:rPr>
                            <m:t>αβ</m:t>
                          </m:r>
                          <m:r>
                            <a:rPr lang="en-GB" sz="2000" i="1">
                              <a:latin typeface="Cambria Math" panose="02040503050406030204" pitchFamily="18" charset="0"/>
                            </a:rPr>
                            <m:t>&gt;</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brk m:alnAt="7"/>
                                </m:rPr>
                                <a:rPr lang="el-GR" sz="2000" i="1">
                                  <a:latin typeface="Cambria Math" panose="02040503050406030204" pitchFamily="18" charset="0"/>
                                </a:rPr>
                                <m:t>α</m:t>
                              </m:r>
                            </m:sub>
                          </m:sSub>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m:rPr>
                                  <m:sty m:val="p"/>
                                </m:rPr>
                                <a:rPr lang="el-GR" sz="2000" i="1">
                                  <a:latin typeface="Cambria Math" panose="02040503050406030204" pitchFamily="18" charset="0"/>
                                </a:rPr>
                                <m:t>β</m:t>
                              </m:r>
                            </m:sub>
                          </m:sSub>
                        </m:e>
                      </m:nary>
                      <m:r>
                        <a:rPr lang="en-GB" sz="2000">
                          <a:latin typeface="Cambria Math" panose="02040503050406030204" pitchFamily="18" charset="0"/>
                        </a:rPr>
                        <m:t>, </m:t>
                      </m:r>
                    </m:oMath>
                  </m:oMathPara>
                </a14:m>
                <a:endParaRPr lang="en-GB" sz="2000" dirty="0"/>
              </a:p>
              <a:p>
                <a:endParaRPr lang="en-GB" dirty="0"/>
              </a:p>
              <a:p>
                <a:endParaRPr lang="en-GB" dirty="0"/>
              </a:p>
              <a:p>
                <a:endParaRPr lang="en-GB" dirty="0"/>
              </a:p>
              <a:p>
                <a:endParaRPr lang="en-GB" dirty="0"/>
              </a:p>
              <a:p>
                <a:pPr marL="285750" indent="-285750">
                  <a:buFont typeface="Arial" panose="020B0604020202020204" pitchFamily="34" charset="0"/>
                  <a:buChar char="•"/>
                </a:pPr>
                <a:r>
                  <a:rPr lang="en-GB" dirty="0"/>
                  <a:t>where </a:t>
                </a:r>
                <a14:m>
                  <m:oMath xmlns:m="http://schemas.openxmlformats.org/officeDocument/2006/math">
                    <m:r>
                      <a:rPr lang="el-GR" i="1" dirty="0">
                        <a:latin typeface="Cambria Math" panose="02040503050406030204" pitchFamily="18" charset="0"/>
                        <a:ea typeface="Cambria Math" panose="02040503050406030204" pitchFamily="18" charset="0"/>
                      </a:rPr>
                      <m:t>𝛼</m:t>
                    </m:r>
                  </m:oMath>
                </a14:m>
                <a:r>
                  <a:rPr lang="en-GB" dirty="0"/>
                  <a:t> is the summation over each </a:t>
                </a:r>
                <a:r>
                  <a:rPr lang="en-GB" b="1" dirty="0"/>
                  <a:t>lattice point </a:t>
                </a:r>
                <a:r>
                  <a:rPr lang="en-GB" dirty="0"/>
                  <a:t>(i.e. over all </a:t>
                </a:r>
                <a14:m>
                  <m:oMath xmlns:m="http://schemas.openxmlformats.org/officeDocument/2006/math">
                    <m:r>
                      <a:rPr lang="en-GB" i="1" dirty="0">
                        <a:latin typeface="Cambria Math" panose="02040503050406030204" pitchFamily="18" charset="0"/>
                      </a:rPr>
                      <m:t>𝑖</m:t>
                    </m:r>
                  </m:oMath>
                </a14:m>
                <a:r>
                  <a:rPr lang="en-GB" dirty="0"/>
                  <a:t> and </a:t>
                </a:r>
                <a14:m>
                  <m:oMath xmlns:m="http://schemas.openxmlformats.org/officeDocument/2006/math">
                    <m:r>
                      <a:rPr lang="en-GB" i="1" dirty="0">
                        <a:latin typeface="Cambria Math" panose="02040503050406030204" pitchFamily="18" charset="0"/>
                      </a:rPr>
                      <m:t>𝑗</m:t>
                    </m:r>
                  </m:oMath>
                </a14:m>
                <a:r>
                  <a:rPr lang="en-GB" dirty="0"/>
                  <a:t>), and</a:t>
                </a:r>
                <a14:m>
                  <m:oMath xmlns:m="http://schemas.openxmlformats.org/officeDocument/2006/math">
                    <m:r>
                      <a:rPr lang="en-GB" i="1" dirty="0">
                        <a:latin typeface="Cambria Math" panose="02040503050406030204" pitchFamily="18" charset="0"/>
                      </a:rPr>
                      <m:t> </m:t>
                    </m:r>
                    <m:r>
                      <a:rPr lang="el-GR" i="1" dirty="0">
                        <a:latin typeface="Cambria Math" panose="02040503050406030204" pitchFamily="18" charset="0"/>
                      </a:rPr>
                      <m:t>𝛽</m:t>
                    </m:r>
                    <m:r>
                      <a:rPr lang="en-GB" i="1" dirty="0">
                        <a:latin typeface="Cambria Math" panose="02040503050406030204" pitchFamily="18" charset="0"/>
                      </a:rPr>
                      <m:t> </m:t>
                    </m:r>
                  </m:oMath>
                </a14:m>
                <a:r>
                  <a:rPr lang="en-GB" dirty="0"/>
                  <a:t>is the summation of the </a:t>
                </a:r>
                <a:r>
                  <a:rPr lang="en-GB" b="1" dirty="0"/>
                  <a:t>four nearest neighbours</a:t>
                </a:r>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oMath>
                </a14:m>
                <a:r>
                  <a:rPr lang="en-GB" dirty="0"/>
                  <a:t>, </a:t>
                </a:r>
                <a14:m>
                  <m:oMath xmlns:m="http://schemas.openxmlformats.org/officeDocument/2006/math">
                    <m:d>
                      <m:dPr>
                        <m:ctrlPr>
                          <a:rPr lang="en-GB" i="1" dirty="0">
                            <a:latin typeface="Cambria Math" panose="02040503050406030204" pitchFamily="18" charset="0"/>
                          </a:rPr>
                        </m:ctrlPr>
                      </m:dPr>
                      <m:e>
                        <m:r>
                          <a:rPr lang="en-GB" i="1" dirty="0">
                            <a:latin typeface="Cambria Math" panose="02040503050406030204" pitchFamily="18" charset="0"/>
                          </a:rPr>
                          <m:t>𝑖</m:t>
                        </m:r>
                        <m:r>
                          <a:rPr lang="en-GB" i="1" dirty="0">
                            <a:latin typeface="Cambria Math" panose="02040503050406030204" pitchFamily="18" charset="0"/>
                          </a:rPr>
                          <m:t>+1,</m:t>
                        </m:r>
                        <m:r>
                          <a:rPr lang="en-GB" i="1" dirty="0">
                            <a:latin typeface="Cambria Math" panose="02040503050406030204" pitchFamily="18" charset="0"/>
                          </a:rPr>
                          <m:t>𝑗</m:t>
                        </m:r>
                      </m:e>
                    </m:d>
                    <m:r>
                      <a:rPr lang="en-GB" dirty="0">
                        <a:latin typeface="Cambria Math" panose="02040503050406030204" pitchFamily="18" charset="0"/>
                      </a:rPr>
                      <m:t>, </m:t>
                    </m:r>
                    <m:r>
                      <a:rPr lang="en-GB" i="1" dirty="0">
                        <a:latin typeface="Cambria Math" panose="02040503050406030204" pitchFamily="18" charset="0"/>
                      </a:rPr>
                      <m:t>(</m:t>
                    </m:r>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 </m:t>
                    </m:r>
                  </m:oMath>
                </a14:m>
                <a:r>
                  <a:rPr lang="en-GB" dirty="0"/>
                  <a:t>and </a:t>
                </a:r>
                <a14:m>
                  <m:oMath xmlns:m="http://schemas.openxmlformats.org/officeDocument/2006/math">
                    <m:d>
                      <m:dPr>
                        <m:ctrlPr>
                          <a:rPr lang="en-GB" i="1" dirty="0" err="1">
                            <a:latin typeface="Cambria Math" panose="02040503050406030204" pitchFamily="18" charset="0"/>
                          </a:rPr>
                        </m:ctrlPr>
                      </m:dPr>
                      <m:e>
                        <m:r>
                          <a:rPr lang="en-GB" i="1" dirty="0" err="1">
                            <a:latin typeface="Cambria Math" panose="02040503050406030204" pitchFamily="18" charset="0"/>
                          </a:rPr>
                          <m:t>𝑖</m:t>
                        </m:r>
                        <m:r>
                          <a:rPr lang="en-GB" i="1" dirty="0">
                            <a:latin typeface="Cambria Math" panose="02040503050406030204" pitchFamily="18" charset="0"/>
                          </a:rPr>
                          <m:t>, </m:t>
                        </m:r>
                        <m:r>
                          <a:rPr lang="en-GB" i="1" dirty="0">
                            <a:latin typeface="Cambria Math" panose="02040503050406030204" pitchFamily="18" charset="0"/>
                          </a:rPr>
                          <m:t>𝑗</m:t>
                        </m:r>
                        <m:r>
                          <a:rPr lang="en-GB" i="1" dirty="0">
                            <a:latin typeface="Cambria Math" panose="02040503050406030204" pitchFamily="18" charset="0"/>
                          </a:rPr>
                          <m:t>+1</m:t>
                        </m:r>
                      </m:e>
                    </m:d>
                  </m:oMath>
                </a14:m>
                <a:r>
                  <a:rPr lang="en-GB" dirty="0"/>
                  <a:t>[2]. </a:t>
                </a:r>
              </a:p>
              <a:p>
                <a:pPr marL="285750" indent="-285750">
                  <a:buFont typeface="Arial" panose="020B0604020202020204" pitchFamily="34" charset="0"/>
                  <a:buChar char="•"/>
                </a:pPr>
                <a:r>
                  <a:rPr lang="en-GB" dirty="0"/>
                  <a:t>J is the </a:t>
                </a:r>
                <a:r>
                  <a:rPr lang="en-GB" b="1" dirty="0"/>
                  <a:t>interaction strength</a:t>
                </a:r>
                <a:r>
                  <a:rPr lang="en-GB" dirty="0"/>
                  <a:t> between</a:t>
                </a:r>
                <a:r>
                  <a:rPr lang="en-GB" b="1" dirty="0"/>
                  <a:t> neighbouring </a:t>
                </a:r>
                <a:r>
                  <a:rPr lang="en-GB" dirty="0"/>
                  <a:t>spins:  J &gt; 0 and J &lt; 0 corresponding with the tendency for neighbouring spins to align (</a:t>
                </a:r>
                <a:r>
                  <a:rPr lang="en-GB" b="1" dirty="0"/>
                  <a:t>ferromagnetism</a:t>
                </a:r>
                <a:r>
                  <a:rPr lang="en-GB" dirty="0"/>
                  <a:t>) or anti-align (</a:t>
                </a:r>
                <a:r>
                  <a:rPr lang="en-GB" b="1" dirty="0"/>
                  <a:t>anti-ferromagnetism</a:t>
                </a:r>
                <a:r>
                  <a:rPr lang="en-GB" dirty="0"/>
                  <a:t>), respectively.</a:t>
                </a:r>
              </a:p>
              <a:p>
                <a:pPr marL="285750" indent="-285750">
                  <a:buFont typeface="Arial" panose="020B0604020202020204" pitchFamily="34" charset="0"/>
                  <a:buChar char="•"/>
                </a:pPr>
                <a:r>
                  <a:rPr lang="en-GB" b="1" dirty="0"/>
                  <a:t>Average magnetisation </a:t>
                </a:r>
                <a:r>
                  <a:rPr lang="en-GB" dirty="0"/>
                  <a:t>of the lattice can be calculated using:  </a:t>
                </a:r>
              </a:p>
              <a:p>
                <a:pPr/>
                <a14:m>
                  <m:oMathPara xmlns:m="http://schemas.openxmlformats.org/officeDocument/2006/math">
                    <m:oMathParaPr>
                      <m:jc m:val="centerGroup"/>
                    </m:oMathParaPr>
                    <m:oMath xmlns:m="http://schemas.openxmlformats.org/officeDocument/2006/math">
                      <m:r>
                        <a:rPr lang="en-GB" sz="2000" i="1">
                          <a:latin typeface="Cambria Math" panose="02040503050406030204" pitchFamily="18" charset="0"/>
                        </a:rPr>
                        <m:t>&lt;</m:t>
                      </m:r>
                      <m:r>
                        <a:rPr lang="en-GB" sz="2000" i="1">
                          <a:latin typeface="Cambria Math" panose="02040503050406030204" pitchFamily="18" charset="0"/>
                        </a:rPr>
                        <m:t>𝑚</m:t>
                      </m:r>
                      <m:r>
                        <a:rPr lang="en-GB" sz="2000" i="1">
                          <a:latin typeface="Cambria Math" panose="02040503050406030204" pitchFamily="18" charset="0"/>
                        </a:rPr>
                        <m:t>&gt; =</m:t>
                      </m:r>
                      <m:f>
                        <m:fPr>
                          <m:ctrlPr>
                            <a:rPr lang="en-GB" sz="2000" i="1">
                              <a:latin typeface="Cambria Math" panose="02040503050406030204" pitchFamily="18" charset="0"/>
                            </a:rPr>
                          </m:ctrlPr>
                        </m:fPr>
                        <m:num>
                          <m:r>
                            <a:rPr lang="en-GB" sz="2000" i="1">
                              <a:latin typeface="Cambria Math" panose="02040503050406030204" pitchFamily="18" charset="0"/>
                            </a:rPr>
                            <m:t>1</m:t>
                          </m:r>
                        </m:num>
                        <m:den>
                          <m:sSub>
                            <m:sSubPr>
                              <m:ctrlPr>
                                <a:rPr lang="en-GB" sz="2000" i="1">
                                  <a:latin typeface="Cambria Math" panose="02040503050406030204" pitchFamily="18" charset="0"/>
                                </a:rPr>
                              </m:ctrlPr>
                            </m:sSubPr>
                            <m:e>
                              <m:r>
                                <a:rPr lang="en-GB" sz="2000" i="1">
                                  <a:latin typeface="Cambria Math" panose="02040503050406030204" pitchFamily="18" charset="0"/>
                                </a:rPr>
                                <m:t>𝑁</m:t>
                              </m:r>
                            </m:e>
                            <m:sub>
                              <m:r>
                                <a:rPr lang="en-GB" sz="2000" i="1">
                                  <a:latin typeface="Cambria Math" panose="02040503050406030204" pitchFamily="18" charset="0"/>
                                </a:rPr>
                                <m:t>𝑥</m:t>
                              </m:r>
                            </m:sub>
                          </m:sSub>
                          <m:sSub>
                            <m:sSubPr>
                              <m:ctrlPr>
                                <a:rPr lang="en-GB" sz="2000" i="1">
                                  <a:latin typeface="Cambria Math" panose="02040503050406030204" pitchFamily="18" charset="0"/>
                                </a:rPr>
                              </m:ctrlPr>
                            </m:sSubPr>
                            <m:e>
                              <m:r>
                                <a:rPr lang="en-GB" sz="2000" i="1">
                                  <a:latin typeface="Cambria Math" panose="02040503050406030204" pitchFamily="18" charset="0"/>
                                </a:rPr>
                                <m:t>𝑁</m:t>
                              </m:r>
                            </m:e>
                            <m:sub>
                              <m:r>
                                <a:rPr lang="en-GB" sz="2000" i="1">
                                  <a:latin typeface="Cambria Math" panose="02040503050406030204" pitchFamily="18" charset="0"/>
                                </a:rPr>
                                <m:t>𝑦</m:t>
                              </m:r>
                            </m:sub>
                          </m:sSub>
                        </m:den>
                      </m:f>
                      <m:nary>
                        <m:naryPr>
                          <m:chr m:val="∑"/>
                          <m:supHide m:val="on"/>
                          <m:ctrlPr>
                            <a:rPr lang="en-GB" sz="2000" i="1">
                              <a:latin typeface="Cambria Math" panose="02040503050406030204" pitchFamily="18" charset="0"/>
                            </a:rPr>
                          </m:ctrlPr>
                        </m:naryPr>
                        <m:sub>
                          <m:r>
                            <a:rPr lang="en-GB" sz="2000" i="1">
                              <a:latin typeface="Cambria Math" panose="02040503050406030204" pitchFamily="18" charset="0"/>
                            </a:rPr>
                            <m:t>𝛼</m:t>
                          </m:r>
                        </m:sub>
                        <m:sup/>
                        <m:e>
                          <m:sSub>
                            <m:sSubPr>
                              <m:ctrlPr>
                                <a:rPr lang="en-GB" sz="2000" i="1">
                                  <a:latin typeface="Cambria Math" panose="02040503050406030204" pitchFamily="18" charset="0"/>
                                </a:rPr>
                              </m:ctrlPr>
                            </m:sSubPr>
                            <m:e>
                              <m:r>
                                <a:rPr lang="en-GB" sz="2000" i="1">
                                  <a:latin typeface="Cambria Math" panose="02040503050406030204" pitchFamily="18" charset="0"/>
                                </a:rPr>
                                <m:t>𝑆</m:t>
                              </m:r>
                            </m:e>
                            <m:sub>
                              <m:r>
                                <a:rPr lang="en-GB" sz="2000" i="1">
                                  <a:latin typeface="Cambria Math" panose="02040503050406030204" pitchFamily="18" charset="0"/>
                                </a:rPr>
                                <m:t>𝛼</m:t>
                              </m:r>
                            </m:sub>
                          </m:sSub>
                        </m:e>
                      </m:nary>
                    </m:oMath>
                  </m:oMathPara>
                </a14:m>
                <a:endParaRPr lang="en-GB" dirty="0"/>
              </a:p>
              <a:p>
                <a:pPr marL="285750" indent="-285750">
                  <a:buFont typeface="Arial" panose="020B0604020202020204" pitchFamily="34" charset="0"/>
                  <a:buChar char="•"/>
                </a:pPr>
                <a:endParaRPr lang="en-GB" dirty="0"/>
              </a:p>
              <a:p>
                <a:endParaRPr lang="en-GB" dirty="0"/>
              </a:p>
            </p:txBody>
          </p:sp>
        </mc:Choice>
        <mc:Fallback>
          <p:sp>
            <p:nvSpPr>
              <p:cNvPr id="14" name="TextBox 13">
                <a:extLst>
                  <a:ext uri="{FF2B5EF4-FFF2-40B4-BE49-F238E27FC236}">
                    <a16:creationId xmlns:a16="http://schemas.microsoft.com/office/drawing/2014/main" id="{AD9F6176-B3CD-A83B-7661-946F5979AE19}"/>
                  </a:ext>
                </a:extLst>
              </p:cNvPr>
              <p:cNvSpPr txBox="1">
                <a:spLocks noRot="1" noChangeAspect="1" noMove="1" noResize="1" noEditPoints="1" noAdjustHandles="1" noChangeArrowheads="1" noChangeShapeType="1" noTextEdit="1"/>
              </p:cNvSpPr>
              <p:nvPr/>
            </p:nvSpPr>
            <p:spPr>
              <a:xfrm>
                <a:off x="326823" y="6841014"/>
                <a:ext cx="6972300" cy="7462492"/>
              </a:xfrm>
              <a:prstGeom prst="rect">
                <a:avLst/>
              </a:prstGeom>
              <a:blipFill>
                <a:blip r:embed="rId4"/>
                <a:stretch>
                  <a:fillRect l="-612" t="-245" r="-700"/>
                </a:stretch>
              </a:blipFill>
            </p:spPr>
            <p:txBody>
              <a:bodyPr/>
              <a:lstStyle/>
              <a:p>
                <a:r>
                  <a:rPr lang="en-GB">
                    <a:noFill/>
                  </a:rPr>
                  <a:t> </a:t>
                </a:r>
              </a:p>
            </p:txBody>
          </p:sp>
        </mc:Fallback>
      </mc:AlternateContent>
      <p:sp>
        <p:nvSpPr>
          <p:cNvPr id="4" name="Rectangle 3">
            <a:extLst>
              <a:ext uri="{FF2B5EF4-FFF2-40B4-BE49-F238E27FC236}">
                <a16:creationId xmlns:a16="http://schemas.microsoft.com/office/drawing/2014/main" id="{F7718410-5C73-5E38-1F3B-CA1AC1FDD340}"/>
              </a:ext>
            </a:extLst>
          </p:cNvPr>
          <p:cNvSpPr/>
          <p:nvPr/>
        </p:nvSpPr>
        <p:spPr>
          <a:xfrm>
            <a:off x="-1" y="1"/>
            <a:ext cx="21383625" cy="109879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800" b="1" dirty="0">
                <a:solidFill>
                  <a:srgbClr val="FAF9F6"/>
                </a:solidFill>
                <a:latin typeface="ADLaM Display" panose="02010000000000000000" pitchFamily="2" charset="0"/>
                <a:ea typeface="ADLaM Display" panose="02010000000000000000" pitchFamily="2" charset="0"/>
                <a:cs typeface="ADLaM Display" panose="02010000000000000000" pitchFamily="2" charset="0"/>
              </a:rPr>
              <a:t>      Modelling a ferromagnet using the Ising model</a:t>
            </a:r>
          </a:p>
          <a:p>
            <a:pPr algn="ctr"/>
            <a:endParaRPr lang="en-GB" dirty="0"/>
          </a:p>
        </p:txBody>
      </p:sp>
      <p:sp>
        <p:nvSpPr>
          <p:cNvPr id="18" name="Rectangle 17">
            <a:extLst>
              <a:ext uri="{FF2B5EF4-FFF2-40B4-BE49-F238E27FC236}">
                <a16:creationId xmlns:a16="http://schemas.microsoft.com/office/drawing/2014/main" id="{B59F6EDE-5713-95C8-B180-C7467AEE01BD}"/>
              </a:ext>
            </a:extLst>
          </p:cNvPr>
          <p:cNvSpPr/>
          <p:nvPr/>
        </p:nvSpPr>
        <p:spPr>
          <a:xfrm>
            <a:off x="15140965" y="13455839"/>
            <a:ext cx="5956300" cy="306434"/>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6. References &amp; AI statement</a:t>
            </a:r>
          </a:p>
        </p:txBody>
      </p:sp>
      <p:sp>
        <p:nvSpPr>
          <p:cNvPr id="27" name="Rectangle 26">
            <a:extLst>
              <a:ext uri="{FF2B5EF4-FFF2-40B4-BE49-F238E27FC236}">
                <a16:creationId xmlns:a16="http://schemas.microsoft.com/office/drawing/2014/main" id="{DDFCD7F3-8754-A214-3C86-438412E31D13}"/>
              </a:ext>
            </a:extLst>
          </p:cNvPr>
          <p:cNvSpPr/>
          <p:nvPr/>
        </p:nvSpPr>
        <p:spPr>
          <a:xfrm>
            <a:off x="1785892" y="9417610"/>
            <a:ext cx="1633076"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External Field Contribution</a:t>
            </a:r>
          </a:p>
        </p:txBody>
      </p:sp>
      <p:sp>
        <p:nvSpPr>
          <p:cNvPr id="29" name="Rectangle 28">
            <a:extLst>
              <a:ext uri="{FF2B5EF4-FFF2-40B4-BE49-F238E27FC236}">
                <a16:creationId xmlns:a16="http://schemas.microsoft.com/office/drawing/2014/main" id="{12B53B56-7689-34B6-0087-D64EB21D17C0}"/>
              </a:ext>
            </a:extLst>
          </p:cNvPr>
          <p:cNvSpPr/>
          <p:nvPr/>
        </p:nvSpPr>
        <p:spPr>
          <a:xfrm>
            <a:off x="4210503" y="9417610"/>
            <a:ext cx="1854199" cy="5050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Spin Interaction Contribution</a:t>
            </a:r>
          </a:p>
        </p:txBody>
      </p:sp>
      <p:sp>
        <p:nvSpPr>
          <p:cNvPr id="3" name="TextBox 2">
            <a:extLst>
              <a:ext uri="{FF2B5EF4-FFF2-40B4-BE49-F238E27FC236}">
                <a16:creationId xmlns:a16="http://schemas.microsoft.com/office/drawing/2014/main" id="{236352D1-6853-6CBA-26E4-63DA1BC2E795}"/>
              </a:ext>
            </a:extLst>
          </p:cNvPr>
          <p:cNvSpPr txBox="1"/>
          <p:nvPr/>
        </p:nvSpPr>
        <p:spPr>
          <a:xfrm>
            <a:off x="15131564" y="12106631"/>
            <a:ext cx="5883278" cy="1600438"/>
          </a:xfrm>
          <a:prstGeom prst="rect">
            <a:avLst/>
          </a:prstGeom>
          <a:noFill/>
        </p:spPr>
        <p:txBody>
          <a:bodyPr wrap="square" rtlCol="0">
            <a:spAutoFit/>
          </a:bodyPr>
          <a:lstStyle/>
          <a:p>
            <a:r>
              <a:rPr lang="en-GB" sz="1600" dirty="0"/>
              <a:t>Fig. 2: Plot of average magnetisation per spin against number of sweeps of the Monte Carlo algorithm for a 32x32 lattice, with B = -0.05, J = 0.5, and </a:t>
            </a:r>
            <a:r>
              <a:rPr lang="en-GB" sz="1600" dirty="0" err="1"/>
              <a:t>kT</a:t>
            </a:r>
            <a:r>
              <a:rPr lang="en-GB" sz="1600" dirty="0"/>
              <a:t> = 1. </a:t>
            </a:r>
          </a:p>
          <a:p>
            <a:r>
              <a:rPr lang="en-GB" sz="1600" dirty="0"/>
              <a:t>Insets show lattice at sweeps 0, 5 and 30,  further illustrating the rapid evolution into alignment with the B field.</a:t>
            </a:r>
          </a:p>
          <a:p>
            <a:endParaRPr lang="en-GB" dirty="0"/>
          </a:p>
        </p:txBody>
      </p:sp>
      <p:sp>
        <p:nvSpPr>
          <p:cNvPr id="20" name="TextBox 19">
            <a:extLst>
              <a:ext uri="{FF2B5EF4-FFF2-40B4-BE49-F238E27FC236}">
                <a16:creationId xmlns:a16="http://schemas.microsoft.com/office/drawing/2014/main" id="{444E2D27-DDC8-2209-D40C-CEC8B734C8AA}"/>
              </a:ext>
            </a:extLst>
          </p:cNvPr>
          <p:cNvSpPr txBox="1"/>
          <p:nvPr/>
        </p:nvSpPr>
        <p:spPr>
          <a:xfrm>
            <a:off x="14949566" y="2496737"/>
            <a:ext cx="6215932" cy="2557623"/>
          </a:xfrm>
          <a:prstGeom prst="rect">
            <a:avLst/>
          </a:prstGeom>
          <a:noFill/>
        </p:spPr>
        <p:txBody>
          <a:bodyPr wrap="square" rtlCol="0">
            <a:spAutoFit/>
          </a:bodyPr>
          <a:lstStyle/>
          <a:p>
            <a:pPr marL="285750" indent="-285750">
              <a:buFont typeface="Arial" panose="020B0604020202020204" pitchFamily="34" charset="0"/>
              <a:buChar char="•"/>
            </a:pPr>
            <a:r>
              <a:rPr lang="en-GB" sz="1780" dirty="0"/>
              <a:t>Fig. 2 shows the </a:t>
            </a:r>
            <a:r>
              <a:rPr lang="en-GB" sz="1780" b="1" dirty="0"/>
              <a:t>average magnetisation </a:t>
            </a:r>
            <a:r>
              <a:rPr lang="en-GB" sz="1780" dirty="0"/>
              <a:t>as a function of </a:t>
            </a:r>
            <a:r>
              <a:rPr lang="en-GB" sz="1780" b="1" dirty="0"/>
              <a:t>sweeps</a:t>
            </a:r>
            <a:r>
              <a:rPr lang="en-GB" sz="1780" dirty="0"/>
              <a:t>, for  a 32x32 lattice with B = -0.05 and J = 0.5.</a:t>
            </a:r>
          </a:p>
          <a:p>
            <a:pPr marL="285750" indent="-285750">
              <a:buFont typeface="Arial" panose="020B0604020202020204" pitchFamily="34" charset="0"/>
              <a:buChar char="•"/>
            </a:pPr>
            <a:r>
              <a:rPr lang="en-GB" sz="1780" dirty="0"/>
              <a:t> We define the </a:t>
            </a:r>
            <a:r>
              <a:rPr lang="en-GB" sz="1780" b="1" dirty="0"/>
              <a:t>steady state region </a:t>
            </a:r>
            <a:r>
              <a:rPr lang="en-GB" sz="1780" dirty="0"/>
              <a:t>as the point where the running average magnetisation doesn’t fluctuate by more than 5% of the difference between the initial and final value.</a:t>
            </a:r>
            <a:endParaRPr lang="en-GB" sz="1780" dirty="0">
              <a:solidFill>
                <a:srgbClr val="FF0000"/>
              </a:solidFill>
            </a:endParaRPr>
          </a:p>
          <a:p>
            <a:pPr marL="285750" indent="-285750">
              <a:buFont typeface="Arial" panose="020B0604020202020204" pitchFamily="34" charset="0"/>
              <a:buChar char="•"/>
            </a:pPr>
            <a:r>
              <a:rPr lang="en-GB" sz="1780" b="1" dirty="0"/>
              <a:t>Average magnetisation</a:t>
            </a:r>
            <a:r>
              <a:rPr lang="en-GB" sz="1780" dirty="0"/>
              <a:t> predicted by my </a:t>
            </a:r>
            <a:r>
              <a:rPr lang="en-GB" sz="1780" b="1" dirty="0"/>
              <a:t>simulation</a:t>
            </a:r>
            <a:r>
              <a:rPr lang="en-GB" sz="1780" dirty="0"/>
              <a:t>, </a:t>
            </a:r>
            <a:r>
              <a:rPr lang="en-GB" sz="1780" b="1" dirty="0"/>
              <a:t>MFT </a:t>
            </a:r>
            <a:r>
              <a:rPr lang="en-GB" sz="1780" dirty="0"/>
              <a:t>[4] and an </a:t>
            </a:r>
            <a:r>
              <a:rPr lang="en-GB" sz="1780" b="1" dirty="0"/>
              <a:t>Ansatz approach </a:t>
            </a:r>
            <a:r>
              <a:rPr lang="en-GB" sz="1780" dirty="0"/>
              <a:t>[5] is shown below in </a:t>
            </a:r>
            <a:r>
              <a:rPr lang="en-GB" sz="1780" b="1" dirty="0"/>
              <a:t>Table 1</a:t>
            </a:r>
            <a:r>
              <a:rPr lang="en-GB" sz="1780" dirty="0"/>
              <a:t>. Results are generally in agreement with each other.</a:t>
            </a:r>
          </a:p>
        </p:txBody>
      </p:sp>
      <p:sp>
        <p:nvSpPr>
          <p:cNvPr id="21" name="TextBox 20">
            <a:extLst>
              <a:ext uri="{FF2B5EF4-FFF2-40B4-BE49-F238E27FC236}">
                <a16:creationId xmlns:a16="http://schemas.microsoft.com/office/drawing/2014/main" id="{5854618F-8CF4-EF29-E00A-D0E53B76FE63}"/>
              </a:ext>
            </a:extLst>
          </p:cNvPr>
          <p:cNvSpPr txBox="1"/>
          <p:nvPr/>
        </p:nvSpPr>
        <p:spPr>
          <a:xfrm>
            <a:off x="15126436" y="13762273"/>
            <a:ext cx="5985358" cy="1323439"/>
          </a:xfrm>
          <a:prstGeom prst="rect">
            <a:avLst/>
          </a:prstGeom>
          <a:noFill/>
        </p:spPr>
        <p:txBody>
          <a:bodyPr wrap="square" rtlCol="0">
            <a:spAutoFit/>
          </a:bodyPr>
          <a:lstStyle/>
          <a:p>
            <a:pPr marL="228600" indent="-228600">
              <a:buAutoNum type="arabicPeriod"/>
            </a:pPr>
            <a:r>
              <a:rPr lang="de-DE" sz="800" dirty="0"/>
              <a:t>Ising, E. Beitrag zur Theorie des Ferromagnetismus. </a:t>
            </a:r>
            <a:r>
              <a:rPr lang="de-DE" sz="800" i="1" dirty="0"/>
              <a:t>Z. Physik</a:t>
            </a:r>
            <a:r>
              <a:rPr lang="de-DE" sz="800" dirty="0"/>
              <a:t> </a:t>
            </a:r>
            <a:r>
              <a:rPr lang="de-DE" sz="800" b="1" dirty="0"/>
              <a:t>31</a:t>
            </a:r>
            <a:r>
              <a:rPr lang="de-DE" sz="800" dirty="0"/>
              <a:t>, 253–258 (1925). </a:t>
            </a:r>
            <a:r>
              <a:rPr lang="de-DE" sz="800" dirty="0">
                <a:hlinkClick r:id="rId5"/>
              </a:rPr>
              <a:t>https://doi.org/10.1007/BF02980577</a:t>
            </a:r>
            <a:endParaRPr lang="de-DE" sz="800" dirty="0"/>
          </a:p>
          <a:p>
            <a:pPr marL="228600" indent="-228600">
              <a:buAutoNum type="arabicPeriod"/>
            </a:pPr>
            <a:r>
              <a:rPr lang="en-GB" sz="800" dirty="0"/>
              <a:t>Onsager, L. Crystal Statistics. I. A Two-Dimensional Model with an Order-Disorder Transition. </a:t>
            </a:r>
            <a:r>
              <a:rPr lang="en-GB" sz="800" i="1" dirty="0"/>
              <a:t>Phys. Rev.</a:t>
            </a:r>
            <a:r>
              <a:rPr lang="en-GB" sz="800" dirty="0"/>
              <a:t> </a:t>
            </a:r>
            <a:r>
              <a:rPr lang="en-GB" sz="800" b="1" dirty="0"/>
              <a:t>65</a:t>
            </a:r>
            <a:r>
              <a:rPr lang="en-GB" sz="800" dirty="0"/>
              <a:t>, 117–149 (1944). </a:t>
            </a:r>
            <a:r>
              <a:rPr lang="en-GB" sz="800" dirty="0">
                <a:hlinkClick r:id="rId6"/>
              </a:rPr>
              <a:t>https://doi.org/10.1103/PhysRev.65.117</a:t>
            </a:r>
            <a:endParaRPr lang="en-GB" sz="800" dirty="0"/>
          </a:p>
          <a:p>
            <a:pPr marL="228600" indent="-228600">
              <a:buAutoNum type="arabicPeriod"/>
            </a:pPr>
            <a:r>
              <a:rPr lang="en-GB" sz="800" dirty="0"/>
              <a:t>Metropolis, N., Rosenbluth, A., Rosenbluth, M., Teller, A., and Teller, E. (1953). Equations of state calculations by fast computing machines. J. Chem. Phys., 21(6): 10871092.</a:t>
            </a:r>
          </a:p>
          <a:p>
            <a:pPr marL="228600" indent="-228600">
              <a:buAutoNum type="arabicPeriod"/>
            </a:pPr>
            <a:r>
              <a:rPr lang="en-GB" sz="800" dirty="0"/>
              <a:t>Sakthivadivel, Dalton A. R. "Magnetisation and mean field theory in the Ising model." </a:t>
            </a:r>
            <a:r>
              <a:rPr lang="en-GB" sz="800" dirty="0" err="1"/>
              <a:t>SciPost</a:t>
            </a:r>
            <a:r>
              <a:rPr lang="en-GB" sz="800" dirty="0"/>
              <a:t> Physics Lecture Notes, vol. 35, 2022. </a:t>
            </a:r>
            <a:r>
              <a:rPr lang="en-GB" sz="800" dirty="0" err="1"/>
              <a:t>arXiv</a:t>
            </a:r>
            <a:r>
              <a:rPr lang="en-GB" sz="800" dirty="0"/>
              <a:t>, 2102.00960.</a:t>
            </a:r>
          </a:p>
          <a:p>
            <a:pPr marL="228600" indent="-228600">
              <a:buAutoNum type="arabicPeriod"/>
            </a:pPr>
            <a:r>
              <a:rPr lang="en-GB" sz="800" dirty="0"/>
              <a:t>Alexanian, Moorad. "Ansatz for the Two-Dimensional Ising Model in an External Magnetic Field." Armenian Journal of Physics, vol. 17, no. 3, 2024, pp. 52–57. doi:10.54503/18291171-2024.17.3-52.</a:t>
            </a:r>
          </a:p>
          <a:p>
            <a:r>
              <a:rPr lang="en-GB" sz="800" dirty="0"/>
              <a:t>Generative AI in the form of ChatGPT was occasionally used to improve clarity of writing only. </a:t>
            </a:r>
          </a:p>
        </p:txBody>
      </p:sp>
      <p:sp>
        <p:nvSpPr>
          <p:cNvPr id="9" name="Rectangle 8">
            <a:extLst>
              <a:ext uri="{FF2B5EF4-FFF2-40B4-BE49-F238E27FC236}">
                <a16:creationId xmlns:a16="http://schemas.microsoft.com/office/drawing/2014/main" id="{60732419-1607-08EF-287F-502F7E759522}"/>
              </a:ext>
            </a:extLst>
          </p:cNvPr>
          <p:cNvSpPr/>
          <p:nvPr/>
        </p:nvSpPr>
        <p:spPr>
          <a:xfrm>
            <a:off x="278636" y="1964483"/>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Introduction</a:t>
            </a:r>
          </a:p>
        </p:txBody>
      </p:sp>
      <p:sp>
        <p:nvSpPr>
          <p:cNvPr id="11" name="TextBox 10">
            <a:extLst>
              <a:ext uri="{FF2B5EF4-FFF2-40B4-BE49-F238E27FC236}">
                <a16:creationId xmlns:a16="http://schemas.microsoft.com/office/drawing/2014/main" id="{CC46B47A-7F22-70F1-2F51-0E777C31E36F}"/>
              </a:ext>
            </a:extLst>
          </p:cNvPr>
          <p:cNvSpPr txBox="1"/>
          <p:nvPr/>
        </p:nvSpPr>
        <p:spPr>
          <a:xfrm>
            <a:off x="271563" y="2741819"/>
            <a:ext cx="7056132" cy="3139321"/>
          </a:xfrm>
          <a:prstGeom prst="rect">
            <a:avLst/>
          </a:prstGeom>
          <a:noFill/>
        </p:spPr>
        <p:txBody>
          <a:bodyPr wrap="square" rtlCol="0">
            <a:spAutoFit/>
          </a:bodyPr>
          <a:lstStyle/>
          <a:p>
            <a:pPr marL="285750" indent="-285750">
              <a:buFont typeface="Arial" panose="020B0604020202020204" pitchFamily="34" charset="0"/>
              <a:buChar char="•"/>
            </a:pPr>
            <a:r>
              <a:rPr lang="en-GB" b="1" dirty="0"/>
              <a:t>Magnetism</a:t>
            </a:r>
            <a:r>
              <a:rPr lang="en-GB" dirty="0"/>
              <a:t> has long been central to technology, from early compasses to modern data storage. </a:t>
            </a:r>
          </a:p>
          <a:p>
            <a:pPr marL="285750" indent="-285750">
              <a:buFont typeface="Arial" panose="020B0604020202020204" pitchFamily="34" charset="0"/>
              <a:buChar char="•"/>
            </a:pPr>
            <a:r>
              <a:rPr lang="en-GB" dirty="0"/>
              <a:t>Many models successfully described</a:t>
            </a:r>
            <a:r>
              <a:rPr lang="en-GB" b="1" dirty="0"/>
              <a:t> ferromagnetism</a:t>
            </a:r>
            <a:r>
              <a:rPr lang="en-GB" dirty="0"/>
              <a:t>, such as </a:t>
            </a:r>
            <a:r>
              <a:rPr lang="en-GB" b="1" dirty="0"/>
              <a:t>Mean Field Theory (MFT) </a:t>
            </a:r>
            <a:r>
              <a:rPr lang="en-GB" dirty="0"/>
              <a:t>and the </a:t>
            </a:r>
            <a:r>
              <a:rPr lang="en-GB" b="1" dirty="0"/>
              <a:t>Heisenberg model</a:t>
            </a:r>
            <a:r>
              <a:rPr lang="en-GB" dirty="0"/>
              <a:t>, but the </a:t>
            </a:r>
            <a:r>
              <a:rPr lang="en-GB" b="1" dirty="0"/>
              <a:t>Ising model</a:t>
            </a:r>
            <a:r>
              <a:rPr lang="en-GB" dirty="0"/>
              <a:t> stands out for its </a:t>
            </a:r>
            <a:r>
              <a:rPr lang="en-GB" b="1" dirty="0"/>
              <a:t>simplicity</a:t>
            </a:r>
            <a:r>
              <a:rPr lang="en-GB" dirty="0"/>
              <a:t> and </a:t>
            </a:r>
            <a:r>
              <a:rPr lang="en-GB" b="1" dirty="0"/>
              <a:t>analytical tractability</a:t>
            </a:r>
            <a:r>
              <a:rPr lang="en-GB" dirty="0"/>
              <a:t>.</a:t>
            </a:r>
          </a:p>
          <a:p>
            <a:pPr marL="285750" indent="-285750">
              <a:buFont typeface="Arial" panose="020B0604020202020204" pitchFamily="34" charset="0"/>
              <a:buChar char="•"/>
            </a:pPr>
            <a:r>
              <a:rPr lang="en-GB" dirty="0"/>
              <a:t> Despite being simple, it captures key phenomena, such as</a:t>
            </a:r>
            <a:r>
              <a:rPr lang="en-GB" b="1" dirty="0"/>
              <a:t> phase transitions and critical temperatures</a:t>
            </a:r>
            <a:r>
              <a:rPr lang="en-GB" dirty="0"/>
              <a:t>, and is widely used even outside of physics e.g. to model financial markets. </a:t>
            </a:r>
          </a:p>
          <a:p>
            <a:pPr marL="285750" indent="-285750">
              <a:buFont typeface="Arial" panose="020B0604020202020204" pitchFamily="34" charset="0"/>
              <a:buChar char="•"/>
            </a:pPr>
            <a:r>
              <a:rPr lang="en-GB" dirty="0"/>
              <a:t>In this project, the </a:t>
            </a:r>
            <a:r>
              <a:rPr lang="en-GB" b="1" dirty="0"/>
              <a:t>Ising model </a:t>
            </a:r>
            <a:r>
              <a:rPr lang="en-GB" dirty="0"/>
              <a:t>is used to calculate the </a:t>
            </a:r>
            <a:r>
              <a:rPr lang="en-GB" b="1" dirty="0"/>
              <a:t>average magnetisation </a:t>
            </a:r>
            <a:r>
              <a:rPr lang="en-GB" dirty="0"/>
              <a:t>(at steady state) of a lattice when placed in an </a:t>
            </a:r>
            <a:r>
              <a:rPr lang="en-GB" b="1" dirty="0"/>
              <a:t>external field </a:t>
            </a:r>
          </a:p>
        </p:txBody>
      </p:sp>
      <p:sp>
        <p:nvSpPr>
          <p:cNvPr id="24" name="TextBox 23">
            <a:extLst>
              <a:ext uri="{FF2B5EF4-FFF2-40B4-BE49-F238E27FC236}">
                <a16:creationId xmlns:a16="http://schemas.microsoft.com/office/drawing/2014/main" id="{ECB44C8B-814D-A549-E693-2EB697128D0E}"/>
              </a:ext>
            </a:extLst>
          </p:cNvPr>
          <p:cNvSpPr txBox="1"/>
          <p:nvPr/>
        </p:nvSpPr>
        <p:spPr>
          <a:xfrm>
            <a:off x="11030388" y="2532933"/>
            <a:ext cx="3081884" cy="2369880"/>
          </a:xfrm>
          <a:prstGeom prst="rect">
            <a:avLst/>
          </a:prstGeom>
          <a:noFill/>
        </p:spPr>
        <p:txBody>
          <a:bodyPr wrap="square" rtlCol="0">
            <a:spAutoFit/>
          </a:bodyPr>
          <a:lstStyle/>
          <a:p>
            <a:r>
              <a:rPr lang="en-GB" sz="1600" dirty="0"/>
              <a:t>Fig. 1: </a:t>
            </a:r>
            <a:r>
              <a:rPr lang="en-GB" sz="1600" b="1" dirty="0"/>
              <a:t>Periodic lattice </a:t>
            </a:r>
            <a:r>
              <a:rPr lang="en-GB" sz="1600" dirty="0"/>
              <a:t>(i.e. edges wrap around) with randomly assigned spins. White = </a:t>
            </a:r>
            <a:r>
              <a:rPr lang="en-GB" sz="1600" b="1" dirty="0"/>
              <a:t>spin-up</a:t>
            </a:r>
            <a:r>
              <a:rPr lang="en-GB" sz="1600" dirty="0"/>
              <a:t>, Black = </a:t>
            </a:r>
            <a:r>
              <a:rPr lang="en-GB" sz="1600" b="1" dirty="0"/>
              <a:t>spin-down</a:t>
            </a:r>
            <a:r>
              <a:rPr lang="en-GB" sz="1600" dirty="0"/>
              <a:t> . </a:t>
            </a:r>
          </a:p>
          <a:p>
            <a:r>
              <a:rPr lang="en-GB" sz="1600" dirty="0"/>
              <a:t>The four </a:t>
            </a:r>
            <a:r>
              <a:rPr lang="en-GB" sz="1600" b="1" dirty="0"/>
              <a:t>nearest neighbours </a:t>
            </a:r>
            <a:r>
              <a:rPr lang="en-GB" sz="1600" dirty="0"/>
              <a:t>of the centre square are shown using red borders and numbers.</a:t>
            </a:r>
          </a:p>
          <a:p>
            <a:endParaRPr lang="en-GB" dirty="0"/>
          </a:p>
          <a:p>
            <a:endParaRPr lang="en-GB" dirty="0"/>
          </a:p>
        </p:txBody>
      </p:sp>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1B77C342-F817-90C7-6FA3-E22BC6091D38}"/>
                  </a:ext>
                </a:extLst>
              </p:cNvPr>
              <p:cNvSpPr txBox="1"/>
              <p:nvPr/>
            </p:nvSpPr>
            <p:spPr>
              <a:xfrm>
                <a:off x="7788273" y="6021089"/>
                <a:ext cx="6594475" cy="3614516"/>
              </a:xfrm>
              <a:prstGeom prst="rect">
                <a:avLst/>
              </a:prstGeom>
              <a:noFill/>
            </p:spPr>
            <p:txBody>
              <a:bodyPr wrap="square">
                <a:spAutoFit/>
              </a:bodyPr>
              <a:lstStyle/>
              <a:p>
                <a:pPr marL="285750" indent="-285750">
                  <a:buFont typeface="Arial" panose="020B0604020202020204" pitchFamily="34" charset="0"/>
                  <a:buChar char="•"/>
                </a:pPr>
                <a:r>
                  <a:rPr lang="en-GB" sz="1800" dirty="0"/>
                  <a:t>Even using a small lattice, checking each possible </a:t>
                </a:r>
                <a:r>
                  <a:rPr lang="en-GB" sz="1800" b="1" dirty="0"/>
                  <a:t>state configuration</a:t>
                </a:r>
                <a:r>
                  <a:rPr lang="en-GB" sz="1800" dirty="0"/>
                  <a:t> would be impossible</a:t>
                </a:r>
                <a:r>
                  <a:rPr lang="en-GB" dirty="0"/>
                  <a: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𝑥</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𝑦</m:t>
                            </m:r>
                          </m:sub>
                        </m:sSub>
                      </m:sup>
                    </m:sSup>
                    <m:r>
                      <a:rPr lang="en-GB" b="0" i="1" smtClean="0">
                        <a:latin typeface="Cambria Math" panose="02040503050406030204" pitchFamily="18" charset="0"/>
                      </a:rPr>
                      <m:t> </m:t>
                    </m:r>
                  </m:oMath>
                </a14:m>
                <a:r>
                  <a:rPr lang="en-GB" sz="1800" dirty="0"/>
                  <a:t>configurations)</a:t>
                </a:r>
              </a:p>
              <a:p>
                <a:pPr marL="285750" indent="-285750">
                  <a:buFont typeface="Arial" panose="020B0604020202020204" pitchFamily="34" charset="0"/>
                  <a:buChar char="•"/>
                </a:pPr>
                <a:r>
                  <a:rPr lang="en-GB" sz="1800" dirty="0"/>
                  <a:t>To address this, we remove configurations that are extremely unlikely</a:t>
                </a:r>
                <a:r>
                  <a:rPr lang="en-GB" dirty="0"/>
                  <a:t> </a:t>
                </a:r>
                <a:r>
                  <a:rPr lang="en-GB" sz="1800" dirty="0"/>
                  <a:t>by considering the </a:t>
                </a:r>
                <a:r>
                  <a:rPr lang="en-GB" sz="1800" b="1" dirty="0"/>
                  <a:t>partition function</a:t>
                </a:r>
                <a:r>
                  <a:rPr lang="en-GB" sz="1800" dirty="0"/>
                  <a:t>, </a:t>
                </a:r>
                <a14:m>
                  <m:oMath xmlns:m="http://schemas.openxmlformats.org/officeDocument/2006/math">
                    <m:r>
                      <a:rPr lang="en-GB" sz="1800" b="0" i="1" smtClean="0">
                        <a:latin typeface="Cambria Math" panose="02040503050406030204" pitchFamily="18" charset="0"/>
                      </a:rPr>
                      <m:t>𝑍</m:t>
                    </m:r>
                  </m:oMath>
                </a14:m>
                <a:r>
                  <a:rPr lang="en-GB" sz="1800" dirty="0"/>
                  <a:t>. </a:t>
                </a:r>
              </a:p>
              <a:p>
                <a:pPr marL="285750" indent="-285750">
                  <a:buFont typeface="Arial" panose="020B0604020202020204" pitchFamily="34" charset="0"/>
                  <a:buChar char="•"/>
                </a:pPr>
                <a:r>
                  <a:rPr lang="en-GB" sz="1800" dirty="0"/>
                  <a:t>This helps us determine which  states are </a:t>
                </a:r>
                <a:r>
                  <a:rPr lang="en-GB" sz="1800" b="1" dirty="0"/>
                  <a:t>most probable </a:t>
                </a:r>
                <a:r>
                  <a:rPr lang="en-GB" sz="1800" dirty="0"/>
                  <a:t>at a given temperature, so we can restrict our consideration to these configurations only. </a:t>
                </a:r>
              </a:p>
              <a:p>
                <a:pPr marL="285750" indent="-285750">
                  <a:buFont typeface="Arial" panose="020B0604020202020204" pitchFamily="34" charset="0"/>
                  <a:buChar char="•"/>
                </a:pPr>
                <a:r>
                  <a:rPr lang="en-GB" sz="1800" dirty="0"/>
                  <a:t>We define the </a:t>
                </a:r>
                <a:r>
                  <a:rPr lang="en-GB" sz="1800" b="1" dirty="0"/>
                  <a:t>partition function </a:t>
                </a:r>
                <a:r>
                  <a:rPr lang="en-GB" sz="1800" dirty="0"/>
                  <a:t>as </a:t>
                </a:r>
              </a:p>
              <a:p>
                <a:pPr/>
                <a14:m>
                  <m:oMathPara xmlns:m="http://schemas.openxmlformats.org/officeDocument/2006/math">
                    <m:oMathParaPr>
                      <m:jc m:val="centerGroup"/>
                    </m:oMathParaPr>
                    <m:oMath xmlns:m="http://schemas.openxmlformats.org/officeDocument/2006/math">
                      <m:r>
                        <a:rPr lang="en-GB" sz="2000" b="0" i="1" smtClean="0">
                          <a:latin typeface="Cambria Math" panose="02040503050406030204" pitchFamily="18" charset="0"/>
                        </a:rPr>
                        <m:t>𝑍</m:t>
                      </m:r>
                      <m:r>
                        <a:rPr lang="en-GB" sz="2000" b="0" i="1" smtClean="0">
                          <a:latin typeface="Cambria Math" panose="02040503050406030204" pitchFamily="18" charset="0"/>
                        </a:rPr>
                        <m:t>= </m:t>
                      </m:r>
                      <m:nary>
                        <m:naryPr>
                          <m:chr m:val="∑"/>
                          <m:supHide m:val="on"/>
                          <m:ctrlPr>
                            <a:rPr lang="en-GB" sz="2000" b="0" i="1" smtClean="0">
                              <a:latin typeface="Cambria Math" panose="02040503050406030204" pitchFamily="18" charset="0"/>
                            </a:rPr>
                          </m:ctrlPr>
                        </m:naryPr>
                        <m:sub>
                          <m:r>
                            <m:rPr>
                              <m:brk m:alnAt="7"/>
                            </m:rPr>
                            <a:rPr lang="en-GB" sz="2000" b="0" i="1" smtClean="0">
                              <a:latin typeface="Cambria Math" panose="02040503050406030204" pitchFamily="18" charset="0"/>
                            </a:rPr>
                            <m:t>𝑖</m:t>
                          </m:r>
                        </m:sub>
                        <m:sup/>
                        <m:e>
                          <m:r>
                            <m:rPr>
                              <m:sty m:val="p"/>
                            </m:rPr>
                            <a:rPr lang="en-GB" sz="2000" b="0" i="0" smtClean="0">
                              <a:latin typeface="Cambria Math" panose="02040503050406030204" pitchFamily="18" charset="0"/>
                            </a:rPr>
                            <m:t>exp</m:t>
                          </m:r>
                          <m:r>
                            <a:rPr lang="en-GB" sz="2000" b="0" i="1" smtClean="0">
                              <a:latin typeface="Cambria Math" panose="02040503050406030204" pitchFamily="18" charset="0"/>
                            </a:rPr>
                            <m:t>⁡</m:t>
                          </m:r>
                          <m:f>
                            <m:fPr>
                              <m:type m:val="skw"/>
                              <m:ctrlPr>
                                <a:rPr lang="en-GB" sz="2000" b="0" i="1" smtClean="0">
                                  <a:latin typeface="Cambria Math" panose="02040503050406030204" pitchFamily="18" charset="0"/>
                                </a:rPr>
                              </m:ctrlPr>
                            </m:fPr>
                            <m:num>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𝐸</m:t>
                                  </m:r>
                                </m:e>
                                <m:sub>
                                  <m:r>
                                    <a:rPr lang="en-GB" sz="2000" b="0" i="1" smtClean="0">
                                      <a:latin typeface="Cambria Math" panose="02040503050406030204" pitchFamily="18" charset="0"/>
                                    </a:rPr>
                                    <m:t>𝑖</m:t>
                                  </m:r>
                                </m:sub>
                              </m:sSub>
                            </m:num>
                            <m:den>
                              <m:r>
                                <a:rPr lang="en-GB" sz="2000" b="0" i="1" smtClean="0">
                                  <a:latin typeface="Cambria Math" panose="02040503050406030204" pitchFamily="18" charset="0"/>
                                </a:rPr>
                                <m:t>𝑘𝑇</m:t>
                              </m:r>
                            </m:den>
                          </m:f>
                        </m:e>
                      </m:nary>
                      <m:r>
                        <a:rPr lang="en-GB" sz="2000" b="0" i="0" smtClean="0">
                          <a:latin typeface="Cambria Math" panose="02040503050406030204" pitchFamily="18" charset="0"/>
                        </a:rPr>
                        <m:t>,</m:t>
                      </m:r>
                    </m:oMath>
                  </m:oMathPara>
                </a14:m>
                <a:endParaRPr lang="en-GB" sz="1800" dirty="0"/>
              </a:p>
              <a:p>
                <a:r>
                  <a:rPr lang="en-GB" sz="1800" dirty="0"/>
                  <a:t>where </a:t>
                </a:r>
                <a14:m>
                  <m:oMath xmlns:m="http://schemas.openxmlformats.org/officeDocument/2006/math">
                    <m:sSub>
                      <m:sSubPr>
                        <m:ctrlPr>
                          <a:rPr lang="en-GB" sz="1800" b="0" i="1" smtClean="0">
                            <a:latin typeface="Cambria Math" panose="02040503050406030204" pitchFamily="18" charset="0"/>
                          </a:rPr>
                        </m:ctrlPr>
                      </m:sSubPr>
                      <m:e>
                        <m:r>
                          <a:rPr lang="en-GB" sz="1800" b="0" i="1" smtClean="0">
                            <a:latin typeface="Cambria Math" panose="02040503050406030204" pitchFamily="18" charset="0"/>
                          </a:rPr>
                          <m:t>𝐸</m:t>
                        </m:r>
                      </m:e>
                      <m:sub>
                        <m:r>
                          <a:rPr lang="en-GB" sz="1800" b="0" i="1" smtClean="0">
                            <a:latin typeface="Cambria Math" panose="02040503050406030204" pitchFamily="18" charset="0"/>
                          </a:rPr>
                          <m:t>𝑖</m:t>
                        </m:r>
                      </m:sub>
                    </m:sSub>
                  </m:oMath>
                </a14:m>
                <a:r>
                  <a:rPr lang="en-GB" sz="1800" dirty="0"/>
                  <a:t> is the energy of state </a:t>
                </a:r>
                <a14:m>
                  <m:oMath xmlns:m="http://schemas.openxmlformats.org/officeDocument/2006/math">
                    <m:r>
                      <a:rPr lang="en-GB" sz="1800" b="0" i="1" smtClean="0">
                        <a:latin typeface="Cambria Math" panose="02040503050406030204" pitchFamily="18" charset="0"/>
                      </a:rPr>
                      <m:t>𝑖</m:t>
                    </m:r>
                  </m:oMath>
                </a14:m>
                <a:r>
                  <a:rPr lang="en-GB" sz="1800" dirty="0">
                    <a:ea typeface="Cambria Math" panose="02040503050406030204" pitchFamily="18" charset="0"/>
                  </a:rPr>
                  <a:t>, </a:t>
                </a:r>
                <a14:m>
                  <m:oMath xmlns:m="http://schemas.openxmlformats.org/officeDocument/2006/math">
                    <m:r>
                      <a:rPr lang="en-GB" sz="1800" b="0" i="1" smtClean="0">
                        <a:latin typeface="Cambria Math" panose="02040503050406030204" pitchFamily="18" charset="0"/>
                        <a:ea typeface="Cambria Math" panose="02040503050406030204" pitchFamily="18" charset="0"/>
                      </a:rPr>
                      <m:t>𝑘</m:t>
                    </m:r>
                  </m:oMath>
                </a14:m>
                <a:r>
                  <a:rPr lang="en-GB" sz="1800" dirty="0">
                    <a:ea typeface="Cambria Math" panose="02040503050406030204" pitchFamily="18" charset="0"/>
                  </a:rPr>
                  <a:t> is the Boltzmann constant, and T is the temperature of the system.</a:t>
                </a:r>
              </a:p>
            </p:txBody>
          </p:sp>
        </mc:Choice>
        <mc:Fallback>
          <p:sp>
            <p:nvSpPr>
              <p:cNvPr id="38" name="TextBox 37">
                <a:extLst>
                  <a:ext uri="{FF2B5EF4-FFF2-40B4-BE49-F238E27FC236}">
                    <a16:creationId xmlns:a16="http://schemas.microsoft.com/office/drawing/2014/main" id="{1B77C342-F817-90C7-6FA3-E22BC6091D38}"/>
                  </a:ext>
                </a:extLst>
              </p:cNvPr>
              <p:cNvSpPr txBox="1">
                <a:spLocks noRot="1" noChangeAspect="1" noMove="1" noResize="1" noEditPoints="1" noAdjustHandles="1" noChangeArrowheads="1" noChangeShapeType="1" noTextEdit="1"/>
              </p:cNvSpPr>
              <p:nvPr/>
            </p:nvSpPr>
            <p:spPr>
              <a:xfrm>
                <a:off x="7788273" y="6021089"/>
                <a:ext cx="6594475" cy="3614516"/>
              </a:xfrm>
              <a:prstGeom prst="rect">
                <a:avLst/>
              </a:prstGeom>
              <a:blipFill>
                <a:blip r:embed="rId7"/>
                <a:stretch>
                  <a:fillRect l="-833" t="-843" r="-1203" b="-185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3EE8980-F84E-34FF-6168-904CBE8B83A2}"/>
                  </a:ext>
                </a:extLst>
              </p:cNvPr>
              <p:cNvSpPr txBox="1"/>
              <p:nvPr/>
            </p:nvSpPr>
            <p:spPr>
              <a:xfrm>
                <a:off x="7678029" y="10317907"/>
                <a:ext cx="6704718" cy="4801443"/>
              </a:xfrm>
              <a:prstGeom prst="rect">
                <a:avLst/>
              </a:prstGeom>
              <a:noFill/>
            </p:spPr>
            <p:txBody>
              <a:bodyPr wrap="square">
                <a:spAutoFit/>
              </a:bodyPr>
              <a:lstStyle/>
              <a:p>
                <a:pPr marL="285750" indent="-285750">
                  <a:buFont typeface="Arial" panose="020B0604020202020204" pitchFamily="34" charset="0"/>
                  <a:buChar char="•"/>
                </a:pPr>
                <a:r>
                  <a:rPr lang="en-GB" dirty="0"/>
                  <a:t>To update the lattice, we flip a chosen spin and calculate the resulting </a:t>
                </a:r>
                <a:r>
                  <a:rPr lang="en-GB" b="1" dirty="0"/>
                  <a:t>energy change</a:t>
                </a:r>
                <a:r>
                  <a:rPr lang="en-GB" dirty="0"/>
                  <a:t>, </a:t>
                </a:r>
                <a14:m>
                  <m:oMath xmlns:m="http://schemas.openxmlformats.org/officeDocument/2006/math">
                    <m:r>
                      <m:rPr>
                        <m:sty m:val="p"/>
                      </m:rPr>
                      <a:rPr lang="en-GB">
                        <a:latin typeface="Cambria Math" panose="02040503050406030204" pitchFamily="18" charset="0"/>
                        <a:cs typeface="Times New Roman" panose="02020603050405020304" pitchFamily="18" charset="0"/>
                      </a:rPr>
                      <m:t>Δ</m:t>
                    </m:r>
                    <m:r>
                      <a:rPr lang="en-GB" i="1">
                        <a:latin typeface="Cambria Math" panose="02040503050406030204" pitchFamily="18" charset="0"/>
                        <a:cs typeface="Times New Roman" panose="02020603050405020304" pitchFamily="18" charset="0"/>
                      </a:rPr>
                      <m:t>𝐸</m:t>
                    </m:r>
                    <m:r>
                      <a:rPr lang="en-GB" i="1">
                        <a:latin typeface="Cambria Math" panose="02040503050406030204" pitchFamily="18" charset="0"/>
                        <a:cs typeface="Times New Roman" panose="02020603050405020304" pitchFamily="18" charset="0"/>
                      </a:rPr>
                      <m:t>=−2</m:t>
                    </m:r>
                    <m:d>
                      <m:dPr>
                        <m:begChr m:val="["/>
                        <m:endChr m:val="]"/>
                        <m:ctrlPr>
                          <a:rPr lang="en-GB" i="1">
                            <a:latin typeface="Cambria Math" panose="02040503050406030204" pitchFamily="18" charset="0"/>
                            <a:cs typeface="Times New Roman" panose="02020603050405020304" pitchFamily="18" charset="0"/>
                          </a:rPr>
                        </m:ctrlPr>
                      </m:dPr>
                      <m:e>
                        <m:r>
                          <a:rPr lang="en-GB" i="1">
                            <a:latin typeface="Cambria Math" panose="02040503050406030204" pitchFamily="18" charset="0"/>
                            <a:cs typeface="Times New Roman" panose="02020603050405020304" pitchFamily="18" charset="0"/>
                          </a:rPr>
                          <m:t>𝐽𝑓</m:t>
                        </m:r>
                        <m:r>
                          <a:rPr lang="en-GB" i="1">
                            <a:latin typeface="Cambria Math" panose="02040503050406030204" pitchFamily="18" charset="0"/>
                            <a:cs typeface="Times New Roman" panose="02020603050405020304" pitchFamily="18" charset="0"/>
                          </a:rPr>
                          <m:t>+</m:t>
                        </m:r>
                        <m:r>
                          <a:rPr lang="en-GB" i="1">
                            <a:latin typeface="Cambria Math" panose="02040503050406030204" pitchFamily="18" charset="0"/>
                            <a:cs typeface="Times New Roman" panose="02020603050405020304" pitchFamily="18" charset="0"/>
                          </a:rPr>
                          <m:t>𝐵</m:t>
                        </m:r>
                      </m:e>
                    </m:d>
                    <m:sSub>
                      <m:sSubPr>
                        <m:ctrlPr>
                          <a:rPr lang="en-GB" i="1">
                            <a:latin typeface="Cambria Math" panose="02040503050406030204" pitchFamily="18" charset="0"/>
                            <a:cs typeface="Times New Roman" panose="02020603050405020304" pitchFamily="18" charset="0"/>
                          </a:rPr>
                        </m:ctrlPr>
                      </m:sSubPr>
                      <m:e>
                        <m:r>
                          <a:rPr lang="en-GB" i="1">
                            <a:latin typeface="Cambria Math" panose="02040503050406030204" pitchFamily="18" charset="0"/>
                            <a:cs typeface="Times New Roman" panose="02020603050405020304" pitchFamily="18" charset="0"/>
                          </a:rPr>
                          <m:t>𝑆</m:t>
                        </m:r>
                      </m:e>
                      <m:sub>
                        <m:r>
                          <m:rPr>
                            <m:sty m:val="p"/>
                          </m:rPr>
                          <a:rPr lang="en-GB" i="1">
                            <a:latin typeface="Cambria Math" panose="02040503050406030204" pitchFamily="18" charset="0"/>
                            <a:cs typeface="Times New Roman" panose="02020603050405020304" pitchFamily="18" charset="0"/>
                          </a:rPr>
                          <m:t>α</m:t>
                        </m:r>
                      </m:sub>
                    </m:sSub>
                    <m:r>
                      <a:rPr lang="en-GB" b="0" i="0" smtClean="0">
                        <a:latin typeface="Cambria Math" panose="02040503050406030204" pitchFamily="18" charset="0"/>
                        <a:cs typeface="Times New Roman" panose="02020603050405020304" pitchFamily="18" charset="0"/>
                      </a:rPr>
                      <m:t>.</m:t>
                    </m:r>
                  </m:oMath>
                </a14:m>
                <a:r>
                  <a:rPr lang="en-GB" dirty="0"/>
                  <a:t> We use this to gauge how likely this flip is to occur.</a:t>
                </a:r>
              </a:p>
              <a:p>
                <a:pPr marL="742950" lvl="1" indent="-285750">
                  <a:buFont typeface="Arial" panose="020B0604020202020204" pitchFamily="34" charset="0"/>
                  <a:buChar char="•"/>
                </a:pPr>
                <a:r>
                  <a:rPr lang="en-GB" dirty="0"/>
                  <a:t>f is the sum of the </a:t>
                </a:r>
                <a:r>
                  <a:rPr lang="en-GB" b="1" dirty="0"/>
                  <a:t>four neighbouring spins</a:t>
                </a:r>
                <a:r>
                  <a:rPr lang="en-GB" dirty="0"/>
                  <a:t>.</a:t>
                </a:r>
              </a:p>
              <a:p>
                <a:pPr marL="742950" lvl="1" indent="-285750">
                  <a:buFont typeface="Arial" panose="020B0604020202020204" pitchFamily="34" charset="0"/>
                  <a:buChar char="•"/>
                </a:pPr>
                <a:r>
                  <a:rPr lang="en-GB" dirty="0"/>
                  <a:t> The negative sign ensures that aligned spins correspond to lower energy.</a:t>
                </a:r>
              </a:p>
              <a:p>
                <a:pPr marL="285750" indent="-285750">
                  <a:buFont typeface="Arial" panose="020B0604020202020204" pitchFamily="34" charset="0"/>
                  <a:buChar char="•"/>
                </a:pPr>
                <a:r>
                  <a:rPr lang="en-GB" dirty="0"/>
                  <a:t>We then decide whether to keep the flip using the </a:t>
                </a:r>
                <a:r>
                  <a:rPr lang="en-GB" b="1" dirty="0"/>
                  <a:t>Metropolis criterion</a:t>
                </a:r>
                <a:r>
                  <a:rPr lang="en-GB" dirty="0"/>
                  <a:t>:</a:t>
                </a:r>
              </a:p>
              <a:p>
                <a:pPr marL="742950" lvl="1" indent="-285750">
                  <a:buFont typeface="Wingdings" panose="05000000000000000000" pitchFamily="2" charset="2"/>
                  <a:buChar char="v"/>
                </a:pPr>
                <a:r>
                  <a:rPr lang="en-GB" dirty="0">
                    <a:cs typeface="Times New Roman" panose="02020603050405020304" pitchFamily="18" charset="0"/>
                  </a:rPr>
                  <a:t>If </a:t>
                </a:r>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exp</m:t>
                        </m:r>
                      </m:fName>
                      <m:e>
                        <m:d>
                          <m:dPr>
                            <m:ctrlPr>
                              <a:rPr lang="en-GB" i="1">
                                <a:latin typeface="Cambria Math" panose="02040503050406030204" pitchFamily="18" charset="0"/>
                              </a:rPr>
                            </m:ctrlPr>
                          </m:dPr>
                          <m:e>
                            <m:f>
                              <m:fPr>
                                <m:type m:val="skw"/>
                                <m:ctrlPr>
                                  <a:rPr lang="en-GB" i="1">
                                    <a:latin typeface="Cambria Math" panose="02040503050406030204" pitchFamily="18" charset="0"/>
                                  </a:rPr>
                                </m:ctrlPr>
                              </m:fPr>
                              <m:num>
                                <m:r>
                                  <m:rPr>
                                    <m:sty m:val="p"/>
                                  </m:rPr>
                                  <a:rPr lang="en-GB">
                                    <a:latin typeface="Cambria Math" panose="02040503050406030204" pitchFamily="18" charset="0"/>
                                  </a:rPr>
                                  <m:t>Δ</m:t>
                                </m:r>
                                <m:r>
                                  <a:rPr lang="en-GB" i="1">
                                    <a:latin typeface="Cambria Math" panose="02040503050406030204" pitchFamily="18" charset="0"/>
                                  </a:rPr>
                                  <m:t>𝐸</m:t>
                                </m:r>
                              </m:num>
                              <m:den>
                                <m:r>
                                  <a:rPr lang="en-GB" i="1">
                                    <a:latin typeface="Cambria Math" panose="02040503050406030204" pitchFamily="18" charset="0"/>
                                  </a:rPr>
                                  <m:t>𝑘𝑇</m:t>
                                </m:r>
                              </m:den>
                            </m:f>
                          </m:e>
                        </m:d>
                      </m:e>
                    </m:func>
                    <m:r>
                      <a:rPr lang="en-GB" i="1">
                        <a:latin typeface="Cambria Math" panose="02040503050406030204" pitchFamily="18" charset="0"/>
                      </a:rPr>
                      <m:t>&gt;1  </m:t>
                    </m:r>
                  </m:oMath>
                </a14:m>
                <a:r>
                  <a:rPr lang="en-GB" dirty="0">
                    <a:cs typeface="Times New Roman" panose="02020603050405020304" pitchFamily="18" charset="0"/>
                  </a:rPr>
                  <a:t>keep the flipped spin</a:t>
                </a:r>
              </a:p>
              <a:p>
                <a:pPr marL="742950" lvl="1" indent="-285750">
                  <a:buFont typeface="Wingdings" panose="05000000000000000000" pitchFamily="2" charset="2"/>
                  <a:buChar char="v"/>
                </a:pPr>
                <a:r>
                  <a:rPr lang="en-GB" dirty="0"/>
                  <a:t>Otherwise, generate a random number, </a:t>
                </a:r>
                <a14:m>
                  <m:oMath xmlns:m="http://schemas.openxmlformats.org/officeDocument/2006/math">
                    <m:r>
                      <a:rPr lang="en-GB" i="1" dirty="0">
                        <a:latin typeface="Cambria Math" panose="02040503050406030204" pitchFamily="18" charset="0"/>
                      </a:rPr>
                      <m:t>𝑛</m:t>
                    </m:r>
                    <m:r>
                      <a:rPr lang="en-GB" i="1" dirty="0">
                        <a:latin typeface="Cambria Math" panose="02040503050406030204" pitchFamily="18" charset="0"/>
                      </a:rPr>
                      <m:t> ∈ [0,1]</m:t>
                    </m:r>
                  </m:oMath>
                </a14:m>
                <a:r>
                  <a:rPr lang="en-GB" dirty="0">
                    <a:cs typeface="Times New Roman" panose="02020603050405020304" pitchFamily="18" charset="0"/>
                  </a:rPr>
                  <a:t>. </a:t>
                </a:r>
                <a:r>
                  <a:rPr lang="en-GB" dirty="0"/>
                  <a:t>If </a:t>
                </a:r>
                <a:endParaRPr lang="en-GB" i="1" dirty="0">
                  <a:latin typeface="Cambria Math" panose="02040503050406030204" pitchFamily="18" charset="0"/>
                </a:endParaRPr>
              </a:p>
              <a:p>
                <a:pPr lvl="1"/>
                <a14:m>
                  <m:oMath xmlns:m="http://schemas.openxmlformats.org/officeDocument/2006/math">
                    <m:r>
                      <a:rPr lang="en-GB" i="1" dirty="0">
                        <a:latin typeface="Cambria Math" panose="02040503050406030204" pitchFamily="18" charset="0"/>
                      </a:rPr>
                      <m:t>      </m:t>
                    </m:r>
                    <m:r>
                      <m:rPr>
                        <m:sty m:val="p"/>
                      </m:rPr>
                      <a:rPr lang="en-GB" i="1" dirty="0">
                        <a:latin typeface="Cambria Math" panose="02040503050406030204" pitchFamily="18" charset="0"/>
                      </a:rPr>
                      <m:t>exp</m:t>
                    </m:r>
                    <m:r>
                      <a:rPr lang="en-GB" i="1" dirty="0">
                        <a:latin typeface="Cambria Math" panose="02040503050406030204" pitchFamily="18" charset="0"/>
                      </a:rPr>
                      <m:t>⁡(−</m:t>
                    </m:r>
                    <m:r>
                      <m:rPr>
                        <m:sty m:val="p"/>
                      </m:rPr>
                      <a:rPr lang="en-GB" dirty="0">
                        <a:latin typeface="Cambria Math" panose="02040503050406030204" pitchFamily="18" charset="0"/>
                      </a:rPr>
                      <m:t>Δ</m:t>
                    </m:r>
                    <m:r>
                      <a:rPr lang="en-GB" i="1" dirty="0">
                        <a:latin typeface="Cambria Math" panose="02040503050406030204" pitchFamily="18" charset="0"/>
                      </a:rPr>
                      <m:t>𝐸</m:t>
                    </m:r>
                    <m:r>
                      <a:rPr lang="en-GB" i="1" dirty="0">
                        <a:latin typeface="Cambria Math" panose="02040503050406030204" pitchFamily="18" charset="0"/>
                      </a:rPr>
                      <m:t>/</m:t>
                    </m:r>
                    <m:r>
                      <a:rPr lang="en-GB" i="1" dirty="0">
                        <a:latin typeface="Cambria Math" panose="02040503050406030204" pitchFamily="18" charset="0"/>
                      </a:rPr>
                      <m:t>𝑘𝑇</m:t>
                    </m:r>
                    <m:r>
                      <a:rPr lang="en-GB" i="1" dirty="0">
                        <a:latin typeface="Cambria Math" panose="02040503050406030204" pitchFamily="18" charset="0"/>
                      </a:rPr>
                      <m:t>)&gt;</m:t>
                    </m:r>
                    <m:r>
                      <a:rPr lang="en-GB" i="1" dirty="0">
                        <a:latin typeface="Cambria Math" panose="02040503050406030204" pitchFamily="18" charset="0"/>
                      </a:rPr>
                      <m:t>𝑛</m:t>
                    </m:r>
                  </m:oMath>
                </a14:m>
                <a:r>
                  <a:rPr lang="en-GB" dirty="0"/>
                  <a:t>, keep the flip.</a:t>
                </a:r>
              </a:p>
              <a:p>
                <a:pPr marL="742950" lvl="1" indent="-285750">
                  <a:buFont typeface="Wingdings" panose="05000000000000000000" pitchFamily="2" charset="2"/>
                  <a:buChar char="v"/>
                </a:pPr>
                <a:r>
                  <a:rPr lang="en-GB" dirty="0"/>
                  <a:t>If neither condition is met, revert the flip back.</a:t>
                </a:r>
              </a:p>
              <a:p>
                <a:endParaRPr lang="en-GB" dirty="0"/>
              </a:p>
              <a:p>
                <a:pPr marL="285750" indent="-285750">
                  <a:buFont typeface="Arial" panose="020B0604020202020204" pitchFamily="34" charset="0"/>
                  <a:buChar char="•"/>
                </a:pPr>
                <a:r>
                  <a:rPr lang="en-GB" dirty="0"/>
                  <a:t>This procedure is repeated for every lattice point (a </a:t>
                </a:r>
                <a:r>
                  <a:rPr lang="en-GB" b="1" dirty="0"/>
                  <a:t>full sweep</a:t>
                </a:r>
                <a:r>
                  <a:rPr lang="en-GB" dirty="0"/>
                  <a:t>), using </a:t>
                </a:r>
                <a:r>
                  <a:rPr lang="en-GB" b="1" dirty="0"/>
                  <a:t>periodic boundary conditions</a:t>
                </a:r>
                <a:r>
                  <a:rPr lang="en-GB" dirty="0"/>
                  <a:t>. Together, these steps form the </a:t>
                </a:r>
                <a:r>
                  <a:rPr lang="en-GB" b="1" dirty="0"/>
                  <a:t>Metropolis algorithm </a:t>
                </a:r>
                <a:r>
                  <a:rPr lang="en-GB" dirty="0"/>
                  <a:t>[3].</a:t>
                </a:r>
              </a:p>
              <a:p>
                <a:endParaRPr lang="en-GB" sz="1800" dirty="0">
                  <a:cs typeface="Times New Roman" panose="02020603050405020304" pitchFamily="18" charset="0"/>
                </a:endParaRPr>
              </a:p>
            </p:txBody>
          </p:sp>
        </mc:Choice>
        <mc:Fallback>
          <p:sp>
            <p:nvSpPr>
              <p:cNvPr id="40" name="TextBox 39">
                <a:extLst>
                  <a:ext uri="{FF2B5EF4-FFF2-40B4-BE49-F238E27FC236}">
                    <a16:creationId xmlns:a16="http://schemas.microsoft.com/office/drawing/2014/main" id="{13EE8980-F84E-34FF-6168-904CBE8B83A2}"/>
                  </a:ext>
                </a:extLst>
              </p:cNvPr>
              <p:cNvSpPr txBox="1">
                <a:spLocks noRot="1" noChangeAspect="1" noMove="1" noResize="1" noEditPoints="1" noAdjustHandles="1" noChangeArrowheads="1" noChangeShapeType="1" noTextEdit="1"/>
              </p:cNvSpPr>
              <p:nvPr/>
            </p:nvSpPr>
            <p:spPr>
              <a:xfrm>
                <a:off x="7678029" y="10317907"/>
                <a:ext cx="6704718" cy="4801443"/>
              </a:xfrm>
              <a:prstGeom prst="rect">
                <a:avLst/>
              </a:prstGeom>
              <a:blipFill>
                <a:blip r:embed="rId8"/>
                <a:stretch>
                  <a:fillRect l="-637" t="-635" r="-127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15BFE9C1-4D41-9AD2-404D-FC87C197EAA9}"/>
                  </a:ext>
                </a:extLst>
              </p:cNvPr>
              <p:cNvGraphicFramePr>
                <a:graphicFrameLocks noGrp="1"/>
              </p:cNvGraphicFramePr>
              <p:nvPr/>
            </p:nvGraphicFramePr>
            <p:xfrm>
              <a:off x="16884088" y="5080779"/>
              <a:ext cx="4281410" cy="1656410"/>
            </p:xfrm>
            <a:graphic>
              <a:graphicData uri="http://schemas.openxmlformats.org/drawingml/2006/table">
                <a:tbl>
                  <a:tblPr firstRow="1" bandRow="1">
                    <a:tableStyleId>{5C22544A-7EE6-4342-B048-85BDC9FD1C3A}</a:tableStyleId>
                  </a:tblPr>
                  <a:tblGrid>
                    <a:gridCol w="2140705">
                      <a:extLst>
                        <a:ext uri="{9D8B030D-6E8A-4147-A177-3AD203B41FA5}">
                          <a16:colId xmlns:a16="http://schemas.microsoft.com/office/drawing/2014/main" val="2898089824"/>
                        </a:ext>
                      </a:extLst>
                    </a:gridCol>
                    <a:gridCol w="2140705">
                      <a:extLst>
                        <a:ext uri="{9D8B030D-6E8A-4147-A177-3AD203B41FA5}">
                          <a16:colId xmlns:a16="http://schemas.microsoft.com/office/drawing/2014/main" val="1112678819"/>
                        </a:ext>
                      </a:extLst>
                    </a:gridCol>
                  </a:tblGrid>
                  <a:tr h="406730">
                    <a:tc>
                      <a:txBody>
                        <a:bodyPr/>
                        <a:lstStyle/>
                        <a:p>
                          <a:r>
                            <a:rPr lang="en-GB" sz="1600" dirty="0"/>
                            <a:t>Model</a:t>
                          </a:r>
                        </a:p>
                      </a:txBody>
                      <a:tcPr/>
                    </a:tc>
                    <a:tc>
                      <a:txBody>
                        <a:bodyPr/>
                        <a:lstStyle/>
                        <a:p>
                          <a:pPr/>
                          <a14:m>
                            <m:oMathPara xmlns:m="http://schemas.openxmlformats.org/officeDocument/2006/math">
                              <m:oMathParaPr>
                                <m:jc m:val="centerGroup"/>
                              </m:oMathParaPr>
                              <m:oMath xmlns:m="http://schemas.openxmlformats.org/officeDocument/2006/math">
                                <m:r>
                                  <a:rPr lang="en-GB" sz="1600" b="1" i="1" smtClean="0">
                                    <a:latin typeface="Cambria Math" panose="02040503050406030204" pitchFamily="18" charset="0"/>
                                  </a:rPr>
                                  <m:t>&lt;</m:t>
                                </m:r>
                                <m:r>
                                  <a:rPr lang="en-GB" sz="1600" b="1" i="1" smtClean="0">
                                    <a:latin typeface="Cambria Math" panose="02040503050406030204" pitchFamily="18" charset="0"/>
                                  </a:rPr>
                                  <m:t>𝒎</m:t>
                                </m:r>
                                <m:r>
                                  <a:rPr lang="en-GB" sz="1600" b="1" i="1" smtClean="0">
                                    <a:latin typeface="Cambria Math" panose="02040503050406030204" pitchFamily="18" charset="0"/>
                                  </a:rPr>
                                  <m:t>&gt;</m:t>
                                </m:r>
                              </m:oMath>
                            </m:oMathPara>
                          </a14:m>
                          <a:endParaRPr lang="en-GB" sz="1600" dirty="0"/>
                        </a:p>
                      </a:txBody>
                      <a:tcPr/>
                    </a:tc>
                    <a:extLst>
                      <a:ext uri="{0D108BD9-81ED-4DB2-BD59-A6C34878D82A}">
                        <a16:rowId xmlns:a16="http://schemas.microsoft.com/office/drawing/2014/main" val="3228848662"/>
                      </a:ext>
                    </a:extLst>
                  </a:tr>
                  <a:tr h="531470">
                    <a:tc>
                      <a:txBody>
                        <a:bodyPr/>
                        <a:lstStyle/>
                        <a:p>
                          <a:r>
                            <a:rPr lang="en-GB" sz="1600" dirty="0"/>
                            <a:t>Ising model (simulation)</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−0.936±0.003</m:t>
                                </m:r>
                              </m:oMath>
                            </m:oMathPara>
                          </a14:m>
                          <a:endParaRPr lang="en-GB" sz="1600" dirty="0"/>
                        </a:p>
                      </a:txBody>
                      <a:tcPr/>
                    </a:tc>
                    <a:extLst>
                      <a:ext uri="{0D108BD9-81ED-4DB2-BD59-A6C34878D82A}">
                        <a16:rowId xmlns:a16="http://schemas.microsoft.com/office/drawing/2014/main" val="2020091684"/>
                      </a:ext>
                    </a:extLst>
                  </a:tr>
                  <a:tr h="307693">
                    <a:tc>
                      <a:txBody>
                        <a:bodyPr/>
                        <a:lstStyle/>
                        <a:p>
                          <a:r>
                            <a:rPr lang="en-GB" sz="1600" dirty="0"/>
                            <a:t>Mean Field Theory</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~−0.96</m:t>
                                </m:r>
                              </m:oMath>
                            </m:oMathPara>
                          </a14:m>
                          <a:endParaRPr lang="en-GB" sz="1600" dirty="0"/>
                        </a:p>
                      </a:txBody>
                      <a:tcPr/>
                    </a:tc>
                    <a:extLst>
                      <a:ext uri="{0D108BD9-81ED-4DB2-BD59-A6C34878D82A}">
                        <a16:rowId xmlns:a16="http://schemas.microsoft.com/office/drawing/2014/main" val="4284135551"/>
                      </a:ext>
                    </a:extLst>
                  </a:tr>
                  <a:tr h="307693">
                    <a:tc>
                      <a:txBody>
                        <a:bodyPr/>
                        <a:lstStyle/>
                        <a:p>
                          <a:r>
                            <a:rPr lang="en-GB" sz="1600" dirty="0"/>
                            <a:t>Ising model (Ansatz)</a:t>
                          </a:r>
                        </a:p>
                      </a:txBody>
                      <a:tcPr/>
                    </a:tc>
                    <a:tc>
                      <a:txBody>
                        <a:bodyPr/>
                        <a:lstStyle/>
                        <a:p>
                          <a:pPr/>
                          <a14:m>
                            <m:oMathPara xmlns:m="http://schemas.openxmlformats.org/officeDocument/2006/math">
                              <m:oMathParaPr>
                                <m:jc m:val="centerGroup"/>
                              </m:oMathParaPr>
                              <m:oMath xmlns:m="http://schemas.openxmlformats.org/officeDocument/2006/math">
                                <m:r>
                                  <a:rPr lang="en-GB" sz="1600" b="0" i="1" smtClean="0">
                                    <a:latin typeface="Cambria Math" panose="02040503050406030204" pitchFamily="18" charset="0"/>
                                  </a:rPr>
                                  <m:t>~ −0.92</m:t>
                                </m:r>
                              </m:oMath>
                            </m:oMathPara>
                          </a14:m>
                          <a:endParaRPr lang="en-GB" sz="1600" dirty="0"/>
                        </a:p>
                      </a:txBody>
                      <a:tcPr/>
                    </a:tc>
                    <a:extLst>
                      <a:ext uri="{0D108BD9-81ED-4DB2-BD59-A6C34878D82A}">
                        <a16:rowId xmlns:a16="http://schemas.microsoft.com/office/drawing/2014/main" val="2464869283"/>
                      </a:ext>
                    </a:extLst>
                  </a:tr>
                </a:tbl>
              </a:graphicData>
            </a:graphic>
          </p:graphicFrame>
        </mc:Choice>
        <mc:Fallback>
          <p:graphicFrame>
            <p:nvGraphicFramePr>
              <p:cNvPr id="2" name="Table 1">
                <a:extLst>
                  <a:ext uri="{FF2B5EF4-FFF2-40B4-BE49-F238E27FC236}">
                    <a16:creationId xmlns:a16="http://schemas.microsoft.com/office/drawing/2014/main" id="{15BFE9C1-4D41-9AD2-404D-FC87C197EAA9}"/>
                  </a:ext>
                </a:extLst>
              </p:cNvPr>
              <p:cNvGraphicFramePr>
                <a:graphicFrameLocks noGrp="1"/>
              </p:cNvGraphicFramePr>
              <p:nvPr/>
            </p:nvGraphicFramePr>
            <p:xfrm>
              <a:off x="16884088" y="5080779"/>
              <a:ext cx="4281410" cy="1656410"/>
            </p:xfrm>
            <a:graphic>
              <a:graphicData uri="http://schemas.openxmlformats.org/drawingml/2006/table">
                <a:tbl>
                  <a:tblPr firstRow="1" bandRow="1">
                    <a:tableStyleId>{5C22544A-7EE6-4342-B048-85BDC9FD1C3A}</a:tableStyleId>
                  </a:tblPr>
                  <a:tblGrid>
                    <a:gridCol w="2140705">
                      <a:extLst>
                        <a:ext uri="{9D8B030D-6E8A-4147-A177-3AD203B41FA5}">
                          <a16:colId xmlns:a16="http://schemas.microsoft.com/office/drawing/2014/main" val="2898089824"/>
                        </a:ext>
                      </a:extLst>
                    </a:gridCol>
                    <a:gridCol w="2140705">
                      <a:extLst>
                        <a:ext uri="{9D8B030D-6E8A-4147-A177-3AD203B41FA5}">
                          <a16:colId xmlns:a16="http://schemas.microsoft.com/office/drawing/2014/main" val="1112678819"/>
                        </a:ext>
                      </a:extLst>
                    </a:gridCol>
                  </a:tblGrid>
                  <a:tr h="406730">
                    <a:tc>
                      <a:txBody>
                        <a:bodyPr/>
                        <a:lstStyle/>
                        <a:p>
                          <a:r>
                            <a:rPr lang="en-GB" sz="1600" dirty="0"/>
                            <a:t>Model</a:t>
                          </a:r>
                        </a:p>
                      </a:txBody>
                      <a:tcPr/>
                    </a:tc>
                    <a:tc>
                      <a:txBody>
                        <a:bodyPr/>
                        <a:lstStyle/>
                        <a:p>
                          <a:endParaRPr lang="en-US"/>
                        </a:p>
                      </a:txBody>
                      <a:tcPr>
                        <a:blipFill>
                          <a:blip r:embed="rId9"/>
                          <a:stretch>
                            <a:fillRect l="-100284" t="-4478" r="-1136" b="-325373"/>
                          </a:stretch>
                        </a:blipFill>
                      </a:tcPr>
                    </a:tc>
                    <a:extLst>
                      <a:ext uri="{0D108BD9-81ED-4DB2-BD59-A6C34878D82A}">
                        <a16:rowId xmlns:a16="http://schemas.microsoft.com/office/drawing/2014/main" val="3228848662"/>
                      </a:ext>
                    </a:extLst>
                  </a:tr>
                  <a:tr h="579120">
                    <a:tc>
                      <a:txBody>
                        <a:bodyPr/>
                        <a:lstStyle/>
                        <a:p>
                          <a:r>
                            <a:rPr lang="en-GB" sz="1600" dirty="0"/>
                            <a:t>Ising model (simulation)</a:t>
                          </a:r>
                        </a:p>
                      </a:txBody>
                      <a:tcPr/>
                    </a:tc>
                    <a:tc>
                      <a:txBody>
                        <a:bodyPr/>
                        <a:lstStyle/>
                        <a:p>
                          <a:endParaRPr lang="en-US"/>
                        </a:p>
                      </a:txBody>
                      <a:tcPr>
                        <a:blipFill>
                          <a:blip r:embed="rId9"/>
                          <a:stretch>
                            <a:fillRect l="-100284" t="-73684" r="-1136" b="-129474"/>
                          </a:stretch>
                        </a:blipFill>
                      </a:tcPr>
                    </a:tc>
                    <a:extLst>
                      <a:ext uri="{0D108BD9-81ED-4DB2-BD59-A6C34878D82A}">
                        <a16:rowId xmlns:a16="http://schemas.microsoft.com/office/drawing/2014/main" val="2020091684"/>
                      </a:ext>
                    </a:extLst>
                  </a:tr>
                  <a:tr h="335280">
                    <a:tc>
                      <a:txBody>
                        <a:bodyPr/>
                        <a:lstStyle/>
                        <a:p>
                          <a:r>
                            <a:rPr lang="en-GB" sz="1600" dirty="0"/>
                            <a:t>Mean Field Theory</a:t>
                          </a:r>
                        </a:p>
                      </a:txBody>
                      <a:tcPr/>
                    </a:tc>
                    <a:tc>
                      <a:txBody>
                        <a:bodyPr/>
                        <a:lstStyle/>
                        <a:p>
                          <a:endParaRPr lang="en-US"/>
                        </a:p>
                      </a:txBody>
                      <a:tcPr>
                        <a:blipFill>
                          <a:blip r:embed="rId9"/>
                          <a:stretch>
                            <a:fillRect l="-100284" t="-294643" r="-1136" b="-119643"/>
                          </a:stretch>
                        </a:blipFill>
                      </a:tcPr>
                    </a:tc>
                    <a:extLst>
                      <a:ext uri="{0D108BD9-81ED-4DB2-BD59-A6C34878D82A}">
                        <a16:rowId xmlns:a16="http://schemas.microsoft.com/office/drawing/2014/main" val="4284135551"/>
                      </a:ext>
                    </a:extLst>
                  </a:tr>
                  <a:tr h="335280">
                    <a:tc>
                      <a:txBody>
                        <a:bodyPr/>
                        <a:lstStyle/>
                        <a:p>
                          <a:r>
                            <a:rPr lang="en-GB" sz="1600" dirty="0"/>
                            <a:t>Ising model (Ansatz)</a:t>
                          </a:r>
                        </a:p>
                      </a:txBody>
                      <a:tcPr/>
                    </a:tc>
                    <a:tc>
                      <a:txBody>
                        <a:bodyPr/>
                        <a:lstStyle/>
                        <a:p>
                          <a:endParaRPr lang="en-US"/>
                        </a:p>
                      </a:txBody>
                      <a:tcPr>
                        <a:blipFill>
                          <a:blip r:embed="rId9"/>
                          <a:stretch>
                            <a:fillRect l="-100284" t="-401818" r="-1136" b="-21818"/>
                          </a:stretch>
                        </a:blipFill>
                      </a:tcPr>
                    </a:tc>
                    <a:extLst>
                      <a:ext uri="{0D108BD9-81ED-4DB2-BD59-A6C34878D82A}">
                        <a16:rowId xmlns:a16="http://schemas.microsoft.com/office/drawing/2014/main" val="2464869283"/>
                      </a:ext>
                    </a:extLst>
                  </a:tr>
                </a:tbl>
              </a:graphicData>
            </a:graphic>
          </p:graphicFrame>
        </mc:Fallback>
      </mc:AlternateContent>
      <p:sp>
        <p:nvSpPr>
          <p:cNvPr id="35" name="Rectangle 34">
            <a:extLst>
              <a:ext uri="{FF2B5EF4-FFF2-40B4-BE49-F238E27FC236}">
                <a16:creationId xmlns:a16="http://schemas.microsoft.com/office/drawing/2014/main" id="{4815275E-BCB6-8E5E-FAF8-2EA9E5A059B1}"/>
              </a:ext>
            </a:extLst>
          </p:cNvPr>
          <p:cNvSpPr/>
          <p:nvPr/>
        </p:nvSpPr>
        <p:spPr>
          <a:xfrm>
            <a:off x="16755139" y="7359314"/>
            <a:ext cx="4125364" cy="1981045"/>
          </a:xfrm>
          <a:prstGeom prst="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bg2">
                    <a:lumMod val="25000"/>
                  </a:schemeClr>
                </a:solidFill>
              </a:ln>
            </a:endParaRPr>
          </a:p>
        </p:txBody>
      </p:sp>
      <p:pic>
        <p:nvPicPr>
          <p:cNvPr id="7" name="Picture 6" descr="A black and white pixelated background&#10;&#10;AI-generated content may be incorrect.">
            <a:extLst>
              <a:ext uri="{FF2B5EF4-FFF2-40B4-BE49-F238E27FC236}">
                <a16:creationId xmlns:a16="http://schemas.microsoft.com/office/drawing/2014/main" id="{07777EB7-312F-ED6F-C477-0A1A38419A2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893895" y="7763934"/>
            <a:ext cx="1163027" cy="1163027"/>
          </a:xfrm>
          <a:prstGeom prst="rect">
            <a:avLst/>
          </a:prstGeom>
          <a:ln>
            <a:solidFill>
              <a:schemeClr val="bg2">
                <a:lumMod val="50000"/>
              </a:schemeClr>
            </a:solidFill>
          </a:ln>
        </p:spPr>
      </p:pic>
      <p:pic>
        <p:nvPicPr>
          <p:cNvPr id="12" name="Picture 11" descr="A black and white pixelated image&#10;&#10;AI-generated content may be incorrect.">
            <a:extLst>
              <a:ext uri="{FF2B5EF4-FFF2-40B4-BE49-F238E27FC236}">
                <a16:creationId xmlns:a16="http://schemas.microsoft.com/office/drawing/2014/main" id="{F3BD8D5A-1C71-4FD9-3FE3-6178B9DA0AB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8256012" y="7737702"/>
            <a:ext cx="1185088" cy="1185088"/>
          </a:xfrm>
          <a:prstGeom prst="rect">
            <a:avLst/>
          </a:prstGeom>
          <a:ln>
            <a:solidFill>
              <a:schemeClr val="bg2">
                <a:lumMod val="50000"/>
              </a:schemeClr>
            </a:solidFill>
          </a:ln>
        </p:spPr>
      </p:pic>
      <p:pic>
        <p:nvPicPr>
          <p:cNvPr id="23" name="Picture 22" descr="A black background with white dots&#10;&#10;AI-generated content may be incorrect.">
            <a:extLst>
              <a:ext uri="{FF2B5EF4-FFF2-40B4-BE49-F238E27FC236}">
                <a16:creationId xmlns:a16="http://schemas.microsoft.com/office/drawing/2014/main" id="{D688861C-6245-98CA-7E47-C8FC319120E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9618214" y="7748732"/>
            <a:ext cx="1163027" cy="1163027"/>
          </a:xfrm>
          <a:prstGeom prst="rect">
            <a:avLst/>
          </a:prstGeom>
          <a:ln>
            <a:solidFill>
              <a:schemeClr val="bg2">
                <a:lumMod val="50000"/>
              </a:schemeClr>
            </a:solidFill>
          </a:ln>
        </p:spPr>
      </p:pic>
      <p:sp>
        <p:nvSpPr>
          <p:cNvPr id="25" name="TextBox 24">
            <a:extLst>
              <a:ext uri="{FF2B5EF4-FFF2-40B4-BE49-F238E27FC236}">
                <a16:creationId xmlns:a16="http://schemas.microsoft.com/office/drawing/2014/main" id="{34E18DF6-0C2D-A05C-48E0-669933CF93AE}"/>
              </a:ext>
            </a:extLst>
          </p:cNvPr>
          <p:cNvSpPr txBox="1"/>
          <p:nvPr/>
        </p:nvSpPr>
        <p:spPr>
          <a:xfrm>
            <a:off x="19665200" y="9011371"/>
            <a:ext cx="1190429" cy="338554"/>
          </a:xfrm>
          <a:prstGeom prst="rect">
            <a:avLst/>
          </a:prstGeom>
          <a:noFill/>
        </p:spPr>
        <p:txBody>
          <a:bodyPr wrap="square" rtlCol="0">
            <a:spAutoFit/>
          </a:bodyPr>
          <a:lstStyle/>
          <a:p>
            <a:r>
              <a:rPr lang="en-GB" sz="1600" dirty="0"/>
              <a:t>30 Sweeps</a:t>
            </a:r>
          </a:p>
        </p:txBody>
      </p:sp>
      <p:sp>
        <p:nvSpPr>
          <p:cNvPr id="32" name="TextBox 31">
            <a:extLst>
              <a:ext uri="{FF2B5EF4-FFF2-40B4-BE49-F238E27FC236}">
                <a16:creationId xmlns:a16="http://schemas.microsoft.com/office/drawing/2014/main" id="{9C31BE56-2F5E-23BE-4A42-DE58AF9470C7}"/>
              </a:ext>
            </a:extLst>
          </p:cNvPr>
          <p:cNvSpPr txBox="1"/>
          <p:nvPr/>
        </p:nvSpPr>
        <p:spPr>
          <a:xfrm>
            <a:off x="18306386" y="9001805"/>
            <a:ext cx="1134714" cy="338554"/>
          </a:xfrm>
          <a:prstGeom prst="rect">
            <a:avLst/>
          </a:prstGeom>
          <a:noFill/>
        </p:spPr>
        <p:txBody>
          <a:bodyPr wrap="square" rtlCol="0">
            <a:spAutoFit/>
          </a:bodyPr>
          <a:lstStyle/>
          <a:p>
            <a:r>
              <a:rPr lang="en-GB" sz="1600" dirty="0"/>
              <a:t>5 Sweeps</a:t>
            </a:r>
          </a:p>
        </p:txBody>
      </p:sp>
      <p:sp>
        <p:nvSpPr>
          <p:cNvPr id="33" name="TextBox 32">
            <a:extLst>
              <a:ext uri="{FF2B5EF4-FFF2-40B4-BE49-F238E27FC236}">
                <a16:creationId xmlns:a16="http://schemas.microsoft.com/office/drawing/2014/main" id="{240CD7A5-26F9-E719-4E21-33B3DC0E95A0}"/>
              </a:ext>
            </a:extLst>
          </p:cNvPr>
          <p:cNvSpPr txBox="1"/>
          <p:nvPr/>
        </p:nvSpPr>
        <p:spPr>
          <a:xfrm>
            <a:off x="16976076" y="9001805"/>
            <a:ext cx="1106210" cy="338554"/>
          </a:xfrm>
          <a:prstGeom prst="rect">
            <a:avLst/>
          </a:prstGeom>
          <a:noFill/>
        </p:spPr>
        <p:txBody>
          <a:bodyPr wrap="square" rtlCol="0">
            <a:spAutoFit/>
          </a:bodyPr>
          <a:lstStyle/>
          <a:p>
            <a:r>
              <a:rPr lang="en-GB" sz="1600" dirty="0"/>
              <a:t>0 Sweeps</a:t>
            </a:r>
          </a:p>
        </p:txBody>
      </p:sp>
      <p:sp>
        <p:nvSpPr>
          <p:cNvPr id="34" name="TextBox 33">
            <a:extLst>
              <a:ext uri="{FF2B5EF4-FFF2-40B4-BE49-F238E27FC236}">
                <a16:creationId xmlns:a16="http://schemas.microsoft.com/office/drawing/2014/main" id="{119C0B95-CA20-4E9A-93C0-D2E65320B187}"/>
              </a:ext>
            </a:extLst>
          </p:cNvPr>
          <p:cNvSpPr txBox="1"/>
          <p:nvPr/>
        </p:nvSpPr>
        <p:spPr>
          <a:xfrm>
            <a:off x="17838800" y="7322002"/>
            <a:ext cx="3778580" cy="369332"/>
          </a:xfrm>
          <a:prstGeom prst="rect">
            <a:avLst/>
          </a:prstGeom>
          <a:noFill/>
        </p:spPr>
        <p:txBody>
          <a:bodyPr wrap="square" rtlCol="0">
            <a:spAutoFit/>
          </a:bodyPr>
          <a:lstStyle/>
          <a:p>
            <a:r>
              <a:rPr lang="en-GB" b="1" u="sng" dirty="0"/>
              <a:t>Lattice evolution </a:t>
            </a:r>
          </a:p>
        </p:txBody>
      </p:sp>
      <p:sp>
        <p:nvSpPr>
          <p:cNvPr id="43" name="Control 2">
            <a:extLst>
              <a:ext uri="{FF2B5EF4-FFF2-40B4-BE49-F238E27FC236}">
                <a16:creationId xmlns:a16="http://schemas.microsoft.com/office/drawing/2014/main" id="{E1E60197-7819-43F9-0020-3725ED9534CD}"/>
              </a:ext>
            </a:extLst>
          </p:cNvPr>
          <p:cNvSpPr>
            <a:spLocks noChangeArrowheads="1" noChangeShapeType="1"/>
          </p:cNvSpPr>
          <p:nvPr/>
        </p:nvSpPr>
        <p:spPr bwMode="auto">
          <a:xfrm>
            <a:off x="2419970" y="15738590"/>
            <a:ext cx="3068319" cy="3084270"/>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sp>
        <p:nvSpPr>
          <p:cNvPr id="47" name="Control 4">
            <a:extLst>
              <a:ext uri="{FF2B5EF4-FFF2-40B4-BE49-F238E27FC236}">
                <a16:creationId xmlns:a16="http://schemas.microsoft.com/office/drawing/2014/main" id="{ED00A47E-F410-E40E-482C-26D6866BD9A8}"/>
              </a:ext>
            </a:extLst>
          </p:cNvPr>
          <p:cNvSpPr>
            <a:spLocks noChangeArrowheads="1" noChangeShapeType="1"/>
          </p:cNvSpPr>
          <p:nvPr/>
        </p:nvSpPr>
        <p:spPr bwMode="auto">
          <a:xfrm>
            <a:off x="2474067" y="15743476"/>
            <a:ext cx="2879725" cy="2879725"/>
          </a:xfrm>
          <a:prstGeom prst="rect">
            <a:avLst/>
          </a:prstGeom>
          <a:noFill/>
          <a:ln>
            <a:noFill/>
          </a:ln>
          <a:effectLst/>
          <a:extLst>
            <a:ext uri="{91240B29-F687-4F45-9708-019B960494DF}">
              <a14:hiddenLine xmlns:a14="http://schemas.microsoft.com/office/drawing/2010/main" w="25400">
                <a:noFill/>
                <a:miter lim="800000"/>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txBody>
          <a:bodyPr vert="horz" wrap="square" lIns="0" tIns="0" rIns="0" bIns="0" numCol="1" anchor="t" anchorCtr="0" compatLnSpc="1">
            <a:prstTxWarp prst="textNoShape">
              <a:avLst/>
            </a:prstTxWarp>
          </a:bodyPr>
          <a:lstStyle/>
          <a:p>
            <a:endParaRPr lang="en-GB"/>
          </a:p>
        </p:txBody>
      </p:sp>
      <p:graphicFrame>
        <p:nvGraphicFramePr>
          <p:cNvPr id="48" name="Table 47">
            <a:extLst>
              <a:ext uri="{FF2B5EF4-FFF2-40B4-BE49-F238E27FC236}">
                <a16:creationId xmlns:a16="http://schemas.microsoft.com/office/drawing/2014/main" id="{99174A00-D916-809A-E6B4-FBF82DD35D30}"/>
              </a:ext>
            </a:extLst>
          </p:cNvPr>
          <p:cNvGraphicFramePr>
            <a:graphicFrameLocks noGrp="1"/>
          </p:cNvGraphicFramePr>
          <p:nvPr/>
        </p:nvGraphicFramePr>
        <p:xfrm>
          <a:off x="7788273" y="2055560"/>
          <a:ext cx="2879980" cy="2879980"/>
        </p:xfrm>
        <a:graphic>
          <a:graphicData uri="http://schemas.openxmlformats.org/drawingml/2006/table">
            <a:tbl>
              <a:tblPr/>
              <a:tblGrid>
                <a:gridCol w="575996">
                  <a:extLst>
                    <a:ext uri="{9D8B030D-6E8A-4147-A177-3AD203B41FA5}">
                      <a16:colId xmlns:a16="http://schemas.microsoft.com/office/drawing/2014/main" val="2200406331"/>
                    </a:ext>
                  </a:extLst>
                </a:gridCol>
                <a:gridCol w="575996">
                  <a:extLst>
                    <a:ext uri="{9D8B030D-6E8A-4147-A177-3AD203B41FA5}">
                      <a16:colId xmlns:a16="http://schemas.microsoft.com/office/drawing/2014/main" val="4191477172"/>
                    </a:ext>
                  </a:extLst>
                </a:gridCol>
                <a:gridCol w="575996">
                  <a:extLst>
                    <a:ext uri="{9D8B030D-6E8A-4147-A177-3AD203B41FA5}">
                      <a16:colId xmlns:a16="http://schemas.microsoft.com/office/drawing/2014/main" val="549849989"/>
                    </a:ext>
                  </a:extLst>
                </a:gridCol>
                <a:gridCol w="575996">
                  <a:extLst>
                    <a:ext uri="{9D8B030D-6E8A-4147-A177-3AD203B41FA5}">
                      <a16:colId xmlns:a16="http://schemas.microsoft.com/office/drawing/2014/main" val="2194956128"/>
                    </a:ext>
                  </a:extLst>
                </a:gridCol>
                <a:gridCol w="575996">
                  <a:extLst>
                    <a:ext uri="{9D8B030D-6E8A-4147-A177-3AD203B41FA5}">
                      <a16:colId xmlns:a16="http://schemas.microsoft.com/office/drawing/2014/main" val="771035206"/>
                    </a:ext>
                  </a:extLst>
                </a:gridCol>
              </a:tblGrid>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588321140"/>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1</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2848225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4</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2</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876980327"/>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ctr" rtl="0">
                        <a:lnSpc>
                          <a:spcPct val="119000"/>
                        </a:lnSpc>
                        <a:spcAft>
                          <a:spcPts val="600"/>
                        </a:spcAft>
                        <a:buNone/>
                      </a:pPr>
                      <a:r>
                        <a:rPr lang="en-GB" sz="2800" kern="1400">
                          <a:ln>
                            <a:noFill/>
                          </a:ln>
                          <a:solidFill>
                            <a:srgbClr val="FF0000"/>
                          </a:solidFill>
                          <a:effectLst/>
                          <a:latin typeface="Calibri" panose="020F0502020204030204" pitchFamily="34" charset="0"/>
                        </a:rPr>
                        <a:t>3</a:t>
                      </a:r>
                      <a:endParaRPr lang="en-GB" sz="1000" kern="1400">
                        <a:ln>
                          <a:noFill/>
                        </a:ln>
                        <a:solidFill>
                          <a:srgbClr val="000000"/>
                        </a:solidFill>
                        <a:effectLst/>
                        <a:latin typeface="Calibri" panose="020F0502020204030204" pitchFamily="34" charset="0"/>
                      </a:endParaRPr>
                    </a:p>
                  </a:txBody>
                  <a:tcPr marL="36576" marR="36576" marT="36576" marB="36576">
                    <a:lnL w="38100" cap="flat" cmpd="sng" algn="ctr">
                      <a:solidFill>
                        <a:srgbClr val="FF0000"/>
                      </a:solidFill>
                      <a:prstDash val="solid"/>
                      <a:round/>
                      <a:headEnd type="none" w="med" len="med"/>
                      <a:tailEnd type="none" w="med" len="med"/>
                    </a:lnL>
                    <a:lnR w="38100" cap="flat" cmpd="sng" algn="ctr">
                      <a:solidFill>
                        <a:srgbClr val="FF0000"/>
                      </a:solidFill>
                      <a:prstDash val="solid"/>
                      <a:round/>
                      <a:headEnd type="none" w="med" len="med"/>
                      <a:tailEnd type="none" w="med" len="med"/>
                    </a:lnR>
                    <a:lnT w="38100" cap="flat" cmpd="sng" algn="ctr">
                      <a:solidFill>
                        <a:srgbClr val="FF0000"/>
                      </a:solidFill>
                      <a:prstDash val="solid"/>
                      <a:round/>
                      <a:headEnd type="none" w="med" len="med"/>
                      <a:tailEnd type="none" w="med" len="med"/>
                    </a:lnT>
                    <a:lnB w="38100" cap="flat" cmpd="sng" algn="ctr">
                      <a:solidFill>
                        <a:srgbClr val="FF0000"/>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38100" cap="flat" cmpd="sng" algn="ctr">
                      <a:solidFill>
                        <a:srgbClr val="FF0000"/>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96496328"/>
                  </a:ext>
                </a:extLst>
              </a:tr>
              <a:tr h="575996">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38100" cap="flat" cmpd="sng" algn="ctr">
                      <a:solidFill>
                        <a:srgbClr val="FF000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tc>
                  <a:txBody>
                    <a:bodyPr/>
                    <a:lstStyle/>
                    <a:p>
                      <a:pPr marR="0" indent="0" algn="l" rtl="0">
                        <a:lnSpc>
                          <a:spcPct val="119000"/>
                        </a:lnSpc>
                        <a:spcAft>
                          <a:spcPts val="600"/>
                        </a:spcAft>
                        <a:buNone/>
                      </a:pPr>
                      <a:r>
                        <a:rPr lang="en-GB" sz="1000" kern="1400" dirty="0">
                          <a:ln>
                            <a:noFill/>
                          </a:ln>
                          <a:solidFill>
                            <a:srgbClr val="000000"/>
                          </a:solidFill>
                          <a:effectLst/>
                          <a:latin typeface="Calibri" panose="020F0502020204030204" pitchFamily="34" charset="0"/>
                        </a:rPr>
                        <a:t> </a:t>
                      </a:r>
                    </a:p>
                  </a:txBody>
                  <a:tcPr marL="36576" marR="36576" marT="36576" marB="36576">
                    <a:lnL w="12700" cap="flat" cmpd="sng" algn="ctr">
                      <a:solidFill>
                        <a:srgbClr val="A6A6A6"/>
                      </a:solidFill>
                      <a:prstDash val="solid"/>
                      <a:round/>
                      <a:headEnd type="none" w="med" len="med"/>
                      <a:tailEnd type="none" w="med" len="med"/>
                    </a:lnL>
                    <a:lnR w="12700" cap="flat" cmpd="sng" algn="ctr">
                      <a:solidFill>
                        <a:srgbClr val="A6A6A6"/>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000000"/>
                    </a:solidFill>
                  </a:tcPr>
                </a:tc>
                <a:extLst>
                  <a:ext uri="{0D108BD9-81ED-4DB2-BD59-A6C34878D82A}">
                    <a16:rowId xmlns:a16="http://schemas.microsoft.com/office/drawing/2014/main" val="3481197627"/>
                  </a:ext>
                </a:extLst>
              </a:tr>
            </a:tbl>
          </a:graphicData>
        </a:graphic>
      </p:graphicFrame>
      <p:cxnSp>
        <p:nvCxnSpPr>
          <p:cNvPr id="50" name="Straight Connector 49">
            <a:extLst>
              <a:ext uri="{FF2B5EF4-FFF2-40B4-BE49-F238E27FC236}">
                <a16:creationId xmlns:a16="http://schemas.microsoft.com/office/drawing/2014/main" id="{87CC6365-1F56-C47E-9015-89D294AFAD4F}"/>
              </a:ext>
            </a:extLst>
          </p:cNvPr>
          <p:cNvCxnSpPr>
            <a:cxnSpLocks/>
          </p:cNvCxnSpPr>
          <p:nvPr/>
        </p:nvCxnSpPr>
        <p:spPr>
          <a:xfrm flipH="1">
            <a:off x="1766373" y="9001805"/>
            <a:ext cx="884141" cy="424973"/>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8F66F6C1-3D2C-4F12-588B-168DED3FD597}"/>
              </a:ext>
            </a:extLst>
          </p:cNvPr>
          <p:cNvCxnSpPr>
            <a:cxnSpLocks/>
          </p:cNvCxnSpPr>
          <p:nvPr/>
        </p:nvCxnSpPr>
        <p:spPr>
          <a:xfrm flipH="1">
            <a:off x="3418968" y="9001805"/>
            <a:ext cx="342638" cy="424973"/>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4A3C2BD6-1B91-13EF-2C84-C7AB0C117EDA}"/>
              </a:ext>
            </a:extLst>
          </p:cNvPr>
          <p:cNvCxnSpPr>
            <a:cxnSpLocks/>
          </p:cNvCxnSpPr>
          <p:nvPr/>
        </p:nvCxnSpPr>
        <p:spPr>
          <a:xfrm>
            <a:off x="5415882" y="9011371"/>
            <a:ext cx="648820" cy="4154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BF4C23EF-7C48-2ECE-4C82-3B3250D4742B}"/>
              </a:ext>
            </a:extLst>
          </p:cNvPr>
          <p:cNvCxnSpPr>
            <a:cxnSpLocks/>
          </p:cNvCxnSpPr>
          <p:nvPr/>
        </p:nvCxnSpPr>
        <p:spPr>
          <a:xfrm>
            <a:off x="3903181" y="9001805"/>
            <a:ext cx="307322" cy="424119"/>
          </a:xfrm>
          <a:prstGeom prst="line">
            <a:avLst/>
          </a:prstGeom>
        </p:spPr>
        <p:style>
          <a:lnRef idx="2">
            <a:schemeClr val="accent1"/>
          </a:lnRef>
          <a:fillRef idx="0">
            <a:schemeClr val="accent1"/>
          </a:fillRef>
          <a:effectRef idx="1">
            <a:schemeClr val="accent1"/>
          </a:effectRef>
          <a:fontRef idx="minor">
            <a:schemeClr val="tx1"/>
          </a:fontRef>
        </p:style>
      </p:cxnSp>
      <p:pic>
        <p:nvPicPr>
          <p:cNvPr id="65" name="Picture 64" descr="A qr code on a white background&#10;&#10;AI-generated content may be incorrect.">
            <a:extLst>
              <a:ext uri="{FF2B5EF4-FFF2-40B4-BE49-F238E27FC236}">
                <a16:creationId xmlns:a16="http://schemas.microsoft.com/office/drawing/2014/main" id="{54956E75-1810-23E1-321D-F252B5717974}"/>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85034" y="12902323"/>
            <a:ext cx="1603451" cy="2102658"/>
          </a:xfrm>
          <a:prstGeom prst="rect">
            <a:avLst/>
          </a:prstGeom>
        </p:spPr>
      </p:pic>
      <p:pic>
        <p:nvPicPr>
          <p:cNvPr id="2054" name="Picture 6" descr="Durham University – My Digital Prospectus – The Durham University ...">
            <a:extLst>
              <a:ext uri="{FF2B5EF4-FFF2-40B4-BE49-F238E27FC236}">
                <a16:creationId xmlns:a16="http://schemas.microsoft.com/office/drawing/2014/main" id="{7E142C82-B327-53BE-9950-C0F4A6E4FE09}"/>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7633380" y="67205"/>
            <a:ext cx="2260420" cy="93518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12D2ECC8-9796-CC37-CB48-7AE760CFB795}"/>
              </a:ext>
            </a:extLst>
          </p:cNvPr>
          <p:cNvSpPr/>
          <p:nvPr/>
        </p:nvSpPr>
        <p:spPr>
          <a:xfrm>
            <a:off x="0" y="1087123"/>
            <a:ext cx="21383624" cy="7704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sz="2000" b="1" dirty="0">
              <a:solidFill>
                <a:sysClr val="windowText" lastClr="000000"/>
              </a:solidFill>
            </a:endParaRPr>
          </a:p>
          <a:p>
            <a:r>
              <a:rPr lang="en-GB" sz="2000" b="1" dirty="0">
                <a:solidFill>
                  <a:sysClr val="windowText" lastClr="000000"/>
                </a:solidFill>
              </a:rPr>
              <a:t>Ferromagnets </a:t>
            </a:r>
            <a:r>
              <a:rPr lang="en-GB" sz="2000" dirty="0">
                <a:solidFill>
                  <a:sysClr val="windowText" lastClr="000000"/>
                </a:solidFill>
              </a:rPr>
              <a:t>can be modelled using a simple </a:t>
            </a:r>
            <a:r>
              <a:rPr lang="en-GB" sz="2000" b="1" dirty="0">
                <a:solidFill>
                  <a:sysClr val="windowText" lastClr="000000"/>
                </a:solidFill>
              </a:rPr>
              <a:t>2D Ising model</a:t>
            </a:r>
            <a:r>
              <a:rPr lang="en-GB" sz="2000" dirty="0">
                <a:solidFill>
                  <a:sysClr val="windowText" lastClr="000000"/>
                </a:solidFill>
              </a:rPr>
              <a:t>. Using this model, and  </a:t>
            </a:r>
            <a:r>
              <a:rPr lang="en-GB" sz="2000" b="1" dirty="0">
                <a:solidFill>
                  <a:sysClr val="windowText" lastClr="000000"/>
                </a:solidFill>
              </a:rPr>
              <a:t>Monte-Carlo methods </a:t>
            </a:r>
            <a:r>
              <a:rPr lang="en-GB" sz="2000" dirty="0">
                <a:solidFill>
                  <a:sysClr val="windowText" lastClr="000000"/>
                </a:solidFill>
              </a:rPr>
              <a:t>(the </a:t>
            </a:r>
            <a:r>
              <a:rPr lang="en-GB" sz="2000" b="1" dirty="0">
                <a:solidFill>
                  <a:sysClr val="windowText" lastClr="000000"/>
                </a:solidFill>
              </a:rPr>
              <a:t>metropolis algorithm</a:t>
            </a:r>
            <a:r>
              <a:rPr lang="en-GB" sz="2000" dirty="0">
                <a:solidFill>
                  <a:sysClr val="windowText" lastClr="000000"/>
                </a:solidFill>
              </a:rPr>
              <a:t>), we determine the </a:t>
            </a:r>
            <a:r>
              <a:rPr lang="en-GB" sz="2000" b="1" dirty="0">
                <a:solidFill>
                  <a:sysClr val="windowText" lastClr="000000"/>
                </a:solidFill>
              </a:rPr>
              <a:t>average magnetisation </a:t>
            </a:r>
            <a:r>
              <a:rPr lang="en-GB" sz="2000" dirty="0">
                <a:solidFill>
                  <a:sysClr val="windowText" lastClr="000000"/>
                </a:solidFill>
              </a:rPr>
              <a:t>in the </a:t>
            </a:r>
            <a:r>
              <a:rPr lang="en-GB" sz="2000" b="1" dirty="0">
                <a:solidFill>
                  <a:sysClr val="windowText" lastClr="000000"/>
                </a:solidFill>
              </a:rPr>
              <a:t>steady state region </a:t>
            </a:r>
            <a:r>
              <a:rPr lang="en-GB" sz="2000" dirty="0">
                <a:solidFill>
                  <a:sysClr val="windowText" lastClr="000000"/>
                </a:solidFill>
              </a:rPr>
              <a:t>for a set of specific conditions and compare to other models of </a:t>
            </a:r>
            <a:r>
              <a:rPr lang="en-GB" sz="2000" b="1" dirty="0">
                <a:solidFill>
                  <a:sysClr val="windowText" lastClr="000000"/>
                </a:solidFill>
              </a:rPr>
              <a:t>ferromagnets</a:t>
            </a:r>
            <a:r>
              <a:rPr lang="en-GB" sz="2000" dirty="0">
                <a:solidFill>
                  <a:sysClr val="windowText" lastClr="000000"/>
                </a:solidFill>
              </a:rPr>
              <a:t>, all showing good agreement with one another. </a:t>
            </a:r>
          </a:p>
          <a:p>
            <a:pPr algn="ctr"/>
            <a:endParaRPr lang="en-GB" dirty="0"/>
          </a:p>
        </p:txBody>
      </p:sp>
      <p:sp>
        <p:nvSpPr>
          <p:cNvPr id="8" name="Rectangle 7">
            <a:extLst>
              <a:ext uri="{FF2B5EF4-FFF2-40B4-BE49-F238E27FC236}">
                <a16:creationId xmlns:a16="http://schemas.microsoft.com/office/drawing/2014/main" id="{2DDBE6AB-B1BE-82AC-FF35-C2A4D8B9C733}"/>
              </a:ext>
            </a:extLst>
          </p:cNvPr>
          <p:cNvSpPr/>
          <p:nvPr/>
        </p:nvSpPr>
        <p:spPr>
          <a:xfrm>
            <a:off x="2371425" y="13976108"/>
            <a:ext cx="4616619" cy="89576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Scan the QR code to see the lattice evolution of a 32x32 lattice for B = -0.05, J= 0.5 over 30 sweeps</a:t>
            </a:r>
          </a:p>
        </p:txBody>
      </p:sp>
      <p:sp>
        <p:nvSpPr>
          <p:cNvPr id="17" name="Arrow: Curved Left 16">
            <a:extLst>
              <a:ext uri="{FF2B5EF4-FFF2-40B4-BE49-F238E27FC236}">
                <a16:creationId xmlns:a16="http://schemas.microsoft.com/office/drawing/2014/main" id="{127DE88A-0D1F-13C0-6DD2-EA4A39F7AB86}"/>
              </a:ext>
            </a:extLst>
          </p:cNvPr>
          <p:cNvSpPr/>
          <p:nvPr/>
        </p:nvSpPr>
        <p:spPr>
          <a:xfrm flipV="1">
            <a:off x="1699142" y="14032227"/>
            <a:ext cx="593393" cy="767781"/>
          </a:xfrm>
          <a:prstGeom prst="curvedLef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solidFill>
                <a:schemeClr val="tx1"/>
              </a:solidFill>
            </a:endParaRPr>
          </a:p>
        </p:txBody>
      </p:sp>
      <p:sp>
        <p:nvSpPr>
          <p:cNvPr id="19" name="Rectangle 18">
            <a:extLst>
              <a:ext uri="{FF2B5EF4-FFF2-40B4-BE49-F238E27FC236}">
                <a16:creationId xmlns:a16="http://schemas.microsoft.com/office/drawing/2014/main" id="{CEF4513A-2C2B-8D86-70B5-825032E881E0}"/>
              </a:ext>
            </a:extLst>
          </p:cNvPr>
          <p:cNvSpPr/>
          <p:nvPr/>
        </p:nvSpPr>
        <p:spPr>
          <a:xfrm>
            <a:off x="353679" y="5849122"/>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1. 2D Ising Model</a:t>
            </a:r>
          </a:p>
        </p:txBody>
      </p:sp>
      <p:sp>
        <p:nvSpPr>
          <p:cNvPr id="26" name="Rectangle 25">
            <a:extLst>
              <a:ext uri="{FF2B5EF4-FFF2-40B4-BE49-F238E27FC236}">
                <a16:creationId xmlns:a16="http://schemas.microsoft.com/office/drawing/2014/main" id="{2C9D49CB-1A31-4820-93F2-57A452849F45}"/>
              </a:ext>
            </a:extLst>
          </p:cNvPr>
          <p:cNvSpPr/>
          <p:nvPr/>
        </p:nvSpPr>
        <p:spPr>
          <a:xfrm>
            <a:off x="7678029" y="5091662"/>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2. Partition Function</a:t>
            </a:r>
          </a:p>
        </p:txBody>
      </p:sp>
      <p:sp>
        <p:nvSpPr>
          <p:cNvPr id="28" name="Rectangle 27">
            <a:extLst>
              <a:ext uri="{FF2B5EF4-FFF2-40B4-BE49-F238E27FC236}">
                <a16:creationId xmlns:a16="http://schemas.microsoft.com/office/drawing/2014/main" id="{1F61DD51-3ECE-5D45-8007-523526930460}"/>
              </a:ext>
            </a:extLst>
          </p:cNvPr>
          <p:cNvSpPr/>
          <p:nvPr/>
        </p:nvSpPr>
        <p:spPr>
          <a:xfrm>
            <a:off x="7779687" y="9616738"/>
            <a:ext cx="6972300"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3. Metropolis Algorithm</a:t>
            </a:r>
          </a:p>
        </p:txBody>
      </p:sp>
      <p:sp>
        <p:nvSpPr>
          <p:cNvPr id="31" name="Rectangle 30">
            <a:extLst>
              <a:ext uri="{FF2B5EF4-FFF2-40B4-BE49-F238E27FC236}">
                <a16:creationId xmlns:a16="http://schemas.microsoft.com/office/drawing/2014/main" id="{750761EB-D3F6-46C8-F536-D9A6208F5D98}"/>
              </a:ext>
            </a:extLst>
          </p:cNvPr>
          <p:cNvSpPr/>
          <p:nvPr/>
        </p:nvSpPr>
        <p:spPr>
          <a:xfrm>
            <a:off x="14949567" y="1894911"/>
            <a:ext cx="6215931" cy="640076"/>
          </a:xfrm>
          <a:prstGeom prst="rect">
            <a:avLst/>
          </a:prstGeom>
          <a:solidFill>
            <a:schemeClr val="tx2">
              <a:lumMod val="75000"/>
              <a:lumOff val="25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600" dirty="0">
                <a:latin typeface="ADLaM Display" panose="02010000000000000000" pitchFamily="2" charset="0"/>
                <a:ea typeface="ADLaM Display" panose="02010000000000000000" pitchFamily="2" charset="0"/>
                <a:cs typeface="ADLaM Display" panose="02010000000000000000" pitchFamily="2" charset="0"/>
              </a:rPr>
              <a:t>4. Results</a:t>
            </a:r>
          </a:p>
        </p:txBody>
      </p:sp>
      <p:sp>
        <p:nvSpPr>
          <p:cNvPr id="36" name="TextBox 35">
            <a:extLst>
              <a:ext uri="{FF2B5EF4-FFF2-40B4-BE49-F238E27FC236}">
                <a16:creationId xmlns:a16="http://schemas.microsoft.com/office/drawing/2014/main" id="{6209EE09-8E21-E7D7-784B-3E14470140C2}"/>
              </a:ext>
            </a:extLst>
          </p:cNvPr>
          <p:cNvSpPr txBox="1"/>
          <p:nvPr/>
        </p:nvSpPr>
        <p:spPr>
          <a:xfrm>
            <a:off x="14905829" y="5123081"/>
            <a:ext cx="2021997" cy="1708160"/>
          </a:xfrm>
          <a:prstGeom prst="rect">
            <a:avLst/>
          </a:prstGeom>
          <a:noFill/>
        </p:spPr>
        <p:txBody>
          <a:bodyPr wrap="square" rtlCol="0">
            <a:spAutoFit/>
          </a:bodyPr>
          <a:lstStyle/>
          <a:p>
            <a:r>
              <a:rPr lang="en-GB" sz="1500" b="1" dirty="0"/>
              <a:t>Table 1: </a:t>
            </a:r>
            <a:r>
              <a:rPr lang="en-GB" sz="1500" dirty="0"/>
              <a:t>Average magnetisation predicted by different models. MFT prediction is slightly larger since it ignores thermal fluctuations.</a:t>
            </a:r>
          </a:p>
        </p:txBody>
      </p:sp>
      <p:sp>
        <p:nvSpPr>
          <p:cNvPr id="56" name="TextBox 55">
            <a:extLst>
              <a:ext uri="{FF2B5EF4-FFF2-40B4-BE49-F238E27FC236}">
                <a16:creationId xmlns:a16="http://schemas.microsoft.com/office/drawing/2014/main" id="{994A0D01-0E7D-BAF6-2137-F444FD150EAE}"/>
              </a:ext>
            </a:extLst>
          </p:cNvPr>
          <p:cNvSpPr txBox="1"/>
          <p:nvPr/>
        </p:nvSpPr>
        <p:spPr>
          <a:xfrm>
            <a:off x="1188958" y="715348"/>
            <a:ext cx="2267570" cy="369332"/>
          </a:xfrm>
          <a:prstGeom prst="rect">
            <a:avLst/>
          </a:prstGeom>
          <a:noFill/>
        </p:spPr>
        <p:txBody>
          <a:bodyPr wrap="square" rtlCol="0">
            <a:spAutoFit/>
          </a:bodyPr>
          <a:lstStyle/>
          <a:p>
            <a:r>
              <a:rPr lang="en-GB" dirty="0">
                <a:solidFill>
                  <a:schemeClr val="bg1"/>
                </a:solidFill>
                <a:latin typeface="ADLaM Display" panose="02010000000000000000" pitchFamily="2" charset="0"/>
                <a:ea typeface="ADLaM Display" panose="02010000000000000000" pitchFamily="2" charset="0"/>
                <a:cs typeface="ADLaM Display" panose="02010000000000000000" pitchFamily="2" charset="0"/>
              </a:rPr>
              <a:t>By Charlie Cook</a:t>
            </a:r>
          </a:p>
        </p:txBody>
      </p:sp>
    </p:spTree>
    <p:extLst>
      <p:ext uri="{BB962C8B-B14F-4D97-AF65-F5344CB8AC3E}">
        <p14:creationId xmlns:p14="http://schemas.microsoft.com/office/powerpoint/2010/main" val="7988869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13756</TotalTime>
  <Words>9377</Words>
  <Application>Microsoft Office PowerPoint</Application>
  <PresentationFormat>Custom</PresentationFormat>
  <Paragraphs>696</Paragraphs>
  <Slides>9</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ADLaM Display</vt:lpstr>
      <vt:lpstr>Aptos</vt:lpstr>
      <vt:lpstr>Aptos Display</vt:lpstr>
      <vt:lpstr>Arial</vt:lpstr>
      <vt:lpstr>Calibri</vt:lpstr>
      <vt:lpstr>Cambria Math</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COOK, CHARLIE J. (Student)</dc:creator>
  <cp:lastModifiedBy>COOK, CHARLIE J. (Student)</cp:lastModifiedBy>
  <cp:revision>28</cp:revision>
  <cp:lastPrinted>2025-12-05T12:47:28Z</cp:lastPrinted>
  <dcterms:created xsi:type="dcterms:W3CDTF">2025-11-05T12:25:56Z</dcterms:created>
  <dcterms:modified xsi:type="dcterms:W3CDTF">2025-12-05T13:29:52Z</dcterms:modified>
</cp:coreProperties>
</file>