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21383625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9F6"/>
    <a:srgbClr val="86D6F6"/>
    <a:srgbClr val="455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4" autoAdjust="0"/>
    <p:restoredTop sz="94660"/>
  </p:normalViewPr>
  <p:slideViewPr>
    <p:cSldViewPr snapToGrid="0">
      <p:cViewPr varScale="1">
        <p:scale>
          <a:sx n="38" d="100"/>
          <a:sy n="38" d="100"/>
        </p:scale>
        <p:origin x="114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1E76C-ACD1-4C23-8CA6-AC26CC31924B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F1830-83DD-4DBA-A674-1A787AF1FB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88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F1830-83DD-4DBA-A674-1A787AF1FB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388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2474395"/>
            <a:ext cx="18176081" cy="5263774"/>
          </a:xfrm>
        </p:spPr>
        <p:txBody>
          <a:bodyPr anchor="b"/>
          <a:lstStyle>
            <a:lvl1pPr algn="ctr">
              <a:defRPr sz="1322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7941160"/>
            <a:ext cx="16037719" cy="3650342"/>
          </a:xfrm>
        </p:spPr>
        <p:txBody>
          <a:bodyPr/>
          <a:lstStyle>
            <a:lvl1pPr marL="0" indent="0" algn="ctr">
              <a:buNone/>
              <a:defRPr sz="5291"/>
            </a:lvl1pPr>
            <a:lvl2pPr marL="1007943" indent="0" algn="ctr">
              <a:buNone/>
              <a:defRPr sz="4409"/>
            </a:lvl2pPr>
            <a:lvl3pPr marL="2015886" indent="0" algn="ctr">
              <a:buNone/>
              <a:defRPr sz="3968"/>
            </a:lvl3pPr>
            <a:lvl4pPr marL="3023829" indent="0" algn="ctr">
              <a:buNone/>
              <a:defRPr sz="3527"/>
            </a:lvl4pPr>
            <a:lvl5pPr marL="4031772" indent="0" algn="ctr">
              <a:buNone/>
              <a:defRPr sz="3527"/>
            </a:lvl5pPr>
            <a:lvl6pPr marL="5039716" indent="0" algn="ctr">
              <a:buNone/>
              <a:defRPr sz="3527"/>
            </a:lvl6pPr>
            <a:lvl7pPr marL="6047659" indent="0" algn="ctr">
              <a:buNone/>
              <a:defRPr sz="3527"/>
            </a:lvl7pPr>
            <a:lvl8pPr marL="7055602" indent="0" algn="ctr">
              <a:buNone/>
              <a:defRPr sz="3527"/>
            </a:lvl8pPr>
            <a:lvl9pPr marL="8063545" indent="0" algn="ctr">
              <a:buNone/>
              <a:defRPr sz="352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401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81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3769342"/>
            <a:ext cx="18443377" cy="6289229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10118069"/>
            <a:ext cx="18443377" cy="3307357"/>
          </a:xfrm>
        </p:spPr>
        <p:txBody>
          <a:bodyPr/>
          <a:lstStyle>
            <a:lvl1pPr marL="0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1pPr>
            <a:lvl2pPr marL="1007943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2pPr>
            <a:lvl3pPr marL="2015886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3pPr>
            <a:lvl4pPr marL="3023829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4pPr>
            <a:lvl5pPr marL="4031772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5pPr>
            <a:lvl6pPr marL="5039716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6pPr>
            <a:lvl7pPr marL="6047659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7pPr>
            <a:lvl8pPr marL="7055602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8pPr>
            <a:lvl9pPr marL="8063545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654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4024827"/>
            <a:ext cx="9088041" cy="95930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4024827"/>
            <a:ext cx="9088041" cy="95930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58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804969"/>
            <a:ext cx="18443377" cy="29223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3706342"/>
            <a:ext cx="9046274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5522763"/>
            <a:ext cx="9046274" cy="81231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3706342"/>
            <a:ext cx="9090826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5522763"/>
            <a:ext cx="9090826" cy="81231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2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64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856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2176910"/>
            <a:ext cx="10825460" cy="10744538"/>
          </a:xfrm>
        </p:spPr>
        <p:txBody>
          <a:bodyPr/>
          <a:lstStyle>
            <a:lvl1pPr>
              <a:defRPr sz="7055"/>
            </a:lvl1pPr>
            <a:lvl2pPr>
              <a:defRPr sz="6173"/>
            </a:lvl2pPr>
            <a:lvl3pPr>
              <a:defRPr sz="5291"/>
            </a:lvl3pPr>
            <a:lvl4pPr>
              <a:defRPr sz="4409"/>
            </a:lvl4pPr>
            <a:lvl5pPr>
              <a:defRPr sz="4409"/>
            </a:lvl5pPr>
            <a:lvl6pPr>
              <a:defRPr sz="4409"/>
            </a:lvl6pPr>
            <a:lvl7pPr>
              <a:defRPr sz="4409"/>
            </a:lvl7pPr>
            <a:lvl8pPr>
              <a:defRPr sz="4409"/>
            </a:lvl8pPr>
            <a:lvl9pPr>
              <a:defRPr sz="440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32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2176910"/>
            <a:ext cx="10825460" cy="10744538"/>
          </a:xfrm>
        </p:spPr>
        <p:txBody>
          <a:bodyPr anchor="t"/>
          <a:lstStyle>
            <a:lvl1pPr marL="0" indent="0">
              <a:buNone/>
              <a:defRPr sz="7055"/>
            </a:lvl1pPr>
            <a:lvl2pPr marL="1007943" indent="0">
              <a:buNone/>
              <a:defRPr sz="6173"/>
            </a:lvl2pPr>
            <a:lvl3pPr marL="2015886" indent="0">
              <a:buNone/>
              <a:defRPr sz="5291"/>
            </a:lvl3pPr>
            <a:lvl4pPr marL="3023829" indent="0">
              <a:buNone/>
              <a:defRPr sz="4409"/>
            </a:lvl4pPr>
            <a:lvl5pPr marL="4031772" indent="0">
              <a:buNone/>
              <a:defRPr sz="4409"/>
            </a:lvl5pPr>
            <a:lvl6pPr marL="5039716" indent="0">
              <a:buNone/>
              <a:defRPr sz="4409"/>
            </a:lvl6pPr>
            <a:lvl7pPr marL="6047659" indent="0">
              <a:buNone/>
              <a:defRPr sz="4409"/>
            </a:lvl7pPr>
            <a:lvl8pPr marL="7055602" indent="0">
              <a:buNone/>
              <a:defRPr sz="4409"/>
            </a:lvl8pPr>
            <a:lvl9pPr marL="8063545" indent="0">
              <a:buNone/>
              <a:defRPr sz="440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01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2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804966"/>
            <a:ext cx="4610844" cy="12812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804966"/>
            <a:ext cx="13565237" cy="12812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097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804969"/>
            <a:ext cx="18443377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4024827"/>
            <a:ext cx="18443377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2B3A9-50D6-43D2-8A0E-A3084911157F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14013401"/>
            <a:ext cx="7216973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9BAEB-C6A4-4FC9-84F2-CB1F451B6A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43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015886" rtl="0" eaLnBrk="1" latinLnBrk="0" hangingPunct="1">
        <a:lnSpc>
          <a:spcPct val="90000"/>
        </a:lnSpc>
        <a:spcBef>
          <a:spcPct val="0"/>
        </a:spcBef>
        <a:buNone/>
        <a:defRPr sz="9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3972" indent="-503972" algn="l" defTabSz="2015886" rtl="0" eaLnBrk="1" latinLnBrk="0" hangingPunct="1">
        <a:lnSpc>
          <a:spcPct val="90000"/>
        </a:lnSpc>
        <a:spcBef>
          <a:spcPts val="2205"/>
        </a:spcBef>
        <a:buFont typeface="Arial" panose="020B0604020202020204" pitchFamily="34" charset="0"/>
        <a:buChar char="•"/>
        <a:defRPr sz="6173" kern="1200">
          <a:solidFill>
            <a:schemeClr val="tx1"/>
          </a:solidFill>
          <a:latin typeface="+mn-lt"/>
          <a:ea typeface="+mn-ea"/>
          <a:cs typeface="+mn-cs"/>
        </a:defRPr>
      </a:lvl1pPr>
      <a:lvl2pPr marL="1511915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2pPr>
      <a:lvl3pPr marL="2519858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3pPr>
      <a:lvl4pPr marL="3527801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535744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54368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551630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559573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56751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1007943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2015886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3pPr>
      <a:lvl4pPr marL="3023829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031772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039716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047659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055602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063545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jpg"/><Relationship Id="rId10" Type="http://schemas.openxmlformats.org/officeDocument/2006/relationships/hyperlink" Target="https://doi.org/10.1103/PhysRev.65.117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doi.org/10.1007/BF0298057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bg1"/>
            </a:gs>
            <a:gs pos="97000">
              <a:srgbClr val="B2E5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9803FA0-B9EC-F78F-5EC5-53F69C8FFFAE}"/>
              </a:ext>
            </a:extLst>
          </p:cNvPr>
          <p:cNvSpPr/>
          <p:nvPr/>
        </p:nvSpPr>
        <p:spPr>
          <a:xfrm>
            <a:off x="317501" y="2087230"/>
            <a:ext cx="6972300" cy="7575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The Ising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535D0B-631E-30B9-A060-379602924BDA}"/>
              </a:ext>
            </a:extLst>
          </p:cNvPr>
          <p:cNvSpPr/>
          <p:nvPr/>
        </p:nvSpPr>
        <p:spPr>
          <a:xfrm>
            <a:off x="-1" y="0"/>
            <a:ext cx="21383625" cy="175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800" b="1" dirty="0">
                <a:solidFill>
                  <a:srgbClr val="FAF9F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Modelling ferromagnet transitions using the Ising model</a:t>
            </a:r>
          </a:p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1868A3-3029-9541-C170-EC26EDBB1B02}"/>
              </a:ext>
            </a:extLst>
          </p:cNvPr>
          <p:cNvSpPr/>
          <p:nvPr/>
        </p:nvSpPr>
        <p:spPr>
          <a:xfrm>
            <a:off x="8014287" y="3434792"/>
            <a:ext cx="6594474" cy="782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Partition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4120AE-C9A0-50B7-9158-E1D51653CD0F}"/>
                  </a:ext>
                </a:extLst>
              </p:cNvPr>
              <p:cNvSpPr txBox="1"/>
              <p:nvPr/>
            </p:nvSpPr>
            <p:spPr>
              <a:xfrm>
                <a:off x="346869" y="3056582"/>
                <a:ext cx="7125835" cy="13882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The Ising model is a simple model used to describe ferromagnetism using statistical mechanics [1]. For the 2D case, we create a periodic lattice of dimensions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 dirty="0" smtClean="0"/>
                        </m:ctrlPr>
                      </m:sSubPr>
                      <m:e>
                        <m:r>
                          <a:rPr lang="en-GB" sz="2200" i="1" dirty="0" smtClean="0"/>
                          <m:t>𝑁</m:t>
                        </m:r>
                      </m:e>
                      <m:sub>
                        <m:r>
                          <a:rPr lang="en-GB" sz="2200" i="1" dirty="0" smtClean="0"/>
                          <m:t>𝑥</m:t>
                        </m:r>
                      </m:sub>
                    </m:sSub>
                  </m:oMath>
                </a14:m>
                <a:r>
                  <a:rPr lang="en-GB" sz="2200" dirty="0"/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 dirty="0" smtClean="0"/>
                        </m:ctrlPr>
                      </m:sSubPr>
                      <m:e>
                        <m:r>
                          <a:rPr lang="en-GB" sz="2200" i="1" dirty="0" smtClean="0"/>
                          <m:t>𝑁</m:t>
                        </m:r>
                      </m:e>
                      <m:sub>
                        <m:r>
                          <a:rPr lang="en-GB" sz="2200" i="1" dirty="0" smtClean="0"/>
                          <m:t>𝑦</m:t>
                        </m:r>
                      </m:sub>
                    </m:sSub>
                  </m:oMath>
                </a14:m>
                <a:r>
                  <a:rPr lang="en-GB" sz="2200" dirty="0"/>
                  <a:t>, where each point is randomly assigned a spin value of either +1 (red) or -1 (blue), representing spin-up and spin-down states respectively (see fig.1 for a visual).</a:t>
                </a:r>
              </a:p>
              <a:p>
                <a:endParaRPr lang="en-GB" sz="2800" dirty="0"/>
              </a:p>
              <a:p>
                <a:endParaRPr lang="en-GB" sz="2800" dirty="0"/>
              </a:p>
              <a:p>
                <a:endParaRPr lang="en-GB" sz="2800" dirty="0"/>
              </a:p>
              <a:p>
                <a:endParaRPr lang="en-GB" sz="2800" dirty="0"/>
              </a:p>
              <a:p>
                <a:endParaRPr lang="en-GB" sz="2800" dirty="0"/>
              </a:p>
              <a:p>
                <a:endParaRPr lang="en-GB" sz="2800" dirty="0"/>
              </a:p>
              <a:p>
                <a:endParaRPr lang="en-GB" sz="2800" dirty="0"/>
              </a:p>
              <a:p>
                <a:endParaRPr lang="en-GB" sz="2800" dirty="0"/>
              </a:p>
              <a:p>
                <a:endParaRPr lang="en-GB" sz="2800" dirty="0"/>
              </a:p>
              <a:p>
                <a:endParaRPr lang="en-GB" sz="2400" dirty="0"/>
              </a:p>
              <a:p>
                <a:r>
                  <a:rPr lang="en-GB" sz="2200" dirty="0"/>
                  <a:t>The Ising model tells us the total energy of the lattice comes from two sources: the interaction between the spins and an external magnetic field </a:t>
                </a:r>
                <a14:m>
                  <m:oMath xmlns:m="http://schemas.openxmlformats.org/officeDocument/2006/math">
                    <m:r>
                      <a:rPr lang="en-GB" sz="2200" i="1" dirty="0" smtClean="0"/>
                      <m:t>𝐵</m:t>
                    </m:r>
                  </m:oMath>
                </a14:m>
                <a:r>
                  <a:rPr lang="en-GB" sz="2200" dirty="0"/>
                  <a:t>, and the interaction between neighbouring spins[1,2]. For simplicity, the 2D Ising model only considers interactions between the four nearest neighbours, highlighted in white in Fig 1.</a:t>
                </a:r>
              </a:p>
              <a:p>
                <a:r>
                  <a:rPr lang="en-GB" sz="2200" dirty="0"/>
                  <a:t>Mathematically this energy </a:t>
                </a:r>
                <a14:m>
                  <m:oMath xmlns:m="http://schemas.openxmlformats.org/officeDocument/2006/math">
                    <m:r>
                      <a:rPr lang="en-GB" sz="2200" b="0" i="1" smtClean="0"/>
                      <m:t>𝐸</m:t>
                    </m:r>
                  </m:oMath>
                </a14:m>
                <a:r>
                  <a:rPr lang="en-GB" sz="2200" dirty="0"/>
                  <a:t>, can be written as: </a:t>
                </a:r>
              </a:p>
              <a:p>
                <a:endParaRPr lang="en-GB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/>
                        <m:t>𝐸</m:t>
                      </m:r>
                      <m:r>
                        <a:rPr lang="en-GB" sz="2200" i="1"/>
                        <m:t>=−</m:t>
                      </m:r>
                      <m:r>
                        <a:rPr lang="en-GB" sz="2200" i="1"/>
                        <m:t>𝐵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200" i="1"/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l-GR" sz="2200" i="1"/>
                            <m:t>α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200" i="1"/>
                              </m:ctrlPr>
                            </m:sSubPr>
                            <m:e>
                              <m:r>
                                <a:rPr lang="en-GB" sz="2200" i="1"/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l-GR" sz="2200" i="1"/>
                                <m:t>α</m:t>
                              </m:r>
                            </m:sub>
                          </m:sSub>
                        </m:e>
                      </m:nary>
                      <m:r>
                        <a:rPr lang="en-GB" sz="2200"/>
                        <m:t> −</m:t>
                      </m:r>
                      <m:r>
                        <m:rPr>
                          <m:sty m:val="p"/>
                        </m:rPr>
                        <a:rPr lang="en-GB" sz="2200"/>
                        <m:t>J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200" i="1"/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200" i="1"/>
                            <m:t>&lt;</m:t>
                          </m:r>
                          <m:r>
                            <m:rPr>
                              <m:sty m:val="p"/>
                            </m:rPr>
                            <a:rPr lang="el-GR" sz="2200" i="1"/>
                            <m:t>αβ</m:t>
                          </m:r>
                          <m:r>
                            <a:rPr lang="en-GB" sz="2200" i="1"/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200" i="1"/>
                              </m:ctrlPr>
                            </m:sSubPr>
                            <m:e>
                              <m:r>
                                <a:rPr lang="en-GB" sz="2200" i="1"/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l-GR" sz="2200" i="1"/>
                                <m:t>α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200" i="1"/>
                              </m:ctrlPr>
                            </m:sSubPr>
                            <m:e>
                              <m:r>
                                <a:rPr lang="en-GB" sz="2200" i="1"/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2200" i="1"/>
                                <m:t>β</m:t>
                              </m:r>
                            </m:sub>
                          </m:sSub>
                        </m:e>
                      </m:nary>
                      <m:r>
                        <a:rPr lang="en-GB" sz="2200" b="0" i="0" smtClean="0"/>
                        <m:t>, </m:t>
                      </m:r>
                    </m:oMath>
                  </m:oMathPara>
                </a14:m>
                <a:endParaRPr lang="en-GB" sz="22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200" dirty="0"/>
                  <a:t>where </a:t>
                </a:r>
                <a14:m>
                  <m:oMath xmlns:m="http://schemas.openxmlformats.org/officeDocument/2006/math">
                    <m:r>
                      <a:rPr lang="el-GR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2200" dirty="0"/>
                  <a:t> is the summation over each lattice point (i.e. over all </a:t>
                </a:r>
                <a14:m>
                  <m:oMath xmlns:m="http://schemas.openxmlformats.org/officeDocument/2006/math">
                    <m:r>
                      <a:rPr lang="en-GB" sz="2200" i="1" dirty="0"/>
                      <m:t>𝑖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dirty="0"/>
                      <m:t>𝑗</m:t>
                    </m:r>
                  </m:oMath>
                </a14:m>
                <a:r>
                  <a:rPr lang="en-GB" sz="2200" dirty="0"/>
                  <a:t>), and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2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200" dirty="0"/>
                  <a:t>is the summation of the four nearest neighbours: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i="1" dirty="0"/>
                        </m:ctrlPr>
                      </m:dPr>
                      <m:e>
                        <m:r>
                          <a:rPr lang="en-GB" sz="2200" i="1" dirty="0"/>
                          <m:t>𝑖</m:t>
                        </m:r>
                        <m:r>
                          <a:rPr lang="en-GB" sz="2200" i="1" dirty="0"/>
                          <m:t>−1,</m:t>
                        </m:r>
                        <m:r>
                          <a:rPr lang="en-GB" sz="2200" i="1" dirty="0"/>
                          <m:t>𝑗</m:t>
                        </m:r>
                      </m:e>
                    </m:d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i="1" dirty="0"/>
                        </m:ctrlPr>
                      </m:dPr>
                      <m:e>
                        <m:r>
                          <a:rPr lang="en-GB" sz="2200" i="1" dirty="0"/>
                          <m:t>𝑖</m:t>
                        </m:r>
                        <m:r>
                          <a:rPr lang="en-GB" sz="2200" i="1" dirty="0"/>
                          <m:t>+1,</m:t>
                        </m:r>
                        <m:r>
                          <a:rPr lang="en-GB" sz="2200" i="1" dirty="0"/>
                          <m:t>𝑗</m:t>
                        </m:r>
                      </m:e>
                    </m:d>
                    <m:r>
                      <a:rPr lang="en-GB" sz="2200" dirty="0"/>
                      <m:t>, </m:t>
                    </m:r>
                    <m:r>
                      <a:rPr lang="en-GB" sz="2200" i="1" dirty="0"/>
                      <m:t>(</m:t>
                    </m:r>
                    <m:r>
                      <a:rPr lang="en-GB" sz="2200" i="1" dirty="0" err="1"/>
                      <m:t>𝑖</m:t>
                    </m:r>
                    <m:r>
                      <a:rPr lang="en-GB" sz="2200" i="1" dirty="0"/>
                      <m:t> ,</m:t>
                    </m:r>
                    <m:r>
                      <a:rPr lang="en-GB" sz="2200" i="1" dirty="0"/>
                      <m:t>𝑗</m:t>
                    </m:r>
                    <m:r>
                      <a:rPr lang="en-GB" sz="2200" i="1" dirty="0"/>
                      <m:t>−1) </m:t>
                    </m: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i="1" dirty="0" err="1"/>
                        </m:ctrlPr>
                      </m:dPr>
                      <m:e>
                        <m:r>
                          <a:rPr lang="en-GB" sz="2200" i="1" dirty="0" err="1"/>
                          <m:t>𝑖</m:t>
                        </m:r>
                        <m:r>
                          <a:rPr lang="en-GB" sz="2200" i="1" dirty="0"/>
                          <m:t>, </m:t>
                        </m:r>
                        <m:r>
                          <a:rPr lang="en-GB" sz="2200" i="1" dirty="0"/>
                          <m:t>𝑗</m:t>
                        </m:r>
                        <m:r>
                          <a:rPr lang="en-GB" sz="2200" i="1" dirty="0"/>
                          <m:t>+1</m:t>
                        </m:r>
                      </m:e>
                    </m:d>
                  </m:oMath>
                </a14:m>
                <a:r>
                  <a:rPr lang="en-GB" sz="2200" dirty="0"/>
                  <a:t>[2].</a:t>
                </a:r>
              </a:p>
              <a:p>
                <a:endParaRPr lang="en-GB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32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4120AE-C9A0-50B7-9158-E1D51653C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69" y="3056582"/>
                <a:ext cx="7125835" cy="13882262"/>
              </a:xfrm>
              <a:prstGeom prst="rect">
                <a:avLst/>
              </a:prstGeom>
              <a:blipFill>
                <a:blip r:embed="rId3"/>
                <a:stretch>
                  <a:fillRect l="-1112" t="-263" r="-15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3B988E04-5A6F-A033-C5DA-580267F3E306}"/>
              </a:ext>
            </a:extLst>
          </p:cNvPr>
          <p:cNvSpPr/>
          <p:nvPr/>
        </p:nvSpPr>
        <p:spPr>
          <a:xfrm>
            <a:off x="8057150" y="8692014"/>
            <a:ext cx="6594474" cy="7334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Metropolis algorithm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EB148-53A1-DB76-4558-50F32F00F47D}"/>
              </a:ext>
            </a:extLst>
          </p:cNvPr>
          <p:cNvSpPr/>
          <p:nvPr/>
        </p:nvSpPr>
        <p:spPr>
          <a:xfrm>
            <a:off x="15094989" y="4085091"/>
            <a:ext cx="5956300" cy="6040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Results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A57ABA-3D08-2D50-A064-7FC53A59E7EA}"/>
              </a:ext>
            </a:extLst>
          </p:cNvPr>
          <p:cNvSpPr/>
          <p:nvPr/>
        </p:nvSpPr>
        <p:spPr>
          <a:xfrm>
            <a:off x="15274922" y="13725793"/>
            <a:ext cx="5956300" cy="413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6. References &amp; AI statement</a:t>
            </a:r>
          </a:p>
        </p:txBody>
      </p:sp>
      <p:pic>
        <p:nvPicPr>
          <p:cNvPr id="22" name="Picture 21" descr="A graph with a line&#10;&#10;AI-generated content may be incorrect.">
            <a:extLst>
              <a:ext uri="{FF2B5EF4-FFF2-40B4-BE49-F238E27FC236}">
                <a16:creationId xmlns:a16="http://schemas.microsoft.com/office/drawing/2014/main" id="{797B79FB-8770-D32C-C6E7-BA87D88722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" t="6597" r="8775" b="1459"/>
          <a:stretch>
            <a:fillRect/>
          </a:stretch>
        </p:blipFill>
        <p:spPr>
          <a:xfrm>
            <a:off x="15094989" y="7119264"/>
            <a:ext cx="6034153" cy="4653325"/>
          </a:xfrm>
          <a:prstGeom prst="rect">
            <a:avLst/>
          </a:prstGeom>
        </p:spPr>
      </p:pic>
      <p:pic>
        <p:nvPicPr>
          <p:cNvPr id="25" name="Picture 24" descr="A screenshot of a game&#10;&#10;AI-generated content may be incorrect.">
            <a:extLst>
              <a:ext uri="{FF2B5EF4-FFF2-40B4-BE49-F238E27FC236}">
                <a16:creationId xmlns:a16="http://schemas.microsoft.com/office/drawing/2014/main" id="{0A098208-DECC-ED7A-5EAB-572429DD3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893" b="67039"/>
          <a:stretch>
            <a:fillRect/>
          </a:stretch>
        </p:blipFill>
        <p:spPr>
          <a:xfrm>
            <a:off x="528903" y="5510284"/>
            <a:ext cx="3369843" cy="34077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CAB59E5-F6D0-D71D-13A3-F9D8169E4722}"/>
              </a:ext>
            </a:extLst>
          </p:cNvPr>
          <p:cNvSpPr txBox="1"/>
          <p:nvPr/>
        </p:nvSpPr>
        <p:spPr>
          <a:xfrm>
            <a:off x="7971425" y="2019196"/>
            <a:ext cx="66801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J is the interaction strength between neighbouring spins, with J &gt; 0 and J &lt; 0 corresponding with the tendency for neighbouring spins to align or anti-align, respectively.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01C437-1488-D0E4-F101-B7D418ABCBCD}"/>
              </a:ext>
            </a:extLst>
          </p:cNvPr>
          <p:cNvSpPr/>
          <p:nvPr/>
        </p:nvSpPr>
        <p:spPr>
          <a:xfrm>
            <a:off x="2283435" y="13384555"/>
            <a:ext cx="1633076" cy="505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External Field Contribution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F7DCEE-6F03-731A-42FB-F052112FBBBB}"/>
              </a:ext>
            </a:extLst>
          </p:cNvPr>
          <p:cNvSpPr/>
          <p:nvPr/>
        </p:nvSpPr>
        <p:spPr>
          <a:xfrm>
            <a:off x="4217147" y="13384555"/>
            <a:ext cx="1854199" cy="505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Spin Interaction Contribution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8E7808F-3DDA-04F2-B155-69C37C2B5BC4}"/>
                  </a:ext>
                </a:extLst>
              </p:cNvPr>
              <p:cNvSpPr txBox="1"/>
              <p:nvPr/>
            </p:nvSpPr>
            <p:spPr>
              <a:xfrm>
                <a:off x="7923797" y="4208061"/>
                <a:ext cx="6861180" cy="4653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Even using a small lattice, checking each possible state configuration would be impossible. To address this and remove configurations that are extremely unlikely, we consider the partition function, </a:t>
                </a:r>
                <a14:m>
                  <m:oMath xmlns:m="http://schemas.openxmlformats.org/officeDocument/2006/math">
                    <m:r>
                      <a:rPr lang="en-GB" sz="2200" b="0" i="1" smtClean="0"/>
                      <m:t>𝑍</m:t>
                    </m:r>
                  </m:oMath>
                </a14:m>
                <a:r>
                  <a:rPr lang="en-GB" sz="2200" dirty="0"/>
                  <a:t>. This helps us determine which  states are most probable at a given temperature, so we can restrict our consideration to these configurations only. We define the partition function as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GB" sz="2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f>
                            <m:fPr>
                              <m:type m:val="skw"/>
                              <m:ctrlP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GB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den>
                          </m:f>
                        </m:e>
                      </m:nary>
                      <m:r>
                        <a:rPr lang="en-GB" sz="22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200" dirty="0"/>
              </a:p>
              <a:p>
                <a:r>
                  <a:rPr lang="en-GB" sz="2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 smtClean="0"/>
                        </m:ctrlPr>
                      </m:sSubPr>
                      <m:e>
                        <m:r>
                          <a:rPr lang="en-GB" sz="2200" b="0" i="1" smtClean="0"/>
                          <m:t>𝐸</m:t>
                        </m:r>
                      </m:e>
                      <m:sub>
                        <m:r>
                          <a:rPr lang="en-GB" sz="2200" b="0" i="1" smtClean="0"/>
                          <m:t>𝑖</m:t>
                        </m:r>
                      </m:sub>
                    </m:sSub>
                  </m:oMath>
                </a14:m>
                <a:r>
                  <a:rPr lang="en-GB" sz="2200" dirty="0"/>
                  <a:t> is the energy of state </a:t>
                </a:r>
                <a14:m>
                  <m:oMath xmlns:m="http://schemas.openxmlformats.org/officeDocument/2006/math">
                    <m:r>
                      <a:rPr lang="en-GB" sz="2200" b="0" i="1" smtClean="0"/>
                      <m:t>𝑖</m:t>
                    </m:r>
                  </m:oMath>
                </a14:m>
                <a:r>
                  <a:rPr lang="en-GB" sz="22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200" dirty="0">
                    <a:ea typeface="Cambria Math" panose="02040503050406030204" pitchFamily="18" charset="0"/>
                  </a:rPr>
                  <a:t> is the Boltzmann constant, and T is the temperature of the system.</a:t>
                </a:r>
              </a:p>
              <a:p>
                <a:endParaRPr lang="en-GB" sz="23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8E7808F-3DDA-04F2-B155-69C37C2B5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797" y="4208061"/>
                <a:ext cx="6861180" cy="4653325"/>
              </a:xfrm>
              <a:prstGeom prst="rect">
                <a:avLst/>
              </a:prstGeom>
              <a:blipFill>
                <a:blip r:embed="rId6"/>
                <a:stretch>
                  <a:fillRect l="-1156" t="-785" r="-16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3E348A42-F40C-65ED-3EE1-2BDB17C93E44}"/>
              </a:ext>
            </a:extLst>
          </p:cNvPr>
          <p:cNvSpPr txBox="1"/>
          <p:nvPr/>
        </p:nvSpPr>
        <p:spPr>
          <a:xfrm>
            <a:off x="15059853" y="1994753"/>
            <a:ext cx="62553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cs typeface="Times New Roman" panose="02020603050405020304" pitchFamily="18" charset="0"/>
              </a:rPr>
              <a:t>3) If neither condition is met, retain original spin</a:t>
            </a:r>
          </a:p>
          <a:p>
            <a:r>
              <a:rPr lang="en-GB" sz="2200" dirty="0">
                <a:cs typeface="Times New Roman" panose="02020603050405020304" pitchFamily="18" charset="0"/>
              </a:rPr>
              <a:t>We then repeat these steps for every lattice point, applying periodic boundary conditions where necessary. This entire process is an implementation of the well-known metropolis algorithm [3].</a:t>
            </a:r>
            <a:endParaRPr lang="en-GB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318423-8925-84AB-F6DC-292C2B4E41A5}"/>
                  </a:ext>
                </a:extLst>
              </p:cNvPr>
              <p:cNvSpPr txBox="1"/>
              <p:nvPr/>
            </p:nvSpPr>
            <p:spPr>
              <a:xfrm>
                <a:off x="8152552" y="9425484"/>
                <a:ext cx="6727827" cy="6935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>
                    <a:cs typeface="Times New Roman" panose="02020603050405020304" pitchFamily="18" charset="0"/>
                  </a:rPr>
                  <a:t>By flipping the spin of one lattice site and calculating the change in energy, we can use the partition function to see how likely this change is to occur. Since flipping a spin only effects the 4 nearest neighbours, we find the change in energy to be given by: </a:t>
                </a:r>
              </a:p>
              <a:p>
                <a:endParaRPr lang="en-GB" sz="22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200" b="0" i="0" smtClean="0"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GB" sz="2200" b="0" i="1" smtClean="0"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GB" sz="2200" b="0" i="1" smtClean="0">
                          <a:cs typeface="Times New Roman" panose="02020603050405020304" pitchFamily="18" charset="0"/>
                        </a:rPr>
                        <m:t>=−2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200" b="0" i="1" smtClean="0"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cs typeface="Times New Roman" panose="02020603050405020304" pitchFamily="18" charset="0"/>
                            </a:rPr>
                            <m:t>𝐽𝑓</m:t>
                          </m:r>
                          <m:r>
                            <a:rPr lang="en-GB" sz="2200" b="0" i="1" smtClean="0"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2200" b="0" i="1" smtClean="0"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GB" sz="2200" b="0" i="1" smtClean="0"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200" b="0" i="1" smtClean="0"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200" b="0" i="1" smtClean="0">
                              <a:cs typeface="Times New Roman" panose="02020603050405020304" pitchFamily="18" charset="0"/>
                            </a:rPr>
                            <m:t>α</m:t>
                          </m:r>
                        </m:sub>
                      </m:sSub>
                      <m:r>
                        <a:rPr lang="en-GB" sz="2200" b="0" i="0" smtClean="0"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GB" sz="2200" b="0" dirty="0">
                  <a:cs typeface="Times New Roman" panose="02020603050405020304" pitchFamily="18" charset="0"/>
                </a:endParaRPr>
              </a:p>
              <a:p>
                <a:endParaRPr lang="en-GB" sz="2200" b="0" dirty="0">
                  <a:cs typeface="Times New Roman" panose="02020603050405020304" pitchFamily="18" charset="0"/>
                </a:endParaRPr>
              </a:p>
              <a:p>
                <a:r>
                  <a:rPr lang="en-GB" sz="2200" dirty="0">
                    <a:cs typeface="Times New Roman" panose="02020603050405020304" pitchFamily="18" charset="0"/>
                  </a:rPr>
                  <a:t>where f is the sum of the flipped site’s 4 nearest neighbours, and the negative sign ensures fully aligned spins correlate to a lower energy state. Whether or not we keep the flipped state depends on whether it meets the following criteria: </a:t>
                </a:r>
              </a:p>
              <a:p>
                <a:pPr marL="342900" indent="-342900">
                  <a:buAutoNum type="arabicParenR"/>
                </a:pPr>
                <a:r>
                  <a:rPr lang="en-GB" sz="2200" dirty="0"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2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/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GB" sz="2200" i="1"/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GB" sz="2200" i="1"/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GB" sz="2200"/>
                                  <m:t>Δ</m:t>
                                </m:r>
                                <m:r>
                                  <a:rPr lang="en-GB" sz="2200" i="1"/>
                                  <m:t>𝐸</m:t>
                                </m:r>
                              </m:num>
                              <m:den>
                                <m:r>
                                  <a:rPr lang="en-GB" sz="2200" i="1"/>
                                  <m:t>𝑘𝑇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GB" sz="2200" i="1"/>
                      <m:t>&gt;1  </m:t>
                    </m:r>
                  </m:oMath>
                </a14:m>
                <a:r>
                  <a:rPr lang="en-GB" sz="2200" dirty="0">
                    <a:cs typeface="Times New Roman" panose="02020603050405020304" pitchFamily="18" charset="0"/>
                  </a:rPr>
                  <a:t>keep the flipped spin</a:t>
                </a:r>
              </a:p>
              <a:p>
                <a:pPr marL="342900" indent="-342900">
                  <a:buAutoNum type="arabicParenR"/>
                </a:pPr>
                <a:r>
                  <a:rPr lang="en-GB" sz="2200" dirty="0">
                    <a:cs typeface="Times New Roman" panose="02020603050405020304" pitchFamily="18" charset="0"/>
                  </a:rPr>
                  <a:t>If not, generate a random number, </a:t>
                </a:r>
                <a14:m>
                  <m:oMath xmlns:m="http://schemas.openxmlformats.org/officeDocument/2006/math">
                    <m:r>
                      <a:rPr lang="en-GB" sz="2200" i="1" dirty="0"/>
                      <m:t>𝑛</m:t>
                    </m:r>
                  </m:oMath>
                </a14:m>
                <a:r>
                  <a:rPr lang="en-GB" sz="2200" dirty="0">
                    <a:cs typeface="Times New Roman" panose="02020603050405020304" pitchFamily="18" charset="0"/>
                  </a:rPr>
                  <a:t>, between 0 and 1.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2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/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GB" sz="2200" i="1"/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GB" sz="2200" i="1"/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GB" sz="2200"/>
                                  <m:t>Δ</m:t>
                                </m:r>
                                <m:r>
                                  <a:rPr lang="en-GB" sz="2200" i="1"/>
                                  <m:t>𝐸</m:t>
                                </m:r>
                              </m:num>
                              <m:den>
                                <m:r>
                                  <a:rPr lang="en-GB" sz="2200" i="1"/>
                                  <m:t>𝑘𝑇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GB" sz="2200" i="1"/>
                      <m:t>&gt;</m:t>
                    </m:r>
                    <m:r>
                      <a:rPr lang="en-GB" sz="2200" i="1"/>
                      <m:t>𝑛</m:t>
                    </m:r>
                  </m:oMath>
                </a14:m>
                <a:r>
                  <a:rPr lang="en-GB" sz="2200" dirty="0">
                    <a:cs typeface="Times New Roman" panose="02020603050405020304" pitchFamily="18" charset="0"/>
                  </a:rPr>
                  <a:t>, keep the flipped spin</a:t>
                </a:r>
              </a:p>
              <a:p>
                <a:endPara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sz="23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318423-8925-84AB-F6DC-292C2B4E4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552" y="9425484"/>
                <a:ext cx="6727827" cy="6935232"/>
              </a:xfrm>
              <a:prstGeom prst="rect">
                <a:avLst/>
              </a:prstGeom>
              <a:blipFill>
                <a:blip r:embed="rId7"/>
                <a:stretch>
                  <a:fillRect l="-1178" t="-615" r="-17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F32D44-20AA-2A2C-3876-692BE6DCBA8C}"/>
                  </a:ext>
                </a:extLst>
              </p:cNvPr>
              <p:cNvSpPr txBox="1"/>
              <p:nvPr/>
            </p:nvSpPr>
            <p:spPr>
              <a:xfrm>
                <a:off x="15296904" y="11775033"/>
                <a:ext cx="5883278" cy="2426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Fig. 2: Plot of average magnetisation per spin against number of sweeps of the Monte Carlo algorithm. These are the results of a 32 x 32 lattice, with B = -0.05, J = 0.5, and </a:t>
                </a:r>
                <a:r>
                  <a:rPr lang="en-GB" dirty="0" err="1"/>
                  <a:t>kT</a:t>
                </a:r>
                <a:r>
                  <a:rPr lang="en-GB" dirty="0"/>
                  <a:t> = 1.  Average magnetisation was calculated using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 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F32D44-20AA-2A2C-3876-692BE6DCB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6904" y="11775033"/>
                <a:ext cx="5883278" cy="2426498"/>
              </a:xfrm>
              <a:prstGeom prst="rect">
                <a:avLst/>
              </a:prstGeom>
              <a:blipFill>
                <a:blip r:embed="rId8"/>
                <a:stretch>
                  <a:fillRect l="-829" t="-12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AFB307A-3DA6-7F77-596F-2CB881B32E69}"/>
              </a:ext>
            </a:extLst>
          </p:cNvPr>
          <p:cNvSpPr txBox="1"/>
          <p:nvPr/>
        </p:nvSpPr>
        <p:spPr>
          <a:xfrm>
            <a:off x="6071346" y="12585704"/>
            <a:ext cx="7874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 </a:t>
            </a: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F1105-86FE-10E3-3A31-FCBC884013E3}"/>
              </a:ext>
            </a:extLst>
          </p:cNvPr>
          <p:cNvSpPr txBox="1"/>
          <p:nvPr/>
        </p:nvSpPr>
        <p:spPr>
          <a:xfrm>
            <a:off x="13245099" y="7113399"/>
            <a:ext cx="140652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/>
              <a:t> </a:t>
            </a: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(2)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9DA71-F5A5-21D1-69AA-00D7232B0500}"/>
              </a:ext>
            </a:extLst>
          </p:cNvPr>
          <p:cNvSpPr txBox="1"/>
          <p:nvPr/>
        </p:nvSpPr>
        <p:spPr>
          <a:xfrm>
            <a:off x="4127501" y="5921486"/>
            <a:ext cx="29971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Fig. 1: Periodic lattice (i.e. edges wrap around) with randomly assigned spins. Red = spin-up, Blue = spin-down . </a:t>
            </a:r>
          </a:p>
          <a:p>
            <a:r>
              <a:rPr lang="en-GB" dirty="0"/>
              <a:t>The four nearest neighbours of the centre square are shown using white borders and numbers.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A28343-021F-427D-0249-D19A8904F29D}"/>
              </a:ext>
            </a:extLst>
          </p:cNvPr>
          <p:cNvSpPr txBox="1"/>
          <p:nvPr/>
        </p:nvSpPr>
        <p:spPr>
          <a:xfrm>
            <a:off x="13245099" y="11444343"/>
            <a:ext cx="140652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dirty="0"/>
              <a:t> </a:t>
            </a: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(3)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116D71-9CD5-A004-2A9E-B007A2779AD6}"/>
              </a:ext>
            </a:extLst>
          </p:cNvPr>
          <p:cNvSpPr txBox="1"/>
          <p:nvPr/>
        </p:nvSpPr>
        <p:spPr>
          <a:xfrm>
            <a:off x="15094989" y="4655829"/>
            <a:ext cx="59563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Fig. 2 shows the average magnetisation as a function of sweeps (one sweep corresponds to applying the metropolis algorithm across the entire lattice), for B = -0.05 and J = 0.5. This plot clearly demonstrates the Ising model’s ability to predict the evolution of a ferromagnetic system towards a steady state.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F32E5D-8798-4621-F762-44B2EAFBEE4C}"/>
              </a:ext>
            </a:extLst>
          </p:cNvPr>
          <p:cNvSpPr txBox="1"/>
          <p:nvPr/>
        </p:nvSpPr>
        <p:spPr>
          <a:xfrm>
            <a:off x="15245864" y="14139191"/>
            <a:ext cx="5883278" cy="105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de-DE" sz="880" dirty="0"/>
              <a:t>Ising, E. Beitrag zur Theorie des Ferromagnetismus. </a:t>
            </a:r>
            <a:r>
              <a:rPr lang="de-DE" sz="880" i="1" dirty="0"/>
              <a:t>Z. Physik</a:t>
            </a:r>
            <a:r>
              <a:rPr lang="de-DE" sz="880" dirty="0"/>
              <a:t> </a:t>
            </a:r>
            <a:r>
              <a:rPr lang="de-DE" sz="880" b="1" dirty="0"/>
              <a:t>31</a:t>
            </a:r>
            <a:r>
              <a:rPr lang="de-DE" sz="880" dirty="0"/>
              <a:t>, 253–258 (1925). </a:t>
            </a:r>
            <a:r>
              <a:rPr lang="de-DE" sz="880" dirty="0">
                <a:hlinkClick r:id="rId9"/>
              </a:rPr>
              <a:t>https://doi.org/10.1007/BF02980577</a:t>
            </a:r>
            <a:endParaRPr lang="de-DE" sz="880" dirty="0"/>
          </a:p>
          <a:p>
            <a:pPr marL="228600" indent="-228600">
              <a:buAutoNum type="arabicPeriod"/>
            </a:pPr>
            <a:r>
              <a:rPr lang="en-GB" sz="880" dirty="0"/>
              <a:t>Onsager, L. Crystal Statistics. I. A Two-Dimensional Model with an Order-Disorder Transition. </a:t>
            </a:r>
            <a:r>
              <a:rPr lang="en-GB" sz="880" i="1" dirty="0"/>
              <a:t>Phys. Rev.</a:t>
            </a:r>
            <a:r>
              <a:rPr lang="en-GB" sz="880" dirty="0"/>
              <a:t> </a:t>
            </a:r>
            <a:r>
              <a:rPr lang="en-GB" sz="880" b="1" dirty="0"/>
              <a:t>65</a:t>
            </a:r>
            <a:r>
              <a:rPr lang="en-GB" sz="880" dirty="0"/>
              <a:t>, 117–149 (1944). </a:t>
            </a:r>
            <a:r>
              <a:rPr lang="en-GB" sz="880" dirty="0">
                <a:hlinkClick r:id="rId10"/>
              </a:rPr>
              <a:t>https://doi.org/10.1103/PhysRev.65.117</a:t>
            </a:r>
            <a:endParaRPr lang="en-GB" sz="880" dirty="0"/>
          </a:p>
          <a:p>
            <a:pPr marL="228600" indent="-228600">
              <a:buAutoNum type="arabicPeriod"/>
            </a:pPr>
            <a:r>
              <a:rPr lang="en-GB" sz="880" dirty="0"/>
              <a:t>Metropolis, N., Rosenbluth, A., Rosenbluth, M., Teller, A., and Teller, E. (1953). Equations of state calculations by fast computing machines. J. Chem. Phys., 21(6): 10871092.</a:t>
            </a:r>
          </a:p>
          <a:p>
            <a:r>
              <a:rPr lang="en-GB" sz="880" dirty="0"/>
              <a:t>Generative AI in the form of ChatGPT was occasionally used to improve clarity of writing only.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CF9BD0-F567-EEBA-A4A3-3A8BE4BFAF16}"/>
              </a:ext>
            </a:extLst>
          </p:cNvPr>
          <p:cNvSpPr txBox="1"/>
          <p:nvPr/>
        </p:nvSpPr>
        <p:spPr>
          <a:xfrm>
            <a:off x="19878675" y="13031980"/>
            <a:ext cx="1000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 </a:t>
            </a:r>
            <a:r>
              <a:rPr lang="en-GB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(4)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ECBC47D-6CA4-3352-E203-71F43F1C93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52226" y="-552650"/>
            <a:ext cx="3953427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50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2551</TotalTime>
  <Words>837</Words>
  <Application>Microsoft Office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ADLaM Display</vt:lpstr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COOK, CHARLIE J. (Student)</dc:creator>
  <cp:lastModifiedBy>COOK, CHARLIE J. (Student)</cp:lastModifiedBy>
  <cp:revision>11</cp:revision>
  <cp:lastPrinted>2025-11-07T00:52:01Z</cp:lastPrinted>
  <dcterms:created xsi:type="dcterms:W3CDTF">2025-11-05T12:25:56Z</dcterms:created>
  <dcterms:modified xsi:type="dcterms:W3CDTF">2025-11-07T12:14:15Z</dcterms:modified>
</cp:coreProperties>
</file>