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865422B4.xml" ContentType="application/vnd.ms-powerpoint.comments+xml"/>
  <Override PartName="/ppt/comments/modernComment_106_3B9CC9C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3" r:id="rId10"/>
    <p:sldId id="261" r:id="rId11"/>
    <p:sldId id="260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AC6D80-8F5D-6893-C60E-5414CF9EB4CF}" name="COOK, CHARLIE J. (Student)" initials="CC" userId="S::mngz79@durham.ac.uk::12157dca-288b-437c-8f36-eddfd9d0a75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omments/modernComment_102_865422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15D959-89EF-434C-AC50-28B470337F2F}" authorId="{95AC6D80-8F5D-6893-C60E-5414CF9EB4CF}" created="2026-01-11T12:17:26.25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3660852" sldId="258"/>
      <ac:spMk id="3" creationId="{C523423D-F4FA-3BF8-99BE-306A939F280D}"/>
      <ac:txMk cp="0">
        <ac:context len="299" hash="3599712702"/>
      </ac:txMk>
    </ac:txMkLst>
    <p188:pos x="7189694" y="204881"/>
    <p188:txBody>
      <a:bodyPr/>
      <a:lstStyle/>
      <a:p>
        <a:r>
          <a:rPr lang="en-GB"/>
          <a:t>Speaking: E.g. a spin up ‘droplet’ in a spin down environment
</a:t>
        </a:r>
      </a:p>
    </p188:txBody>
  </p188:cm>
  <p188:cm id="{90C27808-73C2-49C4-A6EE-BE3E12CEF100}" authorId="{95AC6D80-8F5D-6893-C60E-5414CF9EB4CF}" created="2026-01-11T12:25:26.5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3660852" sldId="258"/>
      <ac:spMk id="3" creationId="{C523423D-F4FA-3BF8-99BE-306A939F280D}"/>
      <ac:txMk cp="0">
        <ac:context len="299" hash="3599712702"/>
      </ac:txMk>
    </ac:txMkLst>
    <p188:pos x="2624418" y="1099110"/>
    <p188:txBody>
      <a:bodyPr/>
      <a:lstStyle/>
      <a:p>
        <a:r>
          <a:rPr lang="en-GB"/>
          <a:t>Cost to create a new surface</a:t>
        </a:r>
      </a:p>
    </p188:txBody>
  </p188:cm>
  <p188:cm id="{53B9E2DF-EC27-4E3A-B6D0-ABA4E539937F}" authorId="{95AC6D80-8F5D-6893-C60E-5414CF9EB4CF}" created="2026-01-11T12:26:11.8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3660852" sldId="258"/>
      <ac:spMk id="3" creationId="{C523423D-F4FA-3BF8-99BE-306A939F280D}"/>
      <ac:txMk cp="0">
        <ac:context len="299" hash="3599712702"/>
      </ac:txMk>
    </ac:txMkLst>
    <p188:pos x="4170829" y="1099110"/>
    <p188:txBody>
      <a:bodyPr/>
      <a:lstStyle/>
      <a:p>
        <a:r>
          <a:rPr lang="en-GB"/>
          <a:t>Bulk gain (by converting into this stable phase)</a:t>
        </a:r>
      </a:p>
    </p188:txBody>
  </p188:cm>
  <p188:cm id="{88A67857-0017-4BB3-958E-48EE6FA5DA36}" authorId="{95AC6D80-8F5D-6893-C60E-5414CF9EB4CF}" created="2026-01-11T12:26:54.63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3660852" sldId="258"/>
      <ac:spMk id="3" creationId="{C523423D-F4FA-3BF8-99BE-306A939F280D}"/>
      <ac:txMk cp="0">
        <ac:context len="299" hash="3599712702"/>
      </ac:txMk>
    </ac:txMkLst>
    <p188:pos x="8373035" y="1610099"/>
    <p188:txBody>
      <a:bodyPr/>
      <a:lstStyle/>
      <a:p>
        <a:r>
          <a:rPr lang="en-GB"/>
          <a:t>Take derivative and equal to 0</a:t>
        </a:r>
      </a:p>
    </p188:txBody>
  </p188:cm>
  <p188:cm id="{7A27B34C-E6B4-4592-BB7F-1C5C9F986FBD}" authorId="{95AC6D80-8F5D-6893-C60E-5414CF9EB4CF}" created="2026-01-11T12:28:08.4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3660852" sldId="258"/>
      <ac:spMk id="3" creationId="{C523423D-F4FA-3BF8-99BE-306A939F280D}"/>
      <ac:txMk cp="0">
        <ac:context len="299" hash="3599712702"/>
      </ac:txMk>
    </ac:txMkLst>
    <p188:pos x="2624418" y="1099110"/>
    <p188:txBody>
      <a:bodyPr/>
      <a:lstStyle/>
      <a:p>
        <a:r>
          <a:rPr lang="en-GB"/>
          <a:t>Free energy difference per unit area between the metastable and stable phase
</a:t>
        </a:r>
      </a:p>
    </p188:txBody>
  </p188:cm>
  <p188:cm id="{425D53C7-0FA4-4861-8627-48B3B74276FE}" authorId="{95AC6D80-8F5D-6893-C60E-5414CF9EB4CF}" created="2026-01-11T12:29:37.5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3660852" sldId="258"/>
      <ac:spMk id="3" creationId="{C523423D-F4FA-3BF8-99BE-306A939F280D}"/>
      <ac:txMk cp="0">
        <ac:context len="299" hash="3599712702"/>
      </ac:txMk>
    </ac:txMkLst>
    <p188:pos x="2624418" y="1099110"/>
    <p188:txBody>
      <a:bodyPr/>
      <a:lstStyle/>
      <a:p>
        <a:r>
          <a:rPr lang="en-GB"/>
          <a:t>Esentially interfacial energy</a:t>
        </a:r>
      </a:p>
    </p188:txBody>
  </p188:cm>
</p188:cmLst>
</file>

<file path=ppt/comments/modernComment_106_3B9CC9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4248AE-E5DD-47DC-8C00-BBBBB9E63BC2}" authorId="{95AC6D80-8F5D-6893-C60E-5414CF9EB4CF}" created="2026-01-11T17:22:21.9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00131022" sldId="262"/>
      <ac:spMk id="3" creationId="{4B267CE8-4895-C342-08FC-1736D37FC6B1}"/>
      <ac:txMk cp="0">
        <ac:context len="122" hash="3959223985"/>
      </ac:txMk>
    </ac:txMkLst>
    <p188:pos x="6053418" y="621740"/>
    <p188:txBody>
      <a:bodyPr/>
      <a:lstStyle/>
      <a:p>
        <a:r>
          <a:rPr lang="en-GB"/>
          <a:t>Think uH is B in our case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36C7-768C-DDAC-CB4D-0703E9AB6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40387-4217-EC2F-6DD2-D030F76C7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099CA-9D73-0F5A-0876-128B8150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08B7F-62C1-8791-49EC-34EC7B3D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E973-5A29-3163-A5B8-A8A9FF65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86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D77E-6A9B-B7F7-FD85-85BE4CA5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F10AA-EC3F-E462-1532-D55C36D79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637C6-B6C5-C124-78DF-C8000B08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7F726-D9F2-A5FC-6709-3B1AD14C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1E81F-5104-424E-75CB-8638EB3F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28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43CE-9564-DE81-FBA5-9FE817E6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F3535-AD31-826A-5869-186BE293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6E01-7033-7EC4-2C9C-D2D4C49B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7AF-CF70-B132-EC29-38C55BAA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305EB-924E-2BF0-F708-8DDDE387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70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461-EA73-06EE-2CA9-6CB77DA2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1494-9884-F709-E4A5-732DCA487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E4FE9-CB51-8F89-6A59-F79D894ED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04737-5CE5-4D07-E9C7-39A37D99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73934-D3B0-E880-D2E9-A4A3EB02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815D1-7886-AE6E-AC9C-2AEB39FC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87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AE06-0FF4-1097-3D88-B1477F9A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7CA2C-3F2E-9000-00BC-9BAB1F6A7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DE2D9-99D2-CD94-7CB5-953BAB384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94D25-9BCE-D928-A522-9F3CA067C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E73DD-CAFC-4D8D-8F19-E8A22B3CE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CC525-FDF8-27C3-2827-44C72EA8A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8AEDF-71AF-BA4C-FF04-EB2FA566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5677C-F025-BAC2-65B5-58858E5FD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72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FB87-9509-0AB2-D7EC-0CB7D84A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A6765-634C-CB71-8322-D3A332C7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CD966-7901-FA7F-AE63-08FEDC5D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7811F-CB35-D373-7D95-A4225A72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55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09B28-4DE4-4B2F-A607-D4762645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19B60-6126-55B0-376C-9C007AD1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37E80-F1E2-A23C-D3A5-D03D03EF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7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CE37-D97E-E496-38C1-5EECF912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1140F-CA60-62A5-17A9-A8B425926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88414-5AD6-9314-AB1E-696BD0660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76D69-047E-9F53-C222-E14BC4580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C7F3D-9140-DB65-57BF-869AEC29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4BBD4-2E23-3C7A-4D3A-4AA6F158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79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97C60-5702-061A-7E58-CBE26F4F6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6D5F-73C0-EC9F-1288-B8941CF22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68DC0-051A-2A7D-17C7-F663EF10A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4E500-2C89-5301-505C-25E34D02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B586F-1D79-67E7-BD64-D70214EC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CD4EB-9952-74A2-4C8D-EC0B3C3F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45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835B-716D-545D-5171-7CB578D6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0D7B1-2A2B-C3B6-38B5-92C6D0E94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4757-BECD-AAAA-D83F-5609AEA0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CDAF1-D73E-9A2C-65D3-C0632BFB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4776D-FDBB-D0EF-33B3-71643B82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2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C76973-1D16-2D28-7544-E9020E749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3C374-9D4F-B776-1211-4ED2BEF52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3A6-E07D-4FD2-D025-8A83A27D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84BF4-B204-ECA8-2E8B-96B4A137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30A5-49A2-6D72-7069-CFD53143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14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370614-CAA1-6EAC-677E-BC1B4BA12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B02B7-B9AF-CCC4-3B73-ABC032A4F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A18A6-93D7-DB1D-4974-F15C2A23B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281F0-A3B8-4A9F-A8F6-D666ED9821F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29BC-1A70-EF6B-9A61-27B4C8274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2070F-D629-82D4-713D-0038FA920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F310C-681D-49F0-A0DD-8AB24C78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97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2_865422B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6_3B9CC9CE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3/PhysRevE.82.01160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BD4F4E-5BEE-152C-0AFD-01DA0B45E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GB" dirty="0"/>
              <a:t>Project Extension Idea – Nucleation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26360-503C-D787-7570-44C3F3868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8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5E849-EA57-C70F-0E37-5914087A9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Project Motivation &amp; Goal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7514-A379-DE55-BAB9-1834323C2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400" dirty="0"/>
              <a:t>Nucleation – small cluster of a new phase, which may grow or shrink, controlling formation of a new phase (</a:t>
            </a:r>
            <a:r>
              <a:rPr lang="en-GB" sz="2400" dirty="0" err="1"/>
              <a:t>i.e</a:t>
            </a:r>
            <a:r>
              <a:rPr lang="en-GB" sz="2400" dirty="0"/>
              <a:t> water freezing, crystals forming)</a:t>
            </a:r>
          </a:p>
          <a:p>
            <a:r>
              <a:rPr lang="en-GB" sz="2400" dirty="0"/>
              <a:t>Classical description is given by </a:t>
            </a:r>
            <a:r>
              <a:rPr lang="en-GB" sz="2400" b="1" dirty="0"/>
              <a:t>Classical Nucleation Theory</a:t>
            </a:r>
            <a:r>
              <a:rPr lang="en-GB" sz="2400" dirty="0"/>
              <a:t> (CNT)</a:t>
            </a:r>
          </a:p>
          <a:p>
            <a:pPr marL="0" indent="0">
              <a:buNone/>
            </a:pPr>
            <a:r>
              <a:rPr lang="en-GB" sz="2400" b="1" u="sng" dirty="0"/>
              <a:t>Goal:</a:t>
            </a:r>
          </a:p>
          <a:p>
            <a:r>
              <a:rPr lang="en-GB" sz="2400" dirty="0"/>
              <a:t>Simulate how the critical nucleation radius varies with external factors using a 2D Ising model</a:t>
            </a:r>
          </a:p>
          <a:p>
            <a:r>
              <a:rPr lang="en-GB" sz="2400" dirty="0"/>
              <a:t>Compare to CNT theory and similar literature,  test potential limitations</a:t>
            </a:r>
          </a:p>
        </p:txBody>
      </p:sp>
    </p:spTree>
    <p:extLst>
      <p:ext uri="{BB962C8B-B14F-4D97-AF65-F5344CB8AC3E}">
        <p14:creationId xmlns:p14="http://schemas.microsoft.com/office/powerpoint/2010/main" val="878673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6C7C4-8C4F-2D62-67F0-E190CE13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163CA-DE75-0DF7-500D-C88A06B3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Classical Nucleation theory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23423D-F4FA-3BF8-99BE-306A939F2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/>
                  <a:t>Consider a metastable, circular cluster of radius R surrounded by stable phase </a:t>
                </a:r>
              </a:p>
              <a:p>
                <a:r>
                  <a:rPr lang="en-GB" sz="2000" dirty="0"/>
                  <a:t>The 2D free energy of this droplet is given by:</a:t>
                </a: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000" baseline="30000" dirty="0"/>
                  <a:t>  [1]</a:t>
                </a:r>
                <a:endParaRPr lang="en-GB" sz="2000" dirty="0"/>
              </a:p>
              <a:p>
                <a:r>
                  <a:rPr lang="en-GB" sz="2000" dirty="0"/>
                  <a:t>Critical radius occurs at the balance between these:</a:t>
                </a:r>
              </a:p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𝐶𝑁𝑇</m:t>
                        </m:r>
                      </m:sup>
                    </m:sSub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GB" sz="2000" b="0" dirty="0"/>
              </a:p>
              <a:p>
                <a:r>
                  <a:rPr lang="en-GB" sz="2000" dirty="0"/>
                  <a:t>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2000" dirty="0"/>
                  <a:t> droplets shrink, above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2000" dirty="0"/>
                  <a:t> droplets grow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23423D-F4FA-3BF8-99BE-306A939F2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  <a:blipFill>
                <a:blip r:embed="rId3"/>
                <a:stretch>
                  <a:fillRect l="-991" t="-1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6608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6FA46-3E1F-36E1-2DC5-6089A5302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Simulation Method  Plan – CNT Prediction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65BB0-47E4-4D2B-8E32-152C4F65C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GB" sz="2400" b="1" u="sng" dirty="0"/>
                  <a:t>Classical Nucleation Theory Prediction:</a:t>
                </a:r>
              </a:p>
              <a:p>
                <a:r>
                  <a:rPr lang="en-GB" sz="2400" dirty="0"/>
                  <a:t>Determine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400" dirty="0"/>
                  <a:t> for my given system.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|"/>
                        <m:endChr m:val="|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≈2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400" b="0" dirty="0"/>
                  <a:t> </a:t>
                </a:r>
                <a:r>
                  <a:rPr lang="en-GB" sz="2400" dirty="0"/>
                  <a:t>(at low T) </a:t>
                </a:r>
                <a:r>
                  <a:rPr lang="en-GB" sz="2400" baseline="30000" dirty="0"/>
                  <a:t>[2]</a:t>
                </a:r>
                <a:endParaRPr lang="en-GB" sz="2400" b="0" baseline="30000" dirty="0"/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400" dirty="0"/>
                  <a:t> – determined through simulation</a:t>
                </a:r>
                <a:r>
                  <a:rPr lang="en-GB" sz="2400" baseline="30000" dirty="0"/>
                  <a:t>[3]</a:t>
                </a:r>
                <a:r>
                  <a:rPr lang="en-GB" sz="2400" dirty="0"/>
                  <a:t> or can be found from Onsager’s solution.</a:t>
                </a:r>
              </a:p>
              <a:p>
                <a:r>
                  <a:rPr lang="en-GB" sz="2400" dirty="0"/>
                  <a:t>Calculate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𝐶𝑁𝑇</m:t>
                        </m:r>
                      </m:sup>
                    </m:sSub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GB" sz="240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65BB0-47E4-4D2B-8E32-152C4F65C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  <a:blipFill>
                <a:blip r:embed="rId2"/>
                <a:stretch>
                  <a:fillRect l="-14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34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DAD68-C431-F6A8-A592-6A63D6A4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Ising model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67CE8-4895-C342-08FC-1736D37FC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GB" dirty="0"/>
              </a:p>
              <a:p>
                <a:r>
                  <a:rPr lang="en-GB" dirty="0"/>
                  <a:t>In reduced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Typical metropolis algorithm to progress the simulation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67CE8-4895-C342-08FC-1736D37FC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  <a:blipFill>
                <a:blip r:embed="rId3"/>
                <a:stretch>
                  <a:fillRect l="-19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1310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3DD6F-084D-055B-7D39-9B700A43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78CFA7-36F9-E84A-5180-E93852271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595B850-29E8-E6F4-8332-CD43D5498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65F2B-F614-7441-BE71-E6C9C461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Simulation Method  Plan – Ising Simulation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D60E-304E-466C-E670-9104F32B06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</p:spPr>
            <p:txBody>
              <a:bodyPr anchor="ctr">
                <a:normAutofit/>
              </a:bodyPr>
              <a:lstStyle/>
              <a:p>
                <a:r>
                  <a:rPr lang="en-GB" sz="2400" dirty="0"/>
                  <a:t>Create metastable cluster of radius R inside stable environment (L &gt;&gt; R)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Run trails to see if cluster grows or shrinks – Use 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𝑔𝑟𝑜𝑤</m:t>
                        </m:r>
                      </m:sub>
                    </m:sSub>
                  </m:oMath>
                </a14:m>
                <a:endParaRPr lang="en-GB" sz="2400" dirty="0"/>
              </a:p>
              <a:p>
                <a:r>
                  <a:rPr lang="en-GB" sz="2400" b="0" dirty="0"/>
                  <a:t>Vary R 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𝑔𝑟𝑜𝑤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2400" dirty="0"/>
                  <a:t> – critical radius </a:t>
                </a:r>
                <a:r>
                  <a:rPr lang="en-GB" sz="2400" baseline="30000" dirty="0"/>
                  <a:t>[4]</a:t>
                </a:r>
              </a:p>
              <a:p>
                <a:r>
                  <a:rPr lang="en-GB" sz="2400" dirty="0"/>
                  <a:t>Compare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𝐶𝑁𝑇</m:t>
                        </m:r>
                      </m:sup>
                    </m:sSubSup>
                  </m:oMath>
                </a14:m>
                <a:r>
                  <a:rPr lang="en-GB" sz="2400" dirty="0"/>
                  <a:t> &amp; repeat for different T and B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D60E-304E-466C-E670-9104F32B06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  <a:blipFill>
                <a:blip r:embed="rId2"/>
                <a:stretch>
                  <a:fillRect l="-1237" t="-24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c 11">
            <a:extLst>
              <a:ext uri="{FF2B5EF4-FFF2-40B4-BE49-F238E27FC236}">
                <a16:creationId xmlns:a16="http://schemas.microsoft.com/office/drawing/2014/main" id="{47471AEF-7B7D-1D14-6B53-ADAAB5306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B9316-E83E-2916-84BE-C3327C0D4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760321" y="1294765"/>
            <a:ext cx="2391270" cy="232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3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7D81A3-83E4-05BB-1AC8-BA5F0D2DC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rgbClr val="FFFFFF"/>
                </a:solidFill>
              </a:rPr>
              <a:t>Expectations/limitations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1673-7E87-08AB-CA38-CBE458DC1E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</p:spPr>
            <p:txBody>
              <a:bodyPr>
                <a:normAutofit/>
              </a:bodyPr>
              <a:lstStyle/>
              <a:p>
                <a:r>
                  <a:rPr lang="en-GB" sz="2200" dirty="0"/>
                  <a:t>Should work reasonably well at:</a:t>
                </a:r>
              </a:p>
              <a:p>
                <a:pPr>
                  <a:buFontTx/>
                  <a:buChar char="-"/>
                </a:pPr>
                <a:r>
                  <a:rPr lang="en-GB" sz="2200" dirty="0"/>
                  <a:t>Low fields </a:t>
                </a:r>
              </a:p>
              <a:p>
                <a:pPr>
                  <a:buFontTx/>
                  <a:buChar char="-"/>
                </a:pPr>
                <a:r>
                  <a:rPr lang="en-GB" sz="2200" dirty="0"/>
                  <a:t>Not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GB" sz="2200" dirty="0"/>
              </a:p>
              <a:p>
                <a:pPr>
                  <a:buFontTx/>
                  <a:buChar char="-"/>
                </a:pPr>
                <a:endParaRPr lang="en-GB" sz="2200" dirty="0"/>
              </a:p>
              <a:p>
                <a:r>
                  <a:rPr lang="en-GB" sz="2200" dirty="0"/>
                  <a:t>Limitations may include:</a:t>
                </a:r>
              </a:p>
              <a:p>
                <a:pPr>
                  <a:buFontTx/>
                  <a:buChar char="-"/>
                </a:pPr>
                <a:r>
                  <a:rPr lang="en-GB" sz="2200" dirty="0"/>
                  <a:t>Finite size lattice effects – work in lower applied field regions to avoid whilst making lattice reasonable to compute</a:t>
                </a:r>
                <a:r>
                  <a:rPr lang="en-GB" sz="2200" baseline="30000" dirty="0"/>
                  <a:t>[4]</a:t>
                </a:r>
              </a:p>
              <a:p>
                <a:pPr>
                  <a:buFontTx/>
                  <a:buChar char="-"/>
                </a:pPr>
                <a:r>
                  <a:rPr lang="en-GB" sz="2200" dirty="0"/>
                  <a:t>Deviations from CNT assumptions (perfect sphere)</a:t>
                </a:r>
              </a:p>
              <a:p>
                <a:pPr>
                  <a:buFontTx/>
                  <a:buChar char="-"/>
                </a:pPr>
                <a:endParaRPr lang="en-GB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11673-7E87-08AB-CA38-CBE458DC1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  <a:blipFill>
                <a:blip r:embed="rId2"/>
                <a:stretch>
                  <a:fillRect l="-1542" t="-1703" r="-2423" b="-1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457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473A3-FFC4-817D-1E15-3BCF75A5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GB" sz="54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3029C-8606-F8D9-8EFB-E8115A4CA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 fontScale="85000" lnSpcReduction="20000"/>
          </a:bodyPr>
          <a:lstStyle/>
          <a:p>
            <a:r>
              <a:rPr lang="en-GB" sz="2200" dirty="0"/>
              <a:t>Santra, M., Chakrabarty, S., &amp; Bagchi, B. (2008). </a:t>
            </a:r>
            <a:r>
              <a:rPr lang="en-GB" sz="2200" i="1" dirty="0"/>
              <a:t>Gas–Liquid Nucleation in Two Dimensional System.</a:t>
            </a:r>
            <a:r>
              <a:rPr lang="en-GB" sz="2200" dirty="0"/>
              <a:t> arXiv:0809.2466 [</a:t>
            </a:r>
            <a:r>
              <a:rPr lang="en-GB" sz="2200" dirty="0" err="1"/>
              <a:t>cond</a:t>
            </a:r>
            <a:r>
              <a:rPr lang="en-GB" sz="2200" dirty="0"/>
              <a:t>-</a:t>
            </a:r>
            <a:r>
              <a:rPr lang="en-GB" sz="2200" dirty="0" err="1"/>
              <a:t>mat.stat</a:t>
            </a:r>
            <a:r>
              <a:rPr lang="en-GB" sz="2200" dirty="0"/>
              <a:t>-mech] </a:t>
            </a:r>
          </a:p>
          <a:p>
            <a:r>
              <a:rPr lang="en-GB" sz="2200" dirty="0" err="1"/>
              <a:t>Acharyya</a:t>
            </a:r>
            <a:r>
              <a:rPr lang="en-GB" sz="2200" dirty="0"/>
              <a:t>, M., &amp; Stauffer, D. (1998). </a:t>
            </a:r>
            <a:r>
              <a:rPr lang="en-GB" sz="2200" i="1" dirty="0"/>
              <a:t>Nucleation and hysteresis in Ising model: Classical theory versus computer simulation.</a:t>
            </a:r>
            <a:r>
              <a:rPr lang="en-GB" sz="2200" dirty="0"/>
              <a:t> </a:t>
            </a:r>
            <a:r>
              <a:rPr lang="en-GB" sz="2200" dirty="0" err="1"/>
              <a:t>arXiv:cond-mat</a:t>
            </a:r>
            <a:r>
              <a:rPr lang="en-GB" sz="2200" dirty="0"/>
              <a:t>/9801213 [</a:t>
            </a:r>
            <a:r>
              <a:rPr lang="en-GB" sz="2200" dirty="0" err="1"/>
              <a:t>cond</a:t>
            </a:r>
            <a:r>
              <a:rPr lang="en-GB" sz="2200" dirty="0"/>
              <a:t>-</a:t>
            </a:r>
            <a:r>
              <a:rPr lang="en-GB" sz="2200" dirty="0" err="1"/>
              <a:t>mat.stat</a:t>
            </a:r>
            <a:r>
              <a:rPr lang="en-GB" sz="2200" dirty="0"/>
              <a:t>-mech].</a:t>
            </a:r>
            <a:endParaRPr lang="en-GB" sz="2200" b="0" i="0" dirty="0">
              <a:latin typeface="Cambria Math" panose="02040503050406030204" pitchFamily="18" charset="0"/>
            </a:endParaRPr>
          </a:p>
          <a:p>
            <a:r>
              <a:rPr lang="en-GB" sz="2200" dirty="0"/>
              <a:t>Binder, K., Block, B., Das, S. K., </a:t>
            </a:r>
            <a:r>
              <a:rPr lang="en-GB" sz="2200" dirty="0" err="1"/>
              <a:t>Virnau</a:t>
            </a:r>
            <a:r>
              <a:rPr lang="en-GB" sz="2200" dirty="0"/>
              <a:t>, P., &amp; Winter, D. (2011). </a:t>
            </a:r>
            <a:r>
              <a:rPr lang="en-GB" sz="2200" i="1" dirty="0"/>
              <a:t>Monte Carlo Methods for Estimating Interfacial Free Energies and Line Tensions.</a:t>
            </a:r>
            <a:r>
              <a:rPr lang="en-GB" sz="2200" dirty="0"/>
              <a:t> arXiv:1103.2241 [</a:t>
            </a:r>
            <a:r>
              <a:rPr lang="en-GB" sz="2200" dirty="0" err="1"/>
              <a:t>cond</a:t>
            </a:r>
            <a:r>
              <a:rPr lang="en-GB" sz="2200" dirty="0"/>
              <a:t>-</a:t>
            </a:r>
            <a:r>
              <a:rPr lang="en-GB" sz="2200" dirty="0" err="1"/>
              <a:t>mat.stat</a:t>
            </a:r>
            <a:r>
              <a:rPr lang="en-GB" sz="2200" dirty="0"/>
              <a:t>-mech]</a:t>
            </a:r>
          </a:p>
          <a:p>
            <a:r>
              <a:rPr lang="en-GB" sz="2200" dirty="0"/>
              <a:t>Ryu, S., &amp; Cai, W. (2010). Numerical tests of nucleation theories for the Ising models. </a:t>
            </a:r>
            <a:r>
              <a:rPr lang="en-GB" sz="2200" i="1" dirty="0"/>
              <a:t>Physical Review E</a:t>
            </a:r>
            <a:r>
              <a:rPr lang="en-GB" sz="2200" dirty="0"/>
              <a:t>, 82(1), 011603. </a:t>
            </a:r>
            <a:r>
              <a:rPr lang="en-GB" sz="2200" dirty="0">
                <a:hlinkClick r:id="rId2"/>
              </a:rPr>
              <a:t>https://doi.org/10.1103/PhysRevE.82.011603</a:t>
            </a:r>
            <a:endParaRPr lang="en-GB" sz="2200" dirty="0"/>
          </a:p>
          <a:p>
            <a:r>
              <a:rPr lang="en-GB" sz="2200" dirty="0"/>
              <a:t>Validity of classical nucleation theory for Ising models (Phys. Rev. E)Ryu, S., &amp; Cai, W. (2010). Validity of classical nucleation theory for Ising models. Physical Review E, 81(3), 030601. https://doi.org/10.1103/PhysRevE.81.030601</a:t>
            </a:r>
          </a:p>
          <a:p>
            <a:endParaRPr lang="en-GB" sz="2200" dirty="0"/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24794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F35D-301D-C4AE-2ED0-05E9C380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AE6C4-65BD-688E-2968-341C2C5F2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Include references at end of each slide - short hand</a:t>
            </a:r>
          </a:p>
          <a:p>
            <a:r>
              <a:rPr lang="en-GB" dirty="0"/>
              <a:t>Can include graphs from sources (make sure you cite)</a:t>
            </a:r>
          </a:p>
          <a:p>
            <a:r>
              <a:rPr lang="en-GB" dirty="0"/>
              <a:t>General 1 slide/min</a:t>
            </a:r>
          </a:p>
          <a:p>
            <a:r>
              <a:rPr lang="en-GB" dirty="0"/>
              <a:t>Some slides were text heavy</a:t>
            </a:r>
          </a:p>
          <a:p>
            <a:r>
              <a:rPr lang="en-GB" dirty="0"/>
              <a:t>Compare to literature first then compare to CNT</a:t>
            </a:r>
          </a:p>
          <a:p>
            <a:r>
              <a:rPr lang="en-GB" dirty="0"/>
              <a:t>Make sure what literature show is viable and see how complex the algorithms are</a:t>
            </a:r>
          </a:p>
          <a:p>
            <a:r>
              <a:rPr lang="en-GB" dirty="0"/>
              <a:t>(Can maybe run simulation on </a:t>
            </a:r>
            <a:r>
              <a:rPr lang="en-GB" dirty="0" err="1"/>
              <a:t>juypter</a:t>
            </a:r>
            <a:r>
              <a:rPr lang="en-GB" dirty="0"/>
              <a:t> server </a:t>
            </a:r>
            <a:r>
              <a:rPr lang="en-GB"/>
              <a:t>if longish)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653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C1218A2C5EEA45AAECDD29DAA5B5E3" ma:contentTypeVersion="8" ma:contentTypeDescription="Create a new document." ma:contentTypeScope="" ma:versionID="1151cdb85dbe6c756cf3c4916e20cf7e">
  <xsd:schema xmlns:xsd="http://www.w3.org/2001/XMLSchema" xmlns:xs="http://www.w3.org/2001/XMLSchema" xmlns:p="http://schemas.microsoft.com/office/2006/metadata/properties" xmlns:ns3="82d6df7c-b5c2-4478-b8cb-f70372073ca9" xmlns:ns4="c2b18cb0-7a01-417b-84db-8516b6515258" targetNamespace="http://schemas.microsoft.com/office/2006/metadata/properties" ma:root="true" ma:fieldsID="8f467c07708a8cadb3abb5c130974274" ns3:_="" ns4:_="">
    <xsd:import namespace="82d6df7c-b5c2-4478-b8cb-f70372073ca9"/>
    <xsd:import namespace="c2b18cb0-7a01-417b-84db-8516b651525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d6df7c-b5c2-4478-b8cb-f70372073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b18cb0-7a01-417b-84db-8516b651525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d6df7c-b5c2-4478-b8cb-f70372073ca9" xsi:nil="true"/>
  </documentManagement>
</p:properties>
</file>

<file path=customXml/itemProps1.xml><?xml version="1.0" encoding="utf-8"?>
<ds:datastoreItem xmlns:ds="http://schemas.openxmlformats.org/officeDocument/2006/customXml" ds:itemID="{D2566FF1-1AF0-4100-9822-DD009AFB4F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d6df7c-b5c2-4478-b8cb-f70372073ca9"/>
    <ds:schemaRef ds:uri="c2b18cb0-7a01-417b-84db-8516b65152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6D42BF-9E9A-4107-8EE8-A8F1021E5E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654D3-E9C9-4B12-AB1B-9638EC03385F}">
  <ds:schemaRefs>
    <ds:schemaRef ds:uri="http://purl.org/dc/terms/"/>
    <ds:schemaRef ds:uri="http://www.w3.org/XML/1998/namespace"/>
    <ds:schemaRef ds:uri="http://purl.org/dc/elements/1.1/"/>
    <ds:schemaRef ds:uri="c2b18cb0-7a01-417b-84db-8516b6515258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82d6df7c-b5c2-4478-b8cb-f70372073ca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597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 Math</vt:lpstr>
      <vt:lpstr>Office Theme</vt:lpstr>
      <vt:lpstr>Project Extension Idea – Nucleation </vt:lpstr>
      <vt:lpstr>Project Motivation &amp; Goal</vt:lpstr>
      <vt:lpstr>Classical Nucleation theory</vt:lpstr>
      <vt:lpstr>Simulation Method  Plan – CNT Prediction</vt:lpstr>
      <vt:lpstr>Ising model</vt:lpstr>
      <vt:lpstr>Simulation Method  Plan – Ising Simulation</vt:lpstr>
      <vt:lpstr>Expectations/limitations</vt:lpstr>
      <vt:lpstr>References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COOK, CHARLIE J. (Student)</dc:creator>
  <cp:lastModifiedBy>COOK, CHARLIE J. (Student)</cp:lastModifiedBy>
  <cp:revision>5</cp:revision>
  <dcterms:created xsi:type="dcterms:W3CDTF">2026-01-11T11:49:15Z</dcterms:created>
  <dcterms:modified xsi:type="dcterms:W3CDTF">2026-01-12T11:08:42Z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0x010100D4C1218A2C5EEA45AAECDD29DAA5B5E3</vt:lpwstr>
  </property>
</Properties>
</file>