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1_B16F1DD9.xml" ContentType="application/vnd.ms-powerpoint.comments+xml"/>
  <Override PartName="/ppt/notesSlides/notesSlide2.xml" ContentType="application/vnd.openxmlformats-officedocument.presentationml.notesSlide+xml"/>
  <Override PartName="/ppt/comments/modernComment_102_21FB3226.xml" ContentType="application/vnd.ms-powerpoint.comments+xml"/>
  <Override PartName="/ppt/comments/modernComment_103_FFE77C2B.xml" ContentType="application/vnd.ms-powerpoint.comments+xml"/>
  <Override PartName="/ppt/comments/modernComment_104_25AC6646.xml" ContentType="application/vnd.ms-powerpoint.comments+xml"/>
  <Override PartName="/ppt/comments/modernComment_105_D8DFD976.xml" ContentType="application/vnd.ms-powerpoint.comments+xml"/>
  <Override PartName="/ppt/comments/modernComment_106_F75B72A7.xml" ContentType="application/vnd.ms-powerpoint.comments+xml"/>
  <Override PartName="/ppt/comments/modernComment_107_2FB7F2FC.xml" ContentType="application/vnd.ms-powerpoint.comments+xml"/>
  <Override PartName="/ppt/comments/modernComment_108_4E76D68E.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4"/>
  </p:sldMasterIdLst>
  <p:notesMasterIdLst>
    <p:notesMasterId r:id="rId16"/>
  </p:notesMasterIdLst>
  <p:sldIdLst>
    <p:sldId id="256" r:id="rId5"/>
    <p:sldId id="257" r:id="rId6"/>
    <p:sldId id="258" r:id="rId7"/>
    <p:sldId id="259" r:id="rId8"/>
    <p:sldId id="260" r:id="rId9"/>
    <p:sldId id="261" r:id="rId10"/>
    <p:sldId id="262" r:id="rId11"/>
    <p:sldId id="263" r:id="rId12"/>
    <p:sldId id="264" r:id="rId13"/>
    <p:sldId id="266"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95AC6D80-8F5D-6893-C60E-5414CF9EB4CF}" name="COOK, CHARLIE J. (Student)" initials="CC" userId="S::mngz79@durham.ac.uk::12157dca-288b-437c-8f36-eddfd9d0a75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4" autoAdjust="0"/>
    <p:restoredTop sz="94660"/>
  </p:normalViewPr>
  <p:slideViewPr>
    <p:cSldViewPr snapToGrid="0">
      <p:cViewPr>
        <p:scale>
          <a:sx n="66" d="100"/>
          <a:sy n="66" d="100"/>
        </p:scale>
        <p:origin x="1095" y="4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omments/modernComment_101_B16F1DD9.xml><?xml version="1.0" encoding="utf-8"?>
<p188:cmLst xmlns:a="http://schemas.openxmlformats.org/drawingml/2006/main" xmlns:r="http://schemas.openxmlformats.org/officeDocument/2006/relationships" xmlns:p188="http://schemas.microsoft.com/office/powerpoint/2018/8/main">
  <p188:cm id="{E03AE857-D301-40E9-B99F-3BA2E689885C}" authorId="{95AC6D80-8F5D-6893-C60E-5414CF9EB4CF}" created="2026-02-07T15:36:54.774">
    <pc:sldMkLst xmlns:pc="http://schemas.microsoft.com/office/powerpoint/2013/main/command">
      <pc:docMk/>
      <pc:sldMk cId="2976849369" sldId="257"/>
    </pc:sldMkLst>
    <p188:txBody>
      <a:bodyPr/>
      <a:lstStyle/>
      <a:p>
        <a:r>
          <a:rPr lang="en-GB"/>
          <a:t>Let’s start with why we even care about nucleation to begin with. As I’m sure you are aware, many different materials undergo things called phase transitions, whereby they go from one state to another. Perhaps the most common example being water converting into ice. Growing up, you would have been told in school that water freezes into ice at 0 degrees celcisus, however its not quite that simple, and you can infact cool water below zero degrres and have it still remain a liquid, known as supercooled water.
The reason behind why this can occur is related to nucleation
</a:t>
        </a:r>
      </a:p>
    </p188:txBody>
  </p188:cm>
</p188:cmLst>
</file>

<file path=ppt/comments/modernComment_102_21FB3226.xml><?xml version="1.0" encoding="utf-8"?>
<p188:cmLst xmlns:a="http://schemas.openxmlformats.org/drawingml/2006/main" xmlns:r="http://schemas.openxmlformats.org/officeDocument/2006/relationships" xmlns:p188="http://schemas.microsoft.com/office/powerpoint/2018/8/main">
  <p188:cm id="{8BFBDDEE-CE96-4CD7-B065-10BD5026D297}" authorId="{95AC6D80-8F5D-6893-C60E-5414CF9EB4CF}" created="2026-02-07T16:47:40.638">
    <ac:deMkLst xmlns:ac="http://schemas.microsoft.com/office/drawing/2013/main/command">
      <pc:docMk xmlns:pc="http://schemas.microsoft.com/office/powerpoint/2013/main/command"/>
      <pc:sldMk xmlns:pc="http://schemas.microsoft.com/office/powerpoint/2013/main/command" cId="570110502" sldId="258"/>
      <ac:spMk id="3" creationId="{B4CB7E28-225D-1BC6-CF61-0941CC68FE03}"/>
    </ac:deMkLst>
    <p188:txBody>
      <a:bodyPr/>
      <a:lstStyle/>
      <a:p>
        <a:r>
          <a:rPr lang="en-GB"/>
          <a:t>Simply put, nucleation is a stoachstic process whereby when a small cluster of a new phase is present in a system, and will either grow and fill the system of this new phase, or shrink down into the current phase 
We call this new phase the stable phase, and the old phase the metastable phase. (shown by light and dark blue respectively)
Nucleation is effectively a battle of two energies, a ‘positive’ energy term of creating more of this stable phase, against a sort of surface tension energy of increasing the area between the two phases.
Depending on the type of nucleation, impurities can help reduce this energy barrier (heterogenous nucleation), however I am looking at homogenous nucleation whereby we have no defects or impurities (heterogenous nucleation), so the event is spontaneous and rare.
In this case, we can think of nucleation occuring as a series of thermally excited ‘lucky streaks’ compounding on each other (hence the rarity)
</a:t>
        </a:r>
      </a:p>
    </p188:txBody>
  </p188:cm>
</p188:cmLst>
</file>

<file path=ppt/comments/modernComment_103_FFE77C2B.xml><?xml version="1.0" encoding="utf-8"?>
<p188:cmLst xmlns:a="http://schemas.openxmlformats.org/drawingml/2006/main" xmlns:r="http://schemas.openxmlformats.org/officeDocument/2006/relationships" xmlns:p188="http://schemas.microsoft.com/office/powerpoint/2018/8/main">
  <p188:cm id="{8D646887-B297-4CC5-9E93-11E133F63F23}" authorId="{95AC6D80-8F5D-6893-C60E-5414CF9EB4CF}" created="2026-02-07T20:31:20.134">
    <ac:deMkLst xmlns:ac="http://schemas.microsoft.com/office/drawing/2013/main/command">
      <pc:docMk xmlns:pc="http://schemas.microsoft.com/office/powerpoint/2013/main/command"/>
      <pc:sldMk xmlns:pc="http://schemas.microsoft.com/office/powerpoint/2013/main/command" cId="4293360683" sldId="259"/>
      <ac:spMk id="3" creationId="{6D85D981-8348-DD36-F994-4444E58549B3}"/>
    </ac:deMkLst>
    <p188:txBody>
      <a:bodyPr/>
      <a:lstStyle/>
      <a:p>
        <a:r>
          <a:rPr lang="en-GB"/>
          <a:t>The fundamental model we will be using to simulate this nucleation phenomenon is the ising model, discovered by Ernst ising in 1920. Originally it was used to describe ferromagnetic transitions in magnets, but it was soon realised it could be used in many other applications too.
Whilst the model is rather incomplete in terms of physical detail, the simplicity of it whilst still being able to make solid predicitions is what makes it so attractive. 
In our case, we use the 2D model which consists of a square lattice, with each point having an assigned spin +1 or -1. 
The lattice is then updated using a  metropolois hastings algorithm, which esentially trails a spin flip, calculates the probability of this happening, and adjusts the spins accordingly. 
We run this algorithm many times to then update the system and replicate various magnetic behaviour.
</a:t>
        </a:r>
      </a:p>
    </p188:txBody>
  </p188:cm>
</p188:cmLst>
</file>

<file path=ppt/comments/modernComment_104_25AC6646.xml><?xml version="1.0" encoding="utf-8"?>
<p188:cmLst xmlns:a="http://schemas.openxmlformats.org/drawingml/2006/main" xmlns:r="http://schemas.openxmlformats.org/officeDocument/2006/relationships" xmlns:p188="http://schemas.microsoft.com/office/powerpoint/2018/8/main">
  <p188:cm id="{DF6537AF-9BA3-4582-9D5A-5B83C81E4B67}" authorId="{95AC6D80-8F5D-6893-C60E-5414CF9EB4CF}" created="2026-02-08T14:40:13.887">
    <pc:sldMkLst xmlns:pc="http://schemas.microsoft.com/office/powerpoint/2013/main/command">
      <pc:docMk/>
      <pc:sldMk cId="632055366" sldId="260"/>
    </pc:sldMkLst>
    <p188:txBody>
      <a:bodyPr/>
      <a:lstStyle/>
      <a:p>
        <a:r>
          <a:rPr lang="en-GB"/>
          <a:t>Turns out the ising model can be used to show this nucleation quite well because its quite easy to get this stable state inside a metastable state setup we need for nucleation
To do this, we generate an initial starting lattice e.g. of up spins (generation changes depending on paper), and then place it in a negative magnetic field, making the positive spins metastable.
We then run the metropolis algorithm which will cause random thermal fluctuations and thus clusters to form , these will grow and shrink, until we get a lucky streak of thermal ‘kicks’ that create a cluster big enough to nucleate &amp; fill the system. To reduce processing power, we determine if this has happened by monitoring magnetisation and seeing if it meets a certain threshold.
Record the number of Monte carlo sweeps it took, repeat many times under the same system conditions and calculate an average (since its random, a single value will not do)
</a:t>
        </a:r>
      </a:p>
    </p188:txBody>
  </p188:cm>
</p188:cmLst>
</file>

<file path=ppt/comments/modernComment_105_D8DFD976.xml><?xml version="1.0" encoding="utf-8"?>
<p188:cmLst xmlns:a="http://schemas.openxmlformats.org/drawingml/2006/main" xmlns:r="http://schemas.openxmlformats.org/officeDocument/2006/relationships" xmlns:p188="http://schemas.microsoft.com/office/powerpoint/2018/8/main">
  <p188:cm id="{15A5FCDF-6ACC-4D06-9F1F-B26FF0B4F870}" authorId="{95AC6D80-8F5D-6893-C60E-5414CF9EB4CF}" created="2026-02-08T16:00:08.659">
    <pc:sldMkLst xmlns:pc="http://schemas.microsoft.com/office/powerpoint/2013/main/command">
      <pc:docMk/>
      <pc:sldMk cId="3638548854" sldId="261"/>
    </pc:sldMkLst>
    <p188:txBody>
      <a:bodyPr/>
      <a:lstStyle/>
      <a:p>
        <a:r>
          <a:rPr lang="en-GB"/>
          <a:t>If nucleation is occuring in our system, we should see the magnetisation flctuate around an equilibrium near +-1 (depending on setup), followed by a sharp drop into towards the opposite magnetisation, shown in fig 2
</a:t>
        </a:r>
      </a:p>
    </p188:txBody>
  </p188:cm>
</p188:cmLst>
</file>

<file path=ppt/comments/modernComment_106_F75B72A7.xml><?xml version="1.0" encoding="utf-8"?>
<p188:cmLst xmlns:a="http://schemas.openxmlformats.org/drawingml/2006/main" xmlns:r="http://schemas.openxmlformats.org/officeDocument/2006/relationships" xmlns:p188="http://schemas.microsoft.com/office/powerpoint/2018/8/main">
  <p188:cm id="{86900C7F-F310-4DA2-A508-78B979FC06E3}" authorId="{95AC6D80-8F5D-6893-C60E-5414CF9EB4CF}" created="2026-02-08T16:15:12.191">
    <ac:deMkLst xmlns:ac="http://schemas.microsoft.com/office/drawing/2013/main/command">
      <pc:docMk xmlns:pc="http://schemas.microsoft.com/office/powerpoint/2013/main/command"/>
      <pc:sldMk xmlns:pc="http://schemas.microsoft.com/office/powerpoint/2013/main/command" cId="4149965479" sldId="262"/>
      <ac:spMk id="9" creationId="{23D4E286-A94B-C07D-175C-59D72694E878}"/>
    </ac:deMkLst>
    <p188:txBody>
      <a:bodyPr/>
      <a:lstStyle/>
      <a:p>
        <a:r>
          <a:rPr lang="en-GB"/>
          <a:t>In terms of nucleation rates changing as we vary parameters, we should find that nucleation rates decrease (get quicker) as we increase the applied field, temperature and system size (up to an extent).
Whilst the applied field and temperature dependence follows what we’d expect, the system size is interesting as it seems to become invariant at large fields. 
</a:t>
        </a:r>
      </a:p>
    </p188:txBody>
  </p188:cm>
</p188:cmLst>
</file>

<file path=ppt/comments/modernComment_107_2FB7F2FC.xml><?xml version="1.0" encoding="utf-8"?>
<p188:cmLst xmlns:a="http://schemas.openxmlformats.org/drawingml/2006/main" xmlns:r="http://schemas.openxmlformats.org/officeDocument/2006/relationships" xmlns:p188="http://schemas.microsoft.com/office/powerpoint/2018/8/main">
  <p188:cm id="{A7B2A4FF-CF1B-4CCA-9AA1-CC2EA5469178}" authorId="{95AC6D80-8F5D-6893-C60E-5414CF9EB4CF}" created="2026-02-08T16:22:31.388">
    <pc:sldMkLst xmlns:pc="http://schemas.microsoft.com/office/powerpoint/2013/main/command">
      <pc:docMk/>
      <pc:sldMk cId="800584444" sldId="263"/>
    </pc:sldMkLst>
    <p188:txBody>
      <a:bodyPr/>
      <a:lstStyle/>
      <a:p>
        <a:r>
          <a:rPr lang="en-GB"/>
          <a:t>Seen from the left figure, my code is doing what we’d expect from nucleation, having the long plataeu followed by the rapid decay of the metastable state.
And from the right hand plot, we similarly see my code following a similar trend with the varying applied field and system size.
To make the comparison more clear, source [] mentions the value of their gradient for 64x64 iea for 1/|H| &lt; 20, being 0.36, compared to mine of 0.35 for an identical setup. 
In terms of comparing to the table of the previous slide, similar values are obtained for most system setups, however begin to deviate at extremities. I believe this is likely due to the paper generating this result using helical boundary conditions which behave different to my periodic boundary conditions
Overall though, I am fairly confident my code is working as it should be</a:t>
        </a:r>
      </a:p>
    </p188:txBody>
  </p188:cm>
</p188:cmLst>
</file>

<file path=ppt/comments/modernComment_108_4E76D68E.xml><?xml version="1.0" encoding="utf-8"?>
<p188:cmLst xmlns:a="http://schemas.openxmlformats.org/drawingml/2006/main" xmlns:r="http://schemas.openxmlformats.org/officeDocument/2006/relationships" xmlns:p188="http://schemas.microsoft.com/office/powerpoint/2018/8/main">
  <p188:cm id="{A531AAF0-1B1D-4351-9829-2CB6D9797D7A}" authorId="{95AC6D80-8F5D-6893-C60E-5414CF9EB4CF}" created="2026-02-08T16:31:13.637">
    <pc:sldMkLst xmlns:pc="http://schemas.microsoft.com/office/powerpoint/2013/main/command">
      <pc:docMk/>
      <pc:sldMk cId="1316411022" sldId="264"/>
    </pc:sldMkLst>
    <p188:txBody>
      <a:bodyPr/>
      <a:lstStyle/>
      <a:p>
        <a:r>
          <a:rPr lang="en-GB"/>
          <a:t>To extend this project further a few clear options come to mind.
1st option is to explore this idea of lattice size affecting nucleation rates and becoming independent as we enter stronger fields
2nd option is to see if I can replicate the helical boundary conditions to make sure this is the reason for discrepancy at extremities and why it occurs.
3rd option (perhaps the hardest but also most useful) is attempt to calculate free energy for my system, and compare it to the classical theory by Becker &amp; Doring, similar to the table shown previously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66D45F-5181-4F19-93C1-CF58837AA8FB}" type="datetimeFigureOut">
              <a:rPr lang="en-GB" smtClean="0"/>
              <a:t>08/02/2026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2B1163-51AF-491A-9C0F-2B7F2E36C4B0}" type="slidenum">
              <a:rPr lang="en-GB" smtClean="0"/>
              <a:t>‹#›</a:t>
            </a:fld>
            <a:endParaRPr lang="en-GB"/>
          </a:p>
        </p:txBody>
      </p:sp>
    </p:spTree>
    <p:extLst>
      <p:ext uri="{BB962C8B-B14F-4D97-AF65-F5344CB8AC3E}">
        <p14:creationId xmlns:p14="http://schemas.microsoft.com/office/powerpoint/2010/main" val="1416527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Let’s start with why we even care about nucleation to begin with. As I’m sure you are aware, many different materials undergo things called phase transitions, whereby they go from one state to another. Perhaps the most common example being water converting into ice. Growing up, you would have been told in school that water freezes into ice at 0 degrees </a:t>
            </a:r>
            <a:r>
              <a:rPr lang="en-GB" sz="1200" kern="1200" dirty="0" err="1">
                <a:solidFill>
                  <a:schemeClr val="tx1"/>
                </a:solidFill>
                <a:effectLst/>
                <a:latin typeface="+mn-lt"/>
                <a:ea typeface="+mn-ea"/>
                <a:cs typeface="+mn-cs"/>
              </a:rPr>
              <a:t>celcisus</a:t>
            </a:r>
            <a:r>
              <a:rPr lang="en-GB" sz="1200" kern="1200" dirty="0">
                <a:solidFill>
                  <a:schemeClr val="tx1"/>
                </a:solidFill>
                <a:effectLst/>
                <a:latin typeface="+mn-lt"/>
                <a:ea typeface="+mn-ea"/>
                <a:cs typeface="+mn-cs"/>
              </a:rPr>
              <a:t>, however its not quite that simple, and you can </a:t>
            </a:r>
            <a:r>
              <a:rPr lang="en-GB" sz="1200" kern="1200" dirty="0" err="1">
                <a:solidFill>
                  <a:schemeClr val="tx1"/>
                </a:solidFill>
                <a:effectLst/>
                <a:latin typeface="+mn-lt"/>
                <a:ea typeface="+mn-ea"/>
                <a:cs typeface="+mn-cs"/>
              </a:rPr>
              <a:t>infact</a:t>
            </a:r>
            <a:r>
              <a:rPr lang="en-GB" sz="1200" kern="1200" dirty="0">
                <a:solidFill>
                  <a:schemeClr val="tx1"/>
                </a:solidFill>
                <a:effectLst/>
                <a:latin typeface="+mn-lt"/>
                <a:ea typeface="+mn-ea"/>
                <a:cs typeface="+mn-cs"/>
              </a:rPr>
              <a:t> cool water below zero </a:t>
            </a:r>
            <a:r>
              <a:rPr lang="en-GB" sz="1200" kern="1200" dirty="0" err="1">
                <a:solidFill>
                  <a:schemeClr val="tx1"/>
                </a:solidFill>
                <a:effectLst/>
                <a:latin typeface="+mn-lt"/>
                <a:ea typeface="+mn-ea"/>
                <a:cs typeface="+mn-cs"/>
              </a:rPr>
              <a:t>degrres</a:t>
            </a:r>
            <a:r>
              <a:rPr lang="en-GB" sz="1200" kern="1200" dirty="0">
                <a:solidFill>
                  <a:schemeClr val="tx1"/>
                </a:solidFill>
                <a:effectLst/>
                <a:latin typeface="+mn-lt"/>
                <a:ea typeface="+mn-ea"/>
                <a:cs typeface="+mn-cs"/>
              </a:rPr>
              <a:t> and have it still remain a liquid, known as supercooled water.</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The reason behind why this can occur is related to nucleation</a:t>
            </a:r>
            <a:endParaRPr lang="en-GB" dirty="0"/>
          </a:p>
        </p:txBody>
      </p:sp>
      <p:sp>
        <p:nvSpPr>
          <p:cNvPr id="4" name="Slide Number Placeholder 3"/>
          <p:cNvSpPr>
            <a:spLocks noGrp="1"/>
          </p:cNvSpPr>
          <p:nvPr>
            <p:ph type="sldNum" sz="quarter" idx="5"/>
          </p:nvPr>
        </p:nvSpPr>
        <p:spPr/>
        <p:txBody>
          <a:bodyPr/>
          <a:lstStyle/>
          <a:p>
            <a:fld id="{A92B1163-51AF-491A-9C0F-2B7F2E36C4B0}" type="slidenum">
              <a:rPr lang="en-GB" smtClean="0"/>
              <a:t>2</a:t>
            </a:fld>
            <a:endParaRPr lang="en-GB"/>
          </a:p>
        </p:txBody>
      </p:sp>
    </p:spTree>
    <p:extLst>
      <p:ext uri="{BB962C8B-B14F-4D97-AF65-F5344CB8AC3E}">
        <p14:creationId xmlns:p14="http://schemas.microsoft.com/office/powerpoint/2010/main" val="768067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2B1163-51AF-491A-9C0F-2B7F2E36C4B0}" type="slidenum">
              <a:rPr lang="en-GB" smtClean="0"/>
              <a:t>3</a:t>
            </a:fld>
            <a:endParaRPr lang="en-GB"/>
          </a:p>
        </p:txBody>
      </p:sp>
    </p:spTree>
    <p:extLst>
      <p:ext uri="{BB962C8B-B14F-4D97-AF65-F5344CB8AC3E}">
        <p14:creationId xmlns:p14="http://schemas.microsoft.com/office/powerpoint/2010/main" val="583259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EE2A5702-F904-41E7-B36C-9BF2DF649FC9}"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535425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E2A5702-F904-41E7-B36C-9BF2DF649FC9}"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2458717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E2A5702-F904-41E7-B36C-9BF2DF649FC9}"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3337960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E2A5702-F904-41E7-B36C-9BF2DF649FC9}" type="datetimeFigureOut">
              <a:rPr lang="en-GB" smtClean="0"/>
              <a:t>07/02/2026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4038429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E2A5702-F904-41E7-B36C-9BF2DF649FC9}" type="datetimeFigureOut">
              <a:rPr lang="en-GB" smtClean="0"/>
              <a:t>07/02/2026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2850903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E2A5702-F904-41E7-B36C-9BF2DF649FC9}" type="datetimeFigureOut">
              <a:rPr lang="en-GB" smtClean="0"/>
              <a:t>07/02/2026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1573831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2A5702-F904-41E7-B36C-9BF2DF649FC9}" type="datetimeFigureOut">
              <a:rPr lang="en-GB" smtClean="0"/>
              <a:t>07/02/2026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311124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E2A5702-F904-41E7-B36C-9BF2DF649FC9}" type="datetimeFigureOut">
              <a:rPr lang="en-GB" smtClean="0"/>
              <a:t>07/02/2026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4125555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498F5B2-D608-4EF2-B239-AF626A99663B}" type="slidenum">
              <a:rPr lang="en-GB" smtClean="0"/>
              <a:t>‹#›</a:t>
            </a:fld>
            <a:endParaRPr lang="en-GB"/>
          </a:p>
        </p:txBody>
      </p:sp>
      <p:sp>
        <p:nvSpPr>
          <p:cNvPr id="5" name="Date Placeholder 4"/>
          <p:cNvSpPr>
            <a:spLocks noGrp="1"/>
          </p:cNvSpPr>
          <p:nvPr>
            <p:ph type="dt" sz="half" idx="10"/>
          </p:nvPr>
        </p:nvSpPr>
        <p:spPr/>
        <p:txBody>
          <a:bodyPr/>
          <a:lstStyle/>
          <a:p>
            <a:fld id="{EE2A5702-F904-41E7-B36C-9BF2DF649FC9}" type="datetimeFigureOut">
              <a:rPr lang="en-GB" smtClean="0"/>
              <a:t>07/02/2026</a:t>
            </a:fld>
            <a:endParaRPr lang="en-GB"/>
          </a:p>
        </p:txBody>
      </p:sp>
    </p:spTree>
    <p:extLst>
      <p:ext uri="{BB962C8B-B14F-4D97-AF65-F5344CB8AC3E}">
        <p14:creationId xmlns:p14="http://schemas.microsoft.com/office/powerpoint/2010/main" val="2853154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E2A5702-F904-41E7-B36C-9BF2DF649FC9}"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2382484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E2A5702-F904-41E7-B36C-9BF2DF649FC9}"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98F5B2-D608-4EF2-B239-AF626A99663B}"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70928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E2A5702-F904-41E7-B36C-9BF2DF649FC9}"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3962898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E2A5702-F904-41E7-B36C-9BF2DF649FC9}"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98F5B2-D608-4EF2-B239-AF626A99663B}"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20844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E2A5702-F904-41E7-B36C-9BF2DF649FC9}"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27073139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E2A5702-F904-41E7-B36C-9BF2DF649FC9}"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2085358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E2A5702-F904-41E7-B36C-9BF2DF649FC9}" type="datetimeFigureOut">
              <a:rPr lang="en-GB" smtClean="0"/>
              <a:t>07/02/2026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498F5B2-D608-4EF2-B239-AF626A99663B}" type="slidenum">
              <a:rPr lang="en-GB" smtClean="0"/>
              <a:t>‹#›</a:t>
            </a:fld>
            <a:endParaRPr lang="en-GB"/>
          </a:p>
        </p:txBody>
      </p:sp>
    </p:spTree>
    <p:extLst>
      <p:ext uri="{BB962C8B-B14F-4D97-AF65-F5344CB8AC3E}">
        <p14:creationId xmlns:p14="http://schemas.microsoft.com/office/powerpoint/2010/main" val="2878529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E2A5702-F904-41E7-B36C-9BF2DF649FC9}" type="datetimeFigureOut">
              <a:rPr lang="en-GB" smtClean="0"/>
              <a:t>07/02/2026</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498F5B2-D608-4EF2-B239-AF626A99663B}" type="slidenum">
              <a:rPr lang="en-GB" smtClean="0"/>
              <a:t>‹#›</a:t>
            </a:fld>
            <a:endParaRPr lang="en-GB"/>
          </a:p>
        </p:txBody>
      </p:sp>
    </p:spTree>
    <p:extLst>
      <p:ext uri="{BB962C8B-B14F-4D97-AF65-F5344CB8AC3E}">
        <p14:creationId xmlns:p14="http://schemas.microsoft.com/office/powerpoint/2010/main" val="422050466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B16F1DD9.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gif"/></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21FB322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03_FFE77C2B.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104_25AC6646.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05_D8DFD97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06_F75B72A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07_2FB7F2FC.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microsoft.com/office/2018/10/relationships/comments" Target="../comments/modernComment_108_4E76D68E.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Ising_model" TargetMode="External"/><Relationship Id="rId2" Type="http://schemas.openxmlformats.org/officeDocument/2006/relationships/hyperlink" Target="https://www.researchgate.net/publication/361610666/figure/fig3/AS:1172304964911104@1656510692179/Models-of-CNT-a-Dependence-of-cluster-free-energy-G-on-the-cluster-radius-according.png" TargetMode="External"/><Relationship Id="rId1" Type="http://schemas.openxmlformats.org/officeDocument/2006/relationships/slideLayout" Target="../slideLayouts/slideLayout2.xml"/><Relationship Id="rId5" Type="http://schemas.openxmlformats.org/officeDocument/2006/relationships/hyperlink" Target="https://doi.org/10.1103/PhysRevE.49.5080" TargetMode="External"/><Relationship Id="rId4" Type="http://schemas.openxmlformats.org/officeDocument/2006/relationships/hyperlink" Target="https://arxiv.org/abs/cond-mat/980121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F59A3-667B-B449-EF69-F6C9CF2299BF}"/>
              </a:ext>
            </a:extLst>
          </p:cNvPr>
          <p:cNvSpPr>
            <a:spLocks noGrp="1"/>
          </p:cNvSpPr>
          <p:nvPr>
            <p:ph type="ctrTitle"/>
          </p:nvPr>
        </p:nvSpPr>
        <p:spPr/>
        <p:txBody>
          <a:bodyPr/>
          <a:lstStyle/>
          <a:p>
            <a:r>
              <a:rPr lang="en-GB" dirty="0"/>
              <a:t>Simulating Nucleation in the Ising Model	</a:t>
            </a:r>
          </a:p>
        </p:txBody>
      </p:sp>
      <p:sp>
        <p:nvSpPr>
          <p:cNvPr id="3" name="Subtitle 2">
            <a:extLst>
              <a:ext uri="{FF2B5EF4-FFF2-40B4-BE49-F238E27FC236}">
                <a16:creationId xmlns:a16="http://schemas.microsoft.com/office/drawing/2014/main" id="{2122B760-A95D-FFD5-134B-C1D00DEEF99A}"/>
              </a:ext>
            </a:extLst>
          </p:cNvPr>
          <p:cNvSpPr>
            <a:spLocks noGrp="1"/>
          </p:cNvSpPr>
          <p:nvPr>
            <p:ph type="subTitle" idx="1"/>
          </p:nvPr>
        </p:nvSpPr>
        <p:spPr/>
        <p:txBody>
          <a:bodyPr/>
          <a:lstStyle/>
          <a:p>
            <a:r>
              <a:rPr lang="en-GB" dirty="0"/>
              <a:t>Charlie Cook</a:t>
            </a:r>
          </a:p>
        </p:txBody>
      </p:sp>
    </p:spTree>
    <p:extLst>
      <p:ext uri="{BB962C8B-B14F-4D97-AF65-F5344CB8AC3E}">
        <p14:creationId xmlns:p14="http://schemas.microsoft.com/office/powerpoint/2010/main" val="1265042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2AD60-08E8-8F68-BE61-23CC643914FB}"/>
              </a:ext>
            </a:extLst>
          </p:cNvPr>
          <p:cNvSpPr>
            <a:spLocks noGrp="1"/>
          </p:cNvSpPr>
          <p:nvPr>
            <p:ph type="title"/>
          </p:nvPr>
        </p:nvSpPr>
        <p:spPr/>
        <p:txBody>
          <a:bodyPr/>
          <a:lstStyle/>
          <a:p>
            <a:r>
              <a:rPr lang="en-GB" dirty="0"/>
              <a:t>Introduction and motivation</a:t>
            </a:r>
          </a:p>
        </p:txBody>
      </p:sp>
      <p:sp>
        <p:nvSpPr>
          <p:cNvPr id="3" name="Content Placeholder 2">
            <a:extLst>
              <a:ext uri="{FF2B5EF4-FFF2-40B4-BE49-F238E27FC236}">
                <a16:creationId xmlns:a16="http://schemas.microsoft.com/office/drawing/2014/main" id="{E5149D7D-3D70-A28D-6C14-D8BD575A2A61}"/>
              </a:ext>
            </a:extLst>
          </p:cNvPr>
          <p:cNvSpPr>
            <a:spLocks noGrp="1"/>
          </p:cNvSpPr>
          <p:nvPr>
            <p:ph idx="1"/>
          </p:nvPr>
        </p:nvSpPr>
        <p:spPr/>
        <p:txBody>
          <a:bodyPr/>
          <a:lstStyle/>
          <a:p>
            <a:r>
              <a:rPr lang="en-GB" dirty="0"/>
              <a:t>Nucleation governs (most) 1</a:t>
            </a:r>
            <a:r>
              <a:rPr lang="en-GB" baseline="30000" dirty="0"/>
              <a:t>st</a:t>
            </a:r>
            <a:r>
              <a:rPr lang="en-GB" dirty="0"/>
              <a:t> order phase transitions</a:t>
            </a:r>
          </a:p>
          <a:p>
            <a:endParaRPr lang="en-GB" dirty="0"/>
          </a:p>
          <a:p>
            <a:r>
              <a:rPr lang="en-GB" dirty="0"/>
              <a:t>Phase transition e.g. water from ice</a:t>
            </a:r>
          </a:p>
          <a:p>
            <a:endParaRPr lang="en-GB" dirty="0"/>
          </a:p>
          <a:p>
            <a:r>
              <a:rPr lang="en-GB" dirty="0"/>
              <a:t>Supercooled water </a:t>
            </a:r>
          </a:p>
          <a:p>
            <a:endParaRPr lang="en-GB" dirty="0"/>
          </a:p>
          <a:p>
            <a:r>
              <a:rPr lang="en-GB" dirty="0"/>
              <a:t>Simulate using a simple ‘Ising model’ &amp; metropolis algorithm</a:t>
            </a:r>
          </a:p>
          <a:p>
            <a:endParaRPr lang="en-GB" dirty="0"/>
          </a:p>
          <a:p>
            <a:endParaRPr lang="en-GB" dirty="0"/>
          </a:p>
          <a:p>
            <a:endParaRPr lang="en-GB" dirty="0"/>
          </a:p>
          <a:p>
            <a:endParaRPr lang="en-GB" dirty="0"/>
          </a:p>
          <a:p>
            <a:endParaRPr lang="en-GB" dirty="0"/>
          </a:p>
        </p:txBody>
      </p:sp>
      <p:pic>
        <p:nvPicPr>
          <p:cNvPr id="3075" name="Picture 3" descr="thermodynamics - Why do ice crystals form from the top to the bottom of ...">
            <a:extLst>
              <a:ext uri="{FF2B5EF4-FFF2-40B4-BE49-F238E27FC236}">
                <a16:creationId xmlns:a16="http://schemas.microsoft.com/office/drawing/2014/main" id="{15E4B438-F256-2D6D-C046-39C1CEE56F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559" y="1221110"/>
            <a:ext cx="2796053" cy="2207890"/>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5C685FA6-00EF-52E0-E304-52CF40E37795}"/>
              </a:ext>
            </a:extLst>
          </p:cNvPr>
          <p:cNvSpPr txBox="1"/>
          <p:nvPr/>
        </p:nvSpPr>
        <p:spPr>
          <a:xfrm>
            <a:off x="8301906" y="3659189"/>
            <a:ext cx="2395122" cy="861774"/>
          </a:xfrm>
          <a:prstGeom prst="rect">
            <a:avLst/>
          </a:prstGeom>
          <a:noFill/>
        </p:spPr>
        <p:txBody>
          <a:bodyPr wrap="square" rtlCol="0">
            <a:spAutoFit/>
          </a:bodyPr>
          <a:lstStyle/>
          <a:p>
            <a:r>
              <a:rPr lang="en-GB" sz="1600" dirty="0"/>
              <a:t>Nucleation of supercooled water </a:t>
            </a:r>
            <a:r>
              <a:rPr lang="en-GB" sz="1600" baseline="30000" dirty="0"/>
              <a:t>[1</a:t>
            </a:r>
            <a:r>
              <a:rPr lang="en-GB" baseline="30000" dirty="0"/>
              <a:t>]</a:t>
            </a:r>
          </a:p>
          <a:p>
            <a:endParaRPr lang="en-GB" dirty="0">
              <a:solidFill>
                <a:schemeClr val="bg1"/>
              </a:solidFill>
            </a:endParaRPr>
          </a:p>
        </p:txBody>
      </p:sp>
      <p:sp>
        <p:nvSpPr>
          <p:cNvPr id="5" name="TextBox 4">
            <a:extLst>
              <a:ext uri="{FF2B5EF4-FFF2-40B4-BE49-F238E27FC236}">
                <a16:creationId xmlns:a16="http://schemas.microsoft.com/office/drawing/2014/main" id="{7DDA560E-F8DD-EC42-7C65-31686CBD6584}"/>
              </a:ext>
            </a:extLst>
          </p:cNvPr>
          <p:cNvSpPr txBox="1"/>
          <p:nvPr/>
        </p:nvSpPr>
        <p:spPr>
          <a:xfrm>
            <a:off x="466271" y="6458857"/>
            <a:ext cx="6099628" cy="276999"/>
          </a:xfrm>
          <a:prstGeom prst="rect">
            <a:avLst/>
          </a:prstGeom>
          <a:noFill/>
        </p:spPr>
        <p:txBody>
          <a:bodyPr wrap="square">
            <a:spAutoFit/>
          </a:bodyPr>
          <a:lstStyle/>
          <a:p>
            <a:r>
              <a:rPr lang="en-GB" sz="1200" dirty="0"/>
              <a:t>[1] Physics Exchange Stack (2014)</a:t>
            </a:r>
          </a:p>
        </p:txBody>
      </p:sp>
    </p:spTree>
    <p:extLst>
      <p:ext uri="{BB962C8B-B14F-4D97-AF65-F5344CB8AC3E}">
        <p14:creationId xmlns:p14="http://schemas.microsoft.com/office/powerpoint/2010/main" val="2976849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descr="A diagram of a graph&#10;&#10;AI-generated content may be incorrect.">
            <a:extLst>
              <a:ext uri="{FF2B5EF4-FFF2-40B4-BE49-F238E27FC236}">
                <a16:creationId xmlns:a16="http://schemas.microsoft.com/office/drawing/2014/main" id="{47143193-C64E-A2B9-E5A4-CDF61675B422}"/>
              </a:ext>
            </a:extLst>
          </p:cNvPr>
          <p:cNvPicPr>
            <a:picLocks noChangeAspect="1"/>
          </p:cNvPicPr>
          <p:nvPr/>
        </p:nvPicPr>
        <p:blipFill>
          <a:blip r:embed="rId4"/>
          <a:stretch>
            <a:fillRect/>
          </a:stretch>
        </p:blipFill>
        <p:spPr>
          <a:xfrm>
            <a:off x="6264210" y="3976290"/>
            <a:ext cx="3415565" cy="2742746"/>
          </a:xfrm>
          <a:prstGeom prst="rect">
            <a:avLst/>
          </a:prstGeom>
        </p:spPr>
      </p:pic>
      <p:sp>
        <p:nvSpPr>
          <p:cNvPr id="2" name="Title 1">
            <a:extLst>
              <a:ext uri="{FF2B5EF4-FFF2-40B4-BE49-F238E27FC236}">
                <a16:creationId xmlns:a16="http://schemas.microsoft.com/office/drawing/2014/main" id="{FEEA3CC6-882F-B304-BD0A-4544F8BA597C}"/>
              </a:ext>
            </a:extLst>
          </p:cNvPr>
          <p:cNvSpPr>
            <a:spLocks noGrp="1"/>
          </p:cNvSpPr>
          <p:nvPr>
            <p:ph type="title"/>
          </p:nvPr>
        </p:nvSpPr>
        <p:spPr/>
        <p:txBody>
          <a:bodyPr/>
          <a:lstStyle/>
          <a:p>
            <a:r>
              <a:rPr lang="en-GB" dirty="0"/>
              <a:t>What is nucleation?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4CB7E28-225D-1BC6-CF61-0941CC68FE03}"/>
                  </a:ext>
                </a:extLst>
              </p:cNvPr>
              <p:cNvSpPr>
                <a:spLocks noGrp="1"/>
              </p:cNvSpPr>
              <p:nvPr>
                <p:ph idx="1"/>
              </p:nvPr>
            </p:nvSpPr>
            <p:spPr>
              <a:xfrm>
                <a:off x="677334" y="1739675"/>
                <a:ext cx="8596668" cy="4820782"/>
              </a:xfrm>
            </p:spPr>
            <p:txBody>
              <a:bodyPr>
                <a:normAutofit/>
              </a:bodyPr>
              <a:lstStyle/>
              <a:p>
                <a:pPr marL="0" indent="0">
                  <a:buNone/>
                </a:pPr>
                <a:endParaRPr lang="en-GB" dirty="0"/>
              </a:p>
              <a:p>
                <a:r>
                  <a:rPr lang="en-GB" dirty="0"/>
                  <a:t>Stochastic (random) process</a:t>
                </a:r>
              </a:p>
              <a:p>
                <a:endParaRPr lang="en-GB" dirty="0"/>
              </a:p>
              <a:p>
                <a:r>
                  <a:rPr lang="en-GB" dirty="0"/>
                  <a:t>Small clusters form, growing or shrinking</a:t>
                </a:r>
              </a:p>
              <a:p>
                <a:endParaRPr lang="en-GB" dirty="0"/>
              </a:p>
              <a:p>
                <a14:m>
                  <m:oMath xmlns:m="http://schemas.openxmlformats.org/officeDocument/2006/math">
                    <m:r>
                      <m:rPr>
                        <m:sty m:val="p"/>
                      </m:rPr>
                      <a:rPr lang="en-GB">
                        <a:latin typeface="Cambria Math" panose="02040503050406030204" pitchFamily="18" charset="0"/>
                      </a:rPr>
                      <m:t>Δ</m:t>
                    </m:r>
                    <m:r>
                      <a:rPr lang="en-GB" i="1">
                        <a:latin typeface="Cambria Math" panose="02040503050406030204" pitchFamily="18" charset="0"/>
                      </a:rPr>
                      <m:t>𝐹</m:t>
                    </m:r>
                    <m:d>
                      <m:dPr>
                        <m:ctrlPr>
                          <a:rPr lang="en-GB" i="1">
                            <a:latin typeface="Cambria Math" panose="02040503050406030204" pitchFamily="18" charset="0"/>
                          </a:rPr>
                        </m:ctrlPr>
                      </m:dPr>
                      <m:e>
                        <m:r>
                          <a:rPr lang="en-GB" i="1">
                            <a:latin typeface="Cambria Math" panose="02040503050406030204" pitchFamily="18" charset="0"/>
                          </a:rPr>
                          <m:t>𝑅</m:t>
                        </m:r>
                      </m:e>
                    </m:d>
                    <m:r>
                      <a:rPr lang="en-GB" i="1">
                        <a:latin typeface="Cambria Math" panose="02040503050406030204" pitchFamily="18" charset="0"/>
                      </a:rPr>
                      <m:t>=2</m:t>
                    </m:r>
                    <m:r>
                      <a:rPr lang="en-GB" i="1">
                        <a:latin typeface="Cambria Math" panose="02040503050406030204" pitchFamily="18" charset="0"/>
                      </a:rPr>
                      <m:t>𝜋</m:t>
                    </m:r>
                    <m:r>
                      <a:rPr lang="en-GB" i="1">
                        <a:latin typeface="Cambria Math" panose="02040503050406030204" pitchFamily="18" charset="0"/>
                      </a:rPr>
                      <m:t>𝑅</m:t>
                    </m:r>
                    <m:r>
                      <a:rPr lang="en-GB" i="1">
                        <a:latin typeface="Cambria Math" panose="02040503050406030204" pitchFamily="18" charset="0"/>
                      </a:rPr>
                      <m:t>𝜎</m:t>
                    </m:r>
                    <m:r>
                      <a:rPr lang="en-GB" i="1">
                        <a:latin typeface="Cambria Math" panose="02040503050406030204" pitchFamily="18" charset="0"/>
                      </a:rPr>
                      <m:t>−</m:t>
                    </m:r>
                    <m:r>
                      <a:rPr lang="en-GB" i="1">
                        <a:latin typeface="Cambria Math" panose="02040503050406030204" pitchFamily="18" charset="0"/>
                      </a:rPr>
                      <m:t>𝜋</m:t>
                    </m:r>
                    <m:sSup>
                      <m:sSupPr>
                        <m:ctrlPr>
                          <a:rPr lang="en-GB" i="1">
                            <a:latin typeface="Cambria Math" panose="02040503050406030204" pitchFamily="18" charset="0"/>
                          </a:rPr>
                        </m:ctrlPr>
                      </m:sSupPr>
                      <m:e>
                        <m:r>
                          <a:rPr lang="en-GB" i="1">
                            <a:latin typeface="Cambria Math" panose="02040503050406030204" pitchFamily="18" charset="0"/>
                          </a:rPr>
                          <m:t>𝑅</m:t>
                        </m:r>
                      </m:e>
                      <m:sup>
                        <m:r>
                          <a:rPr lang="en-GB" i="1">
                            <a:latin typeface="Cambria Math" panose="02040503050406030204" pitchFamily="18" charset="0"/>
                          </a:rPr>
                          <m:t>2</m:t>
                        </m:r>
                      </m:sup>
                    </m:sSup>
                    <m:r>
                      <m:rPr>
                        <m:sty m:val="p"/>
                      </m:rPr>
                      <a:rPr lang="en-GB">
                        <a:latin typeface="Cambria Math" panose="02040503050406030204" pitchFamily="18" charset="0"/>
                      </a:rPr>
                      <m:t>Δ</m:t>
                    </m:r>
                    <m:sSup>
                      <m:sSupPr>
                        <m:ctrlPr>
                          <a:rPr lang="en-GB" b="0" i="1" smtClean="0">
                            <a:latin typeface="Cambria Math" panose="02040503050406030204" pitchFamily="18" charset="0"/>
                          </a:rPr>
                        </m:ctrlPr>
                      </m:sSupPr>
                      <m:e>
                        <m:r>
                          <a:rPr lang="en-GB" i="1">
                            <a:latin typeface="Cambria Math" panose="02040503050406030204" pitchFamily="18" charset="0"/>
                          </a:rPr>
                          <m:t>𝑓</m:t>
                        </m:r>
                      </m:e>
                      <m:sup>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2</m:t>
                            </m:r>
                          </m:e>
                        </m:d>
                      </m:sup>
                    </m:sSup>
                  </m:oMath>
                </a14:m>
                <a:r>
                  <a:rPr lang="en-GB" dirty="0"/>
                  <a:t>  - Energy barrier</a:t>
                </a:r>
              </a:p>
              <a:p>
                <a:endParaRPr lang="en-GB" dirty="0"/>
              </a:p>
              <a:p>
                <a:endParaRPr lang="en-GB" dirty="0"/>
              </a:p>
              <a:p>
                <a:endParaRPr lang="en-GB" dirty="0"/>
              </a:p>
              <a:p>
                <a:r>
                  <a:rPr lang="en-GB" dirty="0"/>
                  <a:t>Critical radius – gain &gt; cost</a:t>
                </a:r>
              </a:p>
              <a:p>
                <a:endParaRPr lang="en-GB" dirty="0"/>
              </a:p>
              <a:p>
                <a:endParaRPr lang="en-GB" dirty="0"/>
              </a:p>
              <a:p>
                <a:endParaRPr lang="en-GB" dirty="0"/>
              </a:p>
              <a:p>
                <a:pPr marL="0" indent="0">
                  <a:buNone/>
                </a:pPr>
                <a:endParaRPr lang="en-GB" dirty="0"/>
              </a:p>
              <a:p>
                <a:endParaRPr lang="en-GB" dirty="0"/>
              </a:p>
              <a:p>
                <a:endParaRPr lang="en-GB" dirty="0"/>
              </a:p>
            </p:txBody>
          </p:sp>
        </mc:Choice>
        <mc:Fallback>
          <p:sp>
            <p:nvSpPr>
              <p:cNvPr id="3" name="Content Placeholder 2">
                <a:extLst>
                  <a:ext uri="{FF2B5EF4-FFF2-40B4-BE49-F238E27FC236}">
                    <a16:creationId xmlns:a16="http://schemas.microsoft.com/office/drawing/2014/main" id="{B4CB7E28-225D-1BC6-CF61-0941CC68FE03}"/>
                  </a:ext>
                </a:extLst>
              </p:cNvPr>
              <p:cNvSpPr>
                <a:spLocks noGrp="1" noRot="1" noChangeAspect="1" noMove="1" noResize="1" noEditPoints="1" noAdjustHandles="1" noChangeArrowheads="1" noChangeShapeType="1" noTextEdit="1"/>
              </p:cNvSpPr>
              <p:nvPr>
                <p:ph idx="1"/>
              </p:nvPr>
            </p:nvSpPr>
            <p:spPr>
              <a:xfrm>
                <a:off x="677334" y="1739675"/>
                <a:ext cx="8596668" cy="4820782"/>
              </a:xfrm>
              <a:blipFill>
                <a:blip r:embed="rId5"/>
                <a:stretch>
                  <a:fillRect l="-142"/>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8E3F508F-8C2A-CA4C-D010-51CB2E635223}"/>
              </a:ext>
            </a:extLst>
          </p:cNvPr>
          <p:cNvPicPr>
            <a:picLocks noChangeAspect="1"/>
          </p:cNvPicPr>
          <p:nvPr/>
        </p:nvPicPr>
        <p:blipFill>
          <a:blip r:embed="rId6"/>
          <a:stretch>
            <a:fillRect/>
          </a:stretch>
        </p:blipFill>
        <p:spPr>
          <a:xfrm flipH="1">
            <a:off x="6882732" y="1496437"/>
            <a:ext cx="2391270" cy="2321428"/>
          </a:xfrm>
          <a:prstGeom prst="rect">
            <a:avLst/>
          </a:prstGeom>
        </p:spPr>
      </p:pic>
      <p:cxnSp>
        <p:nvCxnSpPr>
          <p:cNvPr id="6" name="Straight Arrow Connector 5">
            <a:extLst>
              <a:ext uri="{FF2B5EF4-FFF2-40B4-BE49-F238E27FC236}">
                <a16:creationId xmlns:a16="http://schemas.microsoft.com/office/drawing/2014/main" id="{FCE91BCC-B75A-C6FA-7153-0E4B9FD21157}"/>
              </a:ext>
            </a:extLst>
          </p:cNvPr>
          <p:cNvCxnSpPr>
            <a:cxnSpLocks/>
          </p:cNvCxnSpPr>
          <p:nvPr/>
        </p:nvCxnSpPr>
        <p:spPr>
          <a:xfrm flipH="1" flipV="1">
            <a:off x="3280229" y="4172857"/>
            <a:ext cx="58057" cy="526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5998D6F-8C4E-AACD-8579-C3B34AA7075E}"/>
              </a:ext>
            </a:extLst>
          </p:cNvPr>
          <p:cNvSpPr txBox="1"/>
          <p:nvPr/>
        </p:nvSpPr>
        <p:spPr>
          <a:xfrm>
            <a:off x="3063875" y="4699051"/>
            <a:ext cx="2044700" cy="369332"/>
          </a:xfrm>
          <a:prstGeom prst="rect">
            <a:avLst/>
          </a:prstGeom>
          <a:noFill/>
        </p:spPr>
        <p:txBody>
          <a:bodyPr wrap="square" rtlCol="0">
            <a:spAutoFit/>
          </a:bodyPr>
          <a:lstStyle/>
          <a:p>
            <a:r>
              <a:rPr lang="en-GB" dirty="0"/>
              <a:t>Gain </a:t>
            </a:r>
          </a:p>
        </p:txBody>
      </p:sp>
      <p:sp>
        <p:nvSpPr>
          <p:cNvPr id="9" name="TextBox 8">
            <a:extLst>
              <a:ext uri="{FF2B5EF4-FFF2-40B4-BE49-F238E27FC236}">
                <a16:creationId xmlns:a16="http://schemas.microsoft.com/office/drawing/2014/main" id="{AEC7AA9E-86D0-7AD4-63A8-230C1B5A8735}"/>
              </a:ext>
            </a:extLst>
          </p:cNvPr>
          <p:cNvSpPr txBox="1"/>
          <p:nvPr/>
        </p:nvSpPr>
        <p:spPr>
          <a:xfrm>
            <a:off x="1606550" y="4581576"/>
            <a:ext cx="2044700" cy="369332"/>
          </a:xfrm>
          <a:prstGeom prst="rect">
            <a:avLst/>
          </a:prstGeom>
          <a:noFill/>
        </p:spPr>
        <p:txBody>
          <a:bodyPr wrap="square" rtlCol="0">
            <a:spAutoFit/>
          </a:bodyPr>
          <a:lstStyle/>
          <a:p>
            <a:r>
              <a:rPr lang="en-GB" dirty="0"/>
              <a:t>Cost </a:t>
            </a:r>
          </a:p>
        </p:txBody>
      </p:sp>
      <p:cxnSp>
        <p:nvCxnSpPr>
          <p:cNvPr id="10" name="Straight Arrow Connector 9">
            <a:extLst>
              <a:ext uri="{FF2B5EF4-FFF2-40B4-BE49-F238E27FC236}">
                <a16:creationId xmlns:a16="http://schemas.microsoft.com/office/drawing/2014/main" id="{15555812-C19C-EAF0-75AD-72A7FD174B62}"/>
              </a:ext>
            </a:extLst>
          </p:cNvPr>
          <p:cNvCxnSpPr>
            <a:cxnSpLocks/>
          </p:cNvCxnSpPr>
          <p:nvPr/>
        </p:nvCxnSpPr>
        <p:spPr>
          <a:xfrm flipV="1">
            <a:off x="2000250" y="4172857"/>
            <a:ext cx="234950" cy="437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5CA4AA9-7205-BA8F-4E9F-6AD9BE811915}"/>
              </a:ext>
            </a:extLst>
          </p:cNvPr>
          <p:cNvSpPr txBox="1"/>
          <p:nvPr/>
        </p:nvSpPr>
        <p:spPr>
          <a:xfrm>
            <a:off x="6582229" y="562429"/>
            <a:ext cx="1683657" cy="646331"/>
          </a:xfrm>
          <a:prstGeom prst="rect">
            <a:avLst/>
          </a:prstGeom>
          <a:noFill/>
        </p:spPr>
        <p:txBody>
          <a:bodyPr wrap="square" rtlCol="0">
            <a:spAutoFit/>
          </a:bodyPr>
          <a:lstStyle/>
          <a:p>
            <a:r>
              <a:rPr lang="en-GB" dirty="0"/>
              <a:t>Metastable phase</a:t>
            </a:r>
          </a:p>
        </p:txBody>
      </p:sp>
      <p:cxnSp>
        <p:nvCxnSpPr>
          <p:cNvPr id="19" name="Straight Arrow Connector 18">
            <a:extLst>
              <a:ext uri="{FF2B5EF4-FFF2-40B4-BE49-F238E27FC236}">
                <a16:creationId xmlns:a16="http://schemas.microsoft.com/office/drawing/2014/main" id="{F3106FF9-7F33-C6EC-96CA-24D840F3A956}"/>
              </a:ext>
            </a:extLst>
          </p:cNvPr>
          <p:cNvCxnSpPr>
            <a:cxnSpLocks/>
            <a:stCxn id="17" idx="2"/>
          </p:cNvCxnSpPr>
          <p:nvPr/>
        </p:nvCxnSpPr>
        <p:spPr>
          <a:xfrm flipH="1">
            <a:off x="7271657" y="1208760"/>
            <a:ext cx="152401" cy="957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3D987D2-C760-50F5-CE86-B4FC052EFF85}"/>
              </a:ext>
            </a:extLst>
          </p:cNvPr>
          <p:cNvSpPr txBox="1"/>
          <p:nvPr/>
        </p:nvSpPr>
        <p:spPr>
          <a:xfrm>
            <a:off x="8421914" y="1687447"/>
            <a:ext cx="2039257" cy="369332"/>
          </a:xfrm>
          <a:prstGeom prst="rect">
            <a:avLst/>
          </a:prstGeom>
          <a:noFill/>
        </p:spPr>
        <p:txBody>
          <a:bodyPr wrap="square" rtlCol="0">
            <a:spAutoFit/>
          </a:bodyPr>
          <a:lstStyle/>
          <a:p>
            <a:r>
              <a:rPr lang="en-GB" dirty="0"/>
              <a:t>Stable phase</a:t>
            </a:r>
          </a:p>
        </p:txBody>
      </p:sp>
      <p:cxnSp>
        <p:nvCxnSpPr>
          <p:cNvPr id="23" name="Straight Arrow Connector 22">
            <a:extLst>
              <a:ext uri="{FF2B5EF4-FFF2-40B4-BE49-F238E27FC236}">
                <a16:creationId xmlns:a16="http://schemas.microsoft.com/office/drawing/2014/main" id="{3C8B38E2-8975-3E20-9830-5297BD429D57}"/>
              </a:ext>
            </a:extLst>
          </p:cNvPr>
          <p:cNvCxnSpPr/>
          <p:nvPr/>
        </p:nvCxnSpPr>
        <p:spPr>
          <a:xfrm flipH="1">
            <a:off x="8142514" y="2020209"/>
            <a:ext cx="558800" cy="581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7C18D01-25F3-19FB-B715-D70C5C93AC78}"/>
              </a:ext>
            </a:extLst>
          </p:cNvPr>
          <p:cNvSpPr txBox="1"/>
          <p:nvPr/>
        </p:nvSpPr>
        <p:spPr>
          <a:xfrm>
            <a:off x="456747" y="6197186"/>
            <a:ext cx="4666343" cy="646331"/>
          </a:xfrm>
          <a:prstGeom prst="rect">
            <a:avLst/>
          </a:prstGeom>
          <a:noFill/>
        </p:spPr>
        <p:txBody>
          <a:bodyPr wrap="square" rtlCol="0">
            <a:spAutoFit/>
          </a:bodyPr>
          <a:lstStyle/>
          <a:p>
            <a:r>
              <a:rPr lang="en-GB" sz="1200" dirty="0"/>
              <a:t>[2] Santra, M  et al.(2008)</a:t>
            </a:r>
          </a:p>
          <a:p>
            <a:r>
              <a:rPr lang="en-GB" sz="1200" dirty="0"/>
              <a:t>[3] </a:t>
            </a:r>
            <a:r>
              <a:rPr lang="en-GB" sz="1200" dirty="0" err="1"/>
              <a:t>Flatken</a:t>
            </a:r>
            <a:r>
              <a:rPr lang="en-GB" sz="1200" dirty="0"/>
              <a:t>, M. A. (2022</a:t>
            </a:r>
          </a:p>
          <a:p>
            <a:endParaRPr lang="en-GB" sz="1200" dirty="0"/>
          </a:p>
        </p:txBody>
      </p:sp>
      <p:sp>
        <p:nvSpPr>
          <p:cNvPr id="29" name="TextBox 28">
            <a:extLst>
              <a:ext uri="{FF2B5EF4-FFF2-40B4-BE49-F238E27FC236}">
                <a16:creationId xmlns:a16="http://schemas.microsoft.com/office/drawing/2014/main" id="{E906AE18-1153-BFF8-3A6C-DFC963FD4DAF}"/>
              </a:ext>
            </a:extLst>
          </p:cNvPr>
          <p:cNvSpPr txBox="1"/>
          <p:nvPr/>
        </p:nvSpPr>
        <p:spPr>
          <a:xfrm>
            <a:off x="9796878" y="6066971"/>
            <a:ext cx="1139636" cy="584775"/>
          </a:xfrm>
          <a:prstGeom prst="rect">
            <a:avLst/>
          </a:prstGeom>
          <a:noFill/>
        </p:spPr>
        <p:txBody>
          <a:bodyPr wrap="square" rtlCol="0">
            <a:spAutoFit/>
          </a:bodyPr>
          <a:lstStyle/>
          <a:p>
            <a:r>
              <a:rPr lang="en-GB" sz="1600" dirty="0">
                <a:solidFill>
                  <a:schemeClr val="bg1"/>
                </a:solidFill>
              </a:rPr>
              <a:t>Figure from </a:t>
            </a:r>
            <a:r>
              <a:rPr lang="en-GB" sz="1600" baseline="30000" dirty="0">
                <a:solidFill>
                  <a:schemeClr val="bg1"/>
                </a:solidFill>
              </a:rPr>
              <a:t>[3]</a:t>
            </a:r>
          </a:p>
        </p:txBody>
      </p:sp>
    </p:spTree>
    <p:extLst>
      <p:ext uri="{BB962C8B-B14F-4D97-AF65-F5344CB8AC3E}">
        <p14:creationId xmlns:p14="http://schemas.microsoft.com/office/powerpoint/2010/main" val="570110502"/>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1764F-6CC5-B295-7431-78BFDA5BF74C}"/>
              </a:ext>
            </a:extLst>
          </p:cNvPr>
          <p:cNvSpPr>
            <a:spLocks noGrp="1"/>
          </p:cNvSpPr>
          <p:nvPr>
            <p:ph type="title"/>
          </p:nvPr>
        </p:nvSpPr>
        <p:spPr/>
        <p:txBody>
          <a:bodyPr/>
          <a:lstStyle/>
          <a:p>
            <a:r>
              <a:rPr lang="en-GB" dirty="0"/>
              <a:t>Ising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D85D981-8348-DD36-F994-4444E58549B3}"/>
                  </a:ext>
                </a:extLst>
              </p:cNvPr>
              <p:cNvSpPr>
                <a:spLocks noGrp="1"/>
              </p:cNvSpPr>
              <p:nvPr>
                <p:ph idx="1"/>
              </p:nvPr>
            </p:nvSpPr>
            <p:spPr>
              <a:xfrm>
                <a:off x="677333" y="2160589"/>
                <a:ext cx="8880323" cy="4269240"/>
              </a:xfrm>
            </p:spPr>
            <p:txBody>
              <a:bodyPr>
                <a:normAutofit lnSpcReduction="10000"/>
              </a:bodyPr>
              <a:lstStyle/>
              <a:p>
                <a:r>
                  <a:rPr lang="en-GB" dirty="0"/>
                  <a:t>Discovered in 1920 by Ernst Ising</a:t>
                </a:r>
              </a:p>
              <a:p>
                <a:endParaRPr lang="en-GB" dirty="0"/>
              </a:p>
              <a:p>
                <a:r>
                  <a:rPr lang="en-GB" dirty="0"/>
                  <a:t>Simple model, describes ferromagnets, financial markets etc…</a:t>
                </a:r>
              </a:p>
              <a:p>
                <a:endParaRPr lang="en-GB" dirty="0"/>
              </a:p>
              <a:p>
                <a:r>
                  <a:rPr lang="en-GB" dirty="0"/>
                  <a:t>2D lattice of spins (up or down) with periodic boundary conditions </a:t>
                </a:r>
              </a:p>
              <a:p>
                <a:endParaRPr lang="en-GB" dirty="0"/>
              </a:p>
              <a:p>
                <a:r>
                  <a:rPr lang="en-GB" dirty="0"/>
                  <a:t>Energy given by:</a:t>
                </a:r>
              </a:p>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𝐸</m:t>
                      </m:r>
                      <m:r>
                        <a:rPr kumimoji="0" lang="en-GB"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𝐵</m:t>
                      </m:r>
                      <m:nary>
                        <m:naryPr>
                          <m:chr m:val="∑"/>
                          <m:supHide m:val="on"/>
                          <m:ctrlPr>
                            <a:rPr kumimoji="0" lang="en-GB"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naryPr>
                        <m:sub>
                          <m:r>
                            <m:rPr>
                              <m:sty m:val="p"/>
                              <m:brk m:alnAt="7"/>
                            </m:rPr>
                            <a:rPr kumimoji="0" lang="el-GR"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α</m:t>
                          </m:r>
                        </m:sub>
                        <m:sup/>
                        <m:e>
                          <m:sSub>
                            <m:sSubPr>
                              <m:ctrlPr>
                                <a:rPr kumimoji="0" lang="en-GB"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GB"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𝑆</m:t>
                              </m:r>
                            </m:e>
                            <m:sub>
                              <m:r>
                                <m:rPr>
                                  <m:sty m:val="p"/>
                                  <m:brk m:alnAt="7"/>
                                </m:rPr>
                                <a:rPr kumimoji="0" lang="el-GR"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α</m:t>
                              </m:r>
                            </m:sub>
                          </m:sSub>
                        </m:e>
                      </m:nary>
                      <m:r>
                        <a:rPr kumimoji="0" lang="en-GB" sz="20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GB" sz="20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J</m:t>
                      </m:r>
                      <m:nary>
                        <m:naryPr>
                          <m:chr m:val="∑"/>
                          <m:supHide m:val="on"/>
                          <m:ctrlPr>
                            <a:rPr kumimoji="0" lang="en-GB"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naryPr>
                        <m:sub>
                          <m:r>
                            <m:rPr>
                              <m:brk m:alnAt="7"/>
                            </m:rPr>
                            <a:rPr kumimoji="0" lang="en-GB"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&lt;</m:t>
                          </m:r>
                          <m:r>
                            <m:rPr>
                              <m:sty m:val="p"/>
                            </m:rPr>
                            <a:rPr kumimoji="0" lang="el-GR"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αβ</m:t>
                          </m:r>
                          <m:r>
                            <a:rPr kumimoji="0" lang="en-GB"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&gt;</m:t>
                          </m:r>
                        </m:sub>
                        <m:sup/>
                        <m:e>
                          <m:sSub>
                            <m:sSubPr>
                              <m:ctrlPr>
                                <a:rPr kumimoji="0" lang="en-GB"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GB"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𝑆</m:t>
                              </m:r>
                            </m:e>
                            <m:sub>
                              <m:r>
                                <m:rPr>
                                  <m:sty m:val="p"/>
                                  <m:brk m:alnAt="7"/>
                                </m:rPr>
                                <a:rPr kumimoji="0" lang="el-GR"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α</m:t>
                              </m:r>
                            </m:sub>
                          </m:sSub>
                          <m:sSub>
                            <m:sSubPr>
                              <m:ctrlPr>
                                <a:rPr kumimoji="0" lang="en-GB"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GB"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𝑆</m:t>
                              </m:r>
                            </m:e>
                            <m:sub>
                              <m:r>
                                <m:rPr>
                                  <m:sty m:val="p"/>
                                </m:rPr>
                                <a:rPr kumimoji="0" lang="el-GR"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β</m:t>
                              </m:r>
                            </m:sub>
                          </m:sSub>
                        </m:e>
                      </m:nary>
                      <m:r>
                        <a:rPr kumimoji="0" lang="en-GB" sz="20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oMath>
                  </m:oMathPara>
                </a14:m>
                <a:endParaRPr kumimoji="0" lang="en-GB" sz="2000" b="0" i="0" u="none" strike="noStrike" kern="1200" cap="none" spc="0" normalizeH="0" baseline="0" noProof="0" dirty="0">
                  <a:ln>
                    <a:noFill/>
                  </a:ln>
                  <a:solidFill>
                    <a:prstClr val="black"/>
                  </a:solidFill>
                  <a:effectLst/>
                  <a:uLnTx/>
                  <a:uFillTx/>
                  <a:latin typeface="Aptos" panose="02110004020202020204"/>
                  <a:ea typeface="+mn-ea"/>
                  <a:cs typeface="+mn-cs"/>
                </a:endParaRPr>
              </a:p>
              <a:p>
                <a:endParaRPr lang="en-GB" dirty="0"/>
              </a:p>
              <a:p>
                <a:r>
                  <a:rPr lang="en-GB" dirty="0"/>
                  <a:t>Updated using a metropolis-hastings algorithm </a:t>
                </a:r>
              </a:p>
              <a:p>
                <a:endParaRPr lang="en-GB" dirty="0"/>
              </a:p>
              <a:p>
                <a:endParaRPr lang="en-GB" dirty="0"/>
              </a:p>
            </p:txBody>
          </p:sp>
        </mc:Choice>
        <mc:Fallback>
          <p:sp>
            <p:nvSpPr>
              <p:cNvPr id="3" name="Content Placeholder 2">
                <a:extLst>
                  <a:ext uri="{FF2B5EF4-FFF2-40B4-BE49-F238E27FC236}">
                    <a16:creationId xmlns:a16="http://schemas.microsoft.com/office/drawing/2014/main" id="{6D85D981-8348-DD36-F994-4444E58549B3}"/>
                  </a:ext>
                </a:extLst>
              </p:cNvPr>
              <p:cNvSpPr>
                <a:spLocks noGrp="1" noRot="1" noChangeAspect="1" noMove="1" noResize="1" noEditPoints="1" noAdjustHandles="1" noChangeArrowheads="1" noChangeShapeType="1" noTextEdit="1"/>
              </p:cNvSpPr>
              <p:nvPr>
                <p:ph idx="1"/>
              </p:nvPr>
            </p:nvSpPr>
            <p:spPr>
              <a:xfrm>
                <a:off x="677333" y="2160589"/>
                <a:ext cx="8880323" cy="4269240"/>
              </a:xfrm>
              <a:blipFill>
                <a:blip r:embed="rId3"/>
                <a:stretch>
                  <a:fillRect l="-137" t="-1427"/>
                </a:stretch>
              </a:blipFill>
            </p:spPr>
            <p:txBody>
              <a:bodyPr/>
              <a:lstStyle/>
              <a:p>
                <a:r>
                  <a:rPr lang="en-GB">
                    <a:noFill/>
                  </a:rPr>
                  <a:t> </a:t>
                </a:r>
              </a:p>
            </p:txBody>
          </p:sp>
        </mc:Fallback>
      </mc:AlternateContent>
      <p:pic>
        <p:nvPicPr>
          <p:cNvPr id="1026" name="Picture 2">
            <a:extLst>
              <a:ext uri="{FF2B5EF4-FFF2-40B4-BE49-F238E27FC236}">
                <a16:creationId xmlns:a16="http://schemas.microsoft.com/office/drawing/2014/main" id="{5C337979-66D9-EB3F-B691-EFB63D137A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4401" y="167232"/>
            <a:ext cx="4935324" cy="18970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D27CA3-9078-8F42-D6BB-219C8423B0BF}"/>
              </a:ext>
            </a:extLst>
          </p:cNvPr>
          <p:cNvSpPr txBox="1"/>
          <p:nvPr/>
        </p:nvSpPr>
        <p:spPr>
          <a:xfrm>
            <a:off x="6096000" y="1986659"/>
            <a:ext cx="1950806" cy="307777"/>
          </a:xfrm>
          <a:prstGeom prst="rect">
            <a:avLst/>
          </a:prstGeom>
          <a:noFill/>
        </p:spPr>
        <p:txBody>
          <a:bodyPr wrap="square" rtlCol="0">
            <a:spAutoFit/>
          </a:bodyPr>
          <a:lstStyle/>
          <a:p>
            <a:r>
              <a:rPr lang="en-GB" sz="1400" dirty="0"/>
              <a:t>2D Ising model</a:t>
            </a:r>
            <a:r>
              <a:rPr lang="en-GB" sz="1400" baseline="30000" dirty="0"/>
              <a:t>[4]</a:t>
            </a:r>
          </a:p>
        </p:txBody>
      </p:sp>
      <p:sp>
        <p:nvSpPr>
          <p:cNvPr id="5" name="TextBox 4">
            <a:extLst>
              <a:ext uri="{FF2B5EF4-FFF2-40B4-BE49-F238E27FC236}">
                <a16:creationId xmlns:a16="http://schemas.microsoft.com/office/drawing/2014/main" id="{BE07B535-964E-91E2-08C9-6D5E88BCA9B0}"/>
              </a:ext>
            </a:extLst>
          </p:cNvPr>
          <p:cNvSpPr txBox="1"/>
          <p:nvPr/>
        </p:nvSpPr>
        <p:spPr>
          <a:xfrm>
            <a:off x="732971" y="6502400"/>
            <a:ext cx="2837543" cy="307777"/>
          </a:xfrm>
          <a:prstGeom prst="rect">
            <a:avLst/>
          </a:prstGeom>
          <a:noFill/>
        </p:spPr>
        <p:txBody>
          <a:bodyPr wrap="square" rtlCol="0">
            <a:spAutoFit/>
          </a:bodyPr>
          <a:lstStyle/>
          <a:p>
            <a:r>
              <a:rPr lang="en-GB" sz="1200" dirty="0"/>
              <a:t>[4] </a:t>
            </a:r>
            <a:r>
              <a:rPr lang="en-GB" sz="1200" dirty="0" err="1"/>
              <a:t>Wikipeida</a:t>
            </a:r>
            <a:r>
              <a:rPr lang="en-GB" sz="1200" dirty="0"/>
              <a:t> (2026</a:t>
            </a:r>
            <a:r>
              <a:rPr lang="en-GB" sz="1400" dirty="0"/>
              <a:t>)</a:t>
            </a:r>
          </a:p>
        </p:txBody>
      </p:sp>
      <p:sp>
        <p:nvSpPr>
          <p:cNvPr id="6" name="Rectangle 5">
            <a:extLst>
              <a:ext uri="{FF2B5EF4-FFF2-40B4-BE49-F238E27FC236}">
                <a16:creationId xmlns:a16="http://schemas.microsoft.com/office/drawing/2014/main" id="{9C9F0788-D4F9-D30D-945D-2E937E00DCBA}"/>
              </a:ext>
            </a:extLst>
          </p:cNvPr>
          <p:cNvSpPr/>
          <p:nvPr/>
        </p:nvSpPr>
        <p:spPr>
          <a:xfrm>
            <a:off x="3300400" y="4190000"/>
            <a:ext cx="1184514" cy="447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Field contribution </a:t>
            </a:r>
          </a:p>
        </p:txBody>
      </p:sp>
      <p:sp>
        <p:nvSpPr>
          <p:cNvPr id="7" name="Rectangle 6">
            <a:extLst>
              <a:ext uri="{FF2B5EF4-FFF2-40B4-BE49-F238E27FC236}">
                <a16:creationId xmlns:a16="http://schemas.microsoft.com/office/drawing/2014/main" id="{7C1A3140-28CB-4A41-B425-A8CC29063D1F}"/>
              </a:ext>
            </a:extLst>
          </p:cNvPr>
          <p:cNvSpPr/>
          <p:nvPr/>
        </p:nvSpPr>
        <p:spPr>
          <a:xfrm>
            <a:off x="6396488" y="4268851"/>
            <a:ext cx="1349829" cy="447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Spin contribution</a:t>
            </a:r>
          </a:p>
        </p:txBody>
      </p:sp>
      <p:cxnSp>
        <p:nvCxnSpPr>
          <p:cNvPr id="9" name="Straight Arrow Connector 8">
            <a:extLst>
              <a:ext uri="{FF2B5EF4-FFF2-40B4-BE49-F238E27FC236}">
                <a16:creationId xmlns:a16="http://schemas.microsoft.com/office/drawing/2014/main" id="{201ACB07-0E8B-38C8-FB1E-0D2A2C0DFDCF}"/>
              </a:ext>
            </a:extLst>
          </p:cNvPr>
          <p:cNvCxnSpPr/>
          <p:nvPr/>
        </p:nvCxnSpPr>
        <p:spPr>
          <a:xfrm>
            <a:off x="4071257" y="4716165"/>
            <a:ext cx="246743" cy="138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7E69E1B-FE1E-C3C0-A562-E4BAC86945D5}"/>
              </a:ext>
            </a:extLst>
          </p:cNvPr>
          <p:cNvCxnSpPr>
            <a:cxnSpLocks/>
          </p:cNvCxnSpPr>
          <p:nvPr/>
        </p:nvCxnSpPr>
        <p:spPr>
          <a:xfrm flipH="1">
            <a:off x="6096000" y="4492508"/>
            <a:ext cx="300488" cy="362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3360683"/>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C736E-3D12-1112-38DB-366AB2E744C1}"/>
              </a:ext>
            </a:extLst>
          </p:cNvPr>
          <p:cNvSpPr>
            <a:spLocks noGrp="1"/>
          </p:cNvSpPr>
          <p:nvPr>
            <p:ph type="title"/>
          </p:nvPr>
        </p:nvSpPr>
        <p:spPr/>
        <p:txBody>
          <a:bodyPr/>
          <a:lstStyle/>
          <a:p>
            <a:r>
              <a:rPr lang="en-GB" dirty="0"/>
              <a:t>How do we use this to model nucleation rates?	</a:t>
            </a:r>
          </a:p>
        </p:txBody>
      </p:sp>
      <p:sp>
        <p:nvSpPr>
          <p:cNvPr id="3" name="Content Placeholder 2">
            <a:extLst>
              <a:ext uri="{FF2B5EF4-FFF2-40B4-BE49-F238E27FC236}">
                <a16:creationId xmlns:a16="http://schemas.microsoft.com/office/drawing/2014/main" id="{E3958B2D-B04E-8296-D9B4-8F036B6265B2}"/>
              </a:ext>
            </a:extLst>
          </p:cNvPr>
          <p:cNvSpPr>
            <a:spLocks noGrp="1"/>
          </p:cNvSpPr>
          <p:nvPr>
            <p:ph idx="1"/>
          </p:nvPr>
        </p:nvSpPr>
        <p:spPr>
          <a:xfrm>
            <a:off x="677334" y="2160589"/>
            <a:ext cx="8596668" cy="4523240"/>
          </a:xfrm>
        </p:spPr>
        <p:txBody>
          <a:bodyPr>
            <a:normAutofit/>
          </a:bodyPr>
          <a:lstStyle/>
          <a:p>
            <a:r>
              <a:rPr lang="en-GB" dirty="0"/>
              <a:t>Generate a up/down spin lattice</a:t>
            </a:r>
          </a:p>
          <a:p>
            <a:endParaRPr lang="en-GB" dirty="0"/>
          </a:p>
          <a:p>
            <a:r>
              <a:rPr lang="en-GB" dirty="0"/>
              <a:t>Place it in an external field (opposite to the spins) – metastable</a:t>
            </a:r>
          </a:p>
          <a:p>
            <a:endParaRPr lang="en-GB" dirty="0"/>
          </a:p>
          <a:p>
            <a:r>
              <a:rPr lang="en-GB" dirty="0"/>
              <a:t>Run metropolis algorithm – random fluctuations </a:t>
            </a:r>
          </a:p>
          <a:p>
            <a:endParaRPr lang="en-GB" dirty="0"/>
          </a:p>
          <a:p>
            <a:r>
              <a:rPr lang="en-GB" dirty="0"/>
              <a:t> measure number of runs until magnetisation meets threshold</a:t>
            </a:r>
          </a:p>
          <a:p>
            <a:endParaRPr lang="en-GB" dirty="0"/>
          </a:p>
          <a:p>
            <a:r>
              <a:rPr lang="en-GB" dirty="0"/>
              <a:t>Repeat &amp; calculate average run time (in Monte Carlo Cycles/sweeps)</a:t>
            </a:r>
          </a:p>
          <a:p>
            <a:pPr marL="0" indent="0">
              <a:buNone/>
            </a:pPr>
            <a:endParaRPr lang="en-GB" dirty="0"/>
          </a:p>
          <a:p>
            <a:endParaRPr lang="en-GB" dirty="0"/>
          </a:p>
        </p:txBody>
      </p:sp>
      <p:pic>
        <p:nvPicPr>
          <p:cNvPr id="5" name="Picture 4" descr="A diagram of arrows pointing up&#10;&#10;AI-generated content may be incorrect.">
            <a:extLst>
              <a:ext uri="{FF2B5EF4-FFF2-40B4-BE49-F238E27FC236}">
                <a16:creationId xmlns:a16="http://schemas.microsoft.com/office/drawing/2014/main" id="{25561A75-1B6F-6E18-B02F-C4D59B74E26D}"/>
              </a:ext>
            </a:extLst>
          </p:cNvPr>
          <p:cNvPicPr>
            <a:picLocks noChangeAspect="1"/>
          </p:cNvPicPr>
          <p:nvPr/>
        </p:nvPicPr>
        <p:blipFill>
          <a:blip r:embed="rId3"/>
          <a:stretch>
            <a:fillRect/>
          </a:stretch>
        </p:blipFill>
        <p:spPr>
          <a:xfrm>
            <a:off x="8625985" y="1197428"/>
            <a:ext cx="3231088" cy="2394858"/>
          </a:xfrm>
          <a:prstGeom prst="rect">
            <a:avLst/>
          </a:prstGeom>
        </p:spPr>
      </p:pic>
    </p:spTree>
    <p:extLst>
      <p:ext uri="{BB962C8B-B14F-4D97-AF65-F5344CB8AC3E}">
        <p14:creationId xmlns:p14="http://schemas.microsoft.com/office/powerpoint/2010/main" val="632055366"/>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a state&#10;&#10;AI-generated content may be incorrect.">
            <a:extLst>
              <a:ext uri="{FF2B5EF4-FFF2-40B4-BE49-F238E27FC236}">
                <a16:creationId xmlns:a16="http://schemas.microsoft.com/office/drawing/2014/main" id="{1A9DD327-16DB-6039-3D8F-0327125B160E}"/>
              </a:ext>
            </a:extLst>
          </p:cNvPr>
          <p:cNvPicPr>
            <a:picLocks noGrp="1" noChangeAspect="1"/>
          </p:cNvPicPr>
          <p:nvPr>
            <p:ph idx="1"/>
          </p:nvPr>
        </p:nvPicPr>
        <p:blipFill>
          <a:blip r:embed="rId3"/>
          <a:stretch>
            <a:fillRect/>
          </a:stretch>
        </p:blipFill>
        <p:spPr>
          <a:xfrm>
            <a:off x="590462" y="2162829"/>
            <a:ext cx="4134160" cy="4085571"/>
          </a:xfrm>
          <a:prstGeom prst="rect">
            <a:avLst/>
          </a:prstGeom>
        </p:spPr>
      </p:pic>
      <p:sp>
        <p:nvSpPr>
          <p:cNvPr id="2" name="Title 1">
            <a:extLst>
              <a:ext uri="{FF2B5EF4-FFF2-40B4-BE49-F238E27FC236}">
                <a16:creationId xmlns:a16="http://schemas.microsoft.com/office/drawing/2014/main" id="{ACB847C5-7E86-7C75-8B3E-4AEE95F91E7B}"/>
              </a:ext>
            </a:extLst>
          </p:cNvPr>
          <p:cNvSpPr>
            <a:spLocks noGrp="1"/>
          </p:cNvSpPr>
          <p:nvPr>
            <p:ph type="title"/>
          </p:nvPr>
        </p:nvSpPr>
        <p:spPr/>
        <p:txBody>
          <a:bodyPr/>
          <a:lstStyle/>
          <a:p>
            <a:r>
              <a:rPr lang="en-GB" dirty="0"/>
              <a:t>What should we expect to see?	</a:t>
            </a:r>
          </a:p>
        </p:txBody>
      </p:sp>
      <p:sp>
        <p:nvSpPr>
          <p:cNvPr id="6" name="TextBox 5">
            <a:extLst>
              <a:ext uri="{FF2B5EF4-FFF2-40B4-BE49-F238E27FC236}">
                <a16:creationId xmlns:a16="http://schemas.microsoft.com/office/drawing/2014/main" id="{3091C1AC-B244-2E3D-493F-CBD42CE68196}"/>
              </a:ext>
            </a:extLst>
          </p:cNvPr>
          <p:cNvSpPr txBox="1"/>
          <p:nvPr/>
        </p:nvSpPr>
        <p:spPr>
          <a:xfrm>
            <a:off x="928381" y="1407531"/>
            <a:ext cx="3796241" cy="615553"/>
          </a:xfrm>
          <a:prstGeom prst="rect">
            <a:avLst/>
          </a:prstGeom>
          <a:noFill/>
        </p:spPr>
        <p:txBody>
          <a:bodyPr wrap="square" rtlCol="0">
            <a:spAutoFit/>
          </a:bodyPr>
          <a:lstStyle/>
          <a:p>
            <a:r>
              <a:rPr lang="en-GB" sz="1700" dirty="0"/>
              <a:t>Fig: Nucleation/decay of metastable state taken from </a:t>
            </a:r>
            <a:r>
              <a:rPr lang="en-GB" sz="1700" baseline="30000" dirty="0"/>
              <a:t>[5]</a:t>
            </a:r>
          </a:p>
        </p:txBody>
      </p:sp>
      <p:pic>
        <p:nvPicPr>
          <p:cNvPr id="11" name="Picture 10" descr="A graph with numbers and lines&#10;&#10;AI-generated content may be incorrect.">
            <a:extLst>
              <a:ext uri="{FF2B5EF4-FFF2-40B4-BE49-F238E27FC236}">
                <a16:creationId xmlns:a16="http://schemas.microsoft.com/office/drawing/2014/main" id="{BE986678-F6F7-C4E1-F6C2-85E0AEECF955}"/>
              </a:ext>
            </a:extLst>
          </p:cNvPr>
          <p:cNvPicPr>
            <a:picLocks noChangeAspect="1"/>
          </p:cNvPicPr>
          <p:nvPr/>
        </p:nvPicPr>
        <p:blipFill>
          <a:blip r:embed="rId4"/>
          <a:stretch>
            <a:fillRect/>
          </a:stretch>
        </p:blipFill>
        <p:spPr>
          <a:xfrm>
            <a:off x="4975668" y="1846113"/>
            <a:ext cx="5215017" cy="3940622"/>
          </a:xfrm>
          <a:prstGeom prst="rect">
            <a:avLst/>
          </a:prstGeom>
        </p:spPr>
      </p:pic>
      <p:sp>
        <p:nvSpPr>
          <p:cNvPr id="12" name="TextBox 11">
            <a:extLst>
              <a:ext uri="{FF2B5EF4-FFF2-40B4-BE49-F238E27FC236}">
                <a16:creationId xmlns:a16="http://schemas.microsoft.com/office/drawing/2014/main" id="{FD8A6F12-54BF-2744-6F73-A5AC330CBF85}"/>
              </a:ext>
            </a:extLst>
          </p:cNvPr>
          <p:cNvSpPr txBox="1"/>
          <p:nvPr/>
        </p:nvSpPr>
        <p:spPr>
          <a:xfrm>
            <a:off x="5496108" y="5865276"/>
            <a:ext cx="4464423" cy="615553"/>
          </a:xfrm>
          <a:prstGeom prst="rect">
            <a:avLst/>
          </a:prstGeom>
          <a:noFill/>
        </p:spPr>
        <p:txBody>
          <a:bodyPr wrap="square" rtlCol="0">
            <a:spAutoFit/>
          </a:bodyPr>
          <a:lstStyle/>
          <a:p>
            <a:r>
              <a:rPr lang="en-GB" sz="1700" dirty="0"/>
              <a:t>Fig: Example of nucleation/decay of metastable stable from my code</a:t>
            </a:r>
          </a:p>
        </p:txBody>
      </p:sp>
      <p:sp>
        <p:nvSpPr>
          <p:cNvPr id="13" name="TextBox 12">
            <a:extLst>
              <a:ext uri="{FF2B5EF4-FFF2-40B4-BE49-F238E27FC236}">
                <a16:creationId xmlns:a16="http://schemas.microsoft.com/office/drawing/2014/main" id="{95E12131-F675-6C3D-1234-52619A2A2E08}"/>
              </a:ext>
            </a:extLst>
          </p:cNvPr>
          <p:cNvSpPr txBox="1"/>
          <p:nvPr/>
        </p:nvSpPr>
        <p:spPr>
          <a:xfrm>
            <a:off x="402669" y="6480829"/>
            <a:ext cx="3947886" cy="276999"/>
          </a:xfrm>
          <a:prstGeom prst="rect">
            <a:avLst/>
          </a:prstGeom>
          <a:noFill/>
        </p:spPr>
        <p:txBody>
          <a:bodyPr wrap="square" rtlCol="0">
            <a:spAutoFit/>
          </a:bodyPr>
          <a:lstStyle/>
          <a:p>
            <a:r>
              <a:rPr lang="en-GB" sz="1200" dirty="0"/>
              <a:t>[5] </a:t>
            </a:r>
            <a:r>
              <a:rPr lang="en-GB" sz="1200" dirty="0" err="1"/>
              <a:t>Acharyya</a:t>
            </a:r>
            <a:r>
              <a:rPr lang="en-GB" sz="1200" dirty="0"/>
              <a:t>, M (1998)</a:t>
            </a:r>
          </a:p>
        </p:txBody>
      </p:sp>
    </p:spTree>
    <p:extLst>
      <p:ext uri="{BB962C8B-B14F-4D97-AF65-F5344CB8AC3E}">
        <p14:creationId xmlns:p14="http://schemas.microsoft.com/office/powerpoint/2010/main" val="363854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4275C-A449-BAA1-0019-7B33D934B0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78559-E0DB-3B20-8772-F8D93ECAFF20}"/>
              </a:ext>
            </a:extLst>
          </p:cNvPr>
          <p:cNvSpPr>
            <a:spLocks noGrp="1"/>
          </p:cNvSpPr>
          <p:nvPr>
            <p:ph type="title"/>
          </p:nvPr>
        </p:nvSpPr>
        <p:spPr/>
        <p:txBody>
          <a:bodyPr/>
          <a:lstStyle/>
          <a:p>
            <a:r>
              <a:rPr lang="en-GB" dirty="0"/>
              <a:t>What should we expect to see?	</a:t>
            </a:r>
          </a:p>
        </p:txBody>
      </p:sp>
      <p:pic>
        <p:nvPicPr>
          <p:cNvPr id="8" name="Picture 7" descr="A graph of a function&#10;&#10;AI-generated content may be incorrect.">
            <a:extLst>
              <a:ext uri="{FF2B5EF4-FFF2-40B4-BE49-F238E27FC236}">
                <a16:creationId xmlns:a16="http://schemas.microsoft.com/office/drawing/2014/main" id="{656B9F45-7C3E-9026-6878-75A096AF72D1}"/>
              </a:ext>
            </a:extLst>
          </p:cNvPr>
          <p:cNvPicPr>
            <a:picLocks noChangeAspect="1"/>
          </p:cNvPicPr>
          <p:nvPr/>
        </p:nvPicPr>
        <p:blipFill>
          <a:blip r:embed="rId3"/>
          <a:stretch>
            <a:fillRect/>
          </a:stretch>
        </p:blipFill>
        <p:spPr>
          <a:xfrm>
            <a:off x="5798073" y="1270000"/>
            <a:ext cx="3514489" cy="4287784"/>
          </a:xfrm>
          <a:prstGeom prst="rect">
            <a:avLst/>
          </a:prstGeom>
        </p:spPr>
      </p:pic>
      <p:sp>
        <p:nvSpPr>
          <p:cNvPr id="9" name="TextBox 8">
            <a:extLst>
              <a:ext uri="{FF2B5EF4-FFF2-40B4-BE49-F238E27FC236}">
                <a16:creationId xmlns:a16="http://schemas.microsoft.com/office/drawing/2014/main" id="{23D4E286-A94B-C07D-175C-59D72694E878}"/>
              </a:ext>
            </a:extLst>
          </p:cNvPr>
          <p:cNvSpPr txBox="1"/>
          <p:nvPr/>
        </p:nvSpPr>
        <p:spPr>
          <a:xfrm>
            <a:off x="5460939" y="5851840"/>
            <a:ext cx="4188759" cy="584775"/>
          </a:xfrm>
          <a:prstGeom prst="rect">
            <a:avLst/>
          </a:prstGeom>
          <a:noFill/>
        </p:spPr>
        <p:txBody>
          <a:bodyPr wrap="square" rtlCol="0">
            <a:spAutoFit/>
          </a:bodyPr>
          <a:lstStyle/>
          <a:p>
            <a:r>
              <a:rPr lang="en-GB" sz="1600" dirty="0"/>
              <a:t>Fig 2: Nucleation rates with varying applied field (H) and system size, taken from </a:t>
            </a:r>
            <a:r>
              <a:rPr lang="en-GB" sz="1600" baseline="30000" dirty="0"/>
              <a:t>[7]</a:t>
            </a:r>
          </a:p>
        </p:txBody>
      </p:sp>
      <p:pic>
        <p:nvPicPr>
          <p:cNvPr id="10" name="Content Placeholder 9" descr="A table of numbers with numbers on it&#10;&#10;AI-generated content may be incorrect.">
            <a:extLst>
              <a:ext uri="{FF2B5EF4-FFF2-40B4-BE49-F238E27FC236}">
                <a16:creationId xmlns:a16="http://schemas.microsoft.com/office/drawing/2014/main" id="{DB2C06EF-CEEA-009E-C3CC-F1CB36ECCEDE}"/>
              </a:ext>
            </a:extLst>
          </p:cNvPr>
          <p:cNvPicPr>
            <a:picLocks noGrp="1" noChangeAspect="1"/>
          </p:cNvPicPr>
          <p:nvPr>
            <p:ph idx="1"/>
          </p:nvPr>
        </p:nvPicPr>
        <p:blipFill>
          <a:blip r:embed="rId4"/>
          <a:stretch>
            <a:fillRect/>
          </a:stretch>
        </p:blipFill>
        <p:spPr>
          <a:xfrm>
            <a:off x="638774" y="2294450"/>
            <a:ext cx="4125772" cy="3881437"/>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BD47321A-51ED-D345-6B68-63265EE7DB55}"/>
                  </a:ext>
                </a:extLst>
              </p:cNvPr>
              <p:cNvSpPr txBox="1"/>
              <p:nvPr/>
            </p:nvSpPr>
            <p:spPr>
              <a:xfrm>
                <a:off x="638774" y="1499513"/>
                <a:ext cx="4188759" cy="861774"/>
              </a:xfrm>
              <a:prstGeom prst="rect">
                <a:avLst/>
              </a:prstGeom>
              <a:noFill/>
            </p:spPr>
            <p:txBody>
              <a:bodyPr wrap="square" rtlCol="0">
                <a:spAutoFit/>
              </a:bodyPr>
              <a:lstStyle/>
              <a:p>
                <a:r>
                  <a:rPr lang="en-GB" sz="1600" dirty="0"/>
                  <a:t>Fig 3: Nucleation rates with varying applied field (h) and temperature</a:t>
                </a:r>
                <a:r>
                  <a:rPr lang="en-GB" sz="1600" i="1" dirty="0"/>
                  <a:t> </a:t>
                </a:r>
                <a:r>
                  <a:rPr lang="en-GB" sz="1600" dirty="0"/>
                  <a:t>(</a:t>
                </a:r>
                <a14:m>
                  <m:oMath xmlns:m="http://schemas.openxmlformats.org/officeDocument/2006/math">
                    <m:r>
                      <m:rPr>
                        <m:sty m:val="p"/>
                      </m:rPr>
                      <a:rPr lang="en-GB" sz="1600" b="0" i="0" smtClean="0">
                        <a:latin typeface="Cambria Math" panose="02040503050406030204" pitchFamily="18" charset="0"/>
                      </a:rPr>
                      <m:t>βJ</m:t>
                    </m:r>
                  </m:oMath>
                </a14:m>
                <a:r>
                  <a:rPr lang="en-GB" sz="1600" dirty="0"/>
                  <a:t>)</a:t>
                </a:r>
              </a:p>
              <a:p>
                <a:r>
                  <a:rPr lang="en-GB" sz="1600" dirty="0"/>
                  <a:t>Snippet of table from </a:t>
                </a:r>
                <a:r>
                  <a:rPr lang="en-GB" sz="1600" baseline="30000" dirty="0"/>
                  <a:t>[6]</a:t>
                </a:r>
                <a:endParaRPr lang="en-GB" sz="1600" dirty="0"/>
              </a:p>
            </p:txBody>
          </p:sp>
        </mc:Choice>
        <mc:Fallback>
          <p:sp>
            <p:nvSpPr>
              <p:cNvPr id="11" name="TextBox 10">
                <a:extLst>
                  <a:ext uri="{FF2B5EF4-FFF2-40B4-BE49-F238E27FC236}">
                    <a16:creationId xmlns:a16="http://schemas.microsoft.com/office/drawing/2014/main" id="{BD47321A-51ED-D345-6B68-63265EE7DB55}"/>
                  </a:ext>
                </a:extLst>
              </p:cNvPr>
              <p:cNvSpPr txBox="1">
                <a:spLocks noRot="1" noChangeAspect="1" noMove="1" noResize="1" noEditPoints="1" noAdjustHandles="1" noChangeArrowheads="1" noChangeShapeType="1" noTextEdit="1"/>
              </p:cNvSpPr>
              <p:nvPr/>
            </p:nvSpPr>
            <p:spPr>
              <a:xfrm>
                <a:off x="638774" y="1499513"/>
                <a:ext cx="4188759" cy="861774"/>
              </a:xfrm>
              <a:prstGeom prst="rect">
                <a:avLst/>
              </a:prstGeom>
              <a:blipFill>
                <a:blip r:embed="rId5"/>
                <a:stretch>
                  <a:fillRect l="-873" t="-2837" r="-1892" b="-4255"/>
                </a:stretch>
              </a:blipFill>
            </p:spPr>
            <p:txBody>
              <a:bodyPr/>
              <a:lstStyle/>
              <a:p>
                <a:r>
                  <a:rPr lang="en-GB">
                    <a:noFill/>
                  </a:rPr>
                  <a:t> </a:t>
                </a:r>
              </a:p>
            </p:txBody>
          </p:sp>
        </mc:Fallback>
      </mc:AlternateContent>
      <p:cxnSp>
        <p:nvCxnSpPr>
          <p:cNvPr id="13" name="Straight Arrow Connector 12">
            <a:extLst>
              <a:ext uri="{FF2B5EF4-FFF2-40B4-BE49-F238E27FC236}">
                <a16:creationId xmlns:a16="http://schemas.microsoft.com/office/drawing/2014/main" id="{6CB2A16E-538C-C18B-5137-F1FC8469A4FC}"/>
              </a:ext>
            </a:extLst>
          </p:cNvPr>
          <p:cNvCxnSpPr/>
          <p:nvPr/>
        </p:nvCxnSpPr>
        <p:spPr>
          <a:xfrm>
            <a:off x="677334" y="2658501"/>
            <a:ext cx="0" cy="31533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1140F91-8184-7DA8-9339-5A5EA59AD8E8}"/>
              </a:ext>
            </a:extLst>
          </p:cNvPr>
          <p:cNvSpPr txBox="1"/>
          <p:nvPr/>
        </p:nvSpPr>
        <p:spPr>
          <a:xfrm>
            <a:off x="164162" y="3979010"/>
            <a:ext cx="1136276" cy="369332"/>
          </a:xfrm>
          <a:prstGeom prst="rect">
            <a:avLst/>
          </a:prstGeom>
          <a:noFill/>
        </p:spPr>
        <p:txBody>
          <a:bodyPr wrap="square" rtlCol="0">
            <a:spAutoFit/>
          </a:bodyPr>
          <a:lstStyle/>
          <a:p>
            <a:r>
              <a:rPr lang="en-GB" dirty="0"/>
              <a:t>T</a:t>
            </a:r>
            <a:r>
              <a:rPr lang="en-GB" b="1" dirty="0"/>
              <a:t>↓</a:t>
            </a:r>
            <a:endParaRPr lang="en-GB" dirty="0"/>
          </a:p>
        </p:txBody>
      </p:sp>
      <p:cxnSp>
        <p:nvCxnSpPr>
          <p:cNvPr id="16" name="Straight Arrow Connector 15">
            <a:extLst>
              <a:ext uri="{FF2B5EF4-FFF2-40B4-BE49-F238E27FC236}">
                <a16:creationId xmlns:a16="http://schemas.microsoft.com/office/drawing/2014/main" id="{E3402863-C8BB-9FD6-42FB-93CED2AB48EF}"/>
              </a:ext>
            </a:extLst>
          </p:cNvPr>
          <p:cNvCxnSpPr/>
          <p:nvPr/>
        </p:nvCxnSpPr>
        <p:spPr>
          <a:xfrm flipH="1">
            <a:off x="6647267" y="5527096"/>
            <a:ext cx="2159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0EFD95C-6812-C4E8-8162-7A24C6D689FC}"/>
              </a:ext>
            </a:extLst>
          </p:cNvPr>
          <p:cNvSpPr txBox="1"/>
          <p:nvPr/>
        </p:nvSpPr>
        <p:spPr>
          <a:xfrm>
            <a:off x="7555317" y="5482508"/>
            <a:ext cx="1231900" cy="369332"/>
          </a:xfrm>
          <a:prstGeom prst="rect">
            <a:avLst/>
          </a:prstGeom>
          <a:noFill/>
        </p:spPr>
        <p:txBody>
          <a:bodyPr wrap="square" rtlCol="0">
            <a:spAutoFit/>
          </a:bodyPr>
          <a:lstStyle/>
          <a:p>
            <a:r>
              <a:rPr lang="en-GB" dirty="0"/>
              <a:t>B</a:t>
            </a:r>
            <a:r>
              <a:rPr lang="en-GB" b="1" dirty="0"/>
              <a:t>↑</a:t>
            </a:r>
            <a:endParaRPr lang="en-GB" dirty="0"/>
          </a:p>
        </p:txBody>
      </p:sp>
      <p:sp>
        <p:nvSpPr>
          <p:cNvPr id="19" name="TextBox 18">
            <a:extLst>
              <a:ext uri="{FF2B5EF4-FFF2-40B4-BE49-F238E27FC236}">
                <a16:creationId xmlns:a16="http://schemas.microsoft.com/office/drawing/2014/main" id="{23F17D44-7523-9252-4305-6D6D40F4D15A}"/>
              </a:ext>
            </a:extLst>
          </p:cNvPr>
          <p:cNvSpPr txBox="1"/>
          <p:nvPr/>
        </p:nvSpPr>
        <p:spPr>
          <a:xfrm>
            <a:off x="558800" y="6422571"/>
            <a:ext cx="4078510" cy="369332"/>
          </a:xfrm>
          <a:prstGeom prst="rect">
            <a:avLst/>
          </a:prstGeom>
          <a:noFill/>
        </p:spPr>
        <p:txBody>
          <a:bodyPr wrap="square" rtlCol="0">
            <a:spAutoFit/>
          </a:bodyPr>
          <a:lstStyle/>
          <a:p>
            <a:endParaRPr lang="en-GB" dirty="0"/>
          </a:p>
        </p:txBody>
      </p:sp>
      <p:sp>
        <p:nvSpPr>
          <p:cNvPr id="20" name="TextBox 19">
            <a:extLst>
              <a:ext uri="{FF2B5EF4-FFF2-40B4-BE49-F238E27FC236}">
                <a16:creationId xmlns:a16="http://schemas.microsoft.com/office/drawing/2014/main" id="{3D7E4381-2E7A-70B8-1F90-269FA757EFB8}"/>
              </a:ext>
            </a:extLst>
          </p:cNvPr>
          <p:cNvSpPr txBox="1"/>
          <p:nvPr/>
        </p:nvSpPr>
        <p:spPr>
          <a:xfrm>
            <a:off x="439684" y="6286754"/>
            <a:ext cx="4523952" cy="461665"/>
          </a:xfrm>
          <a:prstGeom prst="rect">
            <a:avLst/>
          </a:prstGeom>
          <a:noFill/>
        </p:spPr>
        <p:txBody>
          <a:bodyPr wrap="square" rtlCol="0">
            <a:spAutoFit/>
          </a:bodyPr>
          <a:lstStyle/>
          <a:p>
            <a:r>
              <a:rPr lang="en-GB" sz="1200" dirty="0"/>
              <a:t>[6] Brendel, K (2005)</a:t>
            </a:r>
          </a:p>
          <a:p>
            <a:r>
              <a:rPr lang="en-GB" sz="1200" dirty="0"/>
              <a:t>[7] </a:t>
            </a:r>
            <a:r>
              <a:rPr lang="en-GB" sz="1200" dirty="0" err="1"/>
              <a:t>Rikvold</a:t>
            </a:r>
            <a:r>
              <a:rPr lang="en-GB" sz="1200" dirty="0"/>
              <a:t>, P.A (1994)</a:t>
            </a:r>
          </a:p>
        </p:txBody>
      </p:sp>
    </p:spTree>
    <p:extLst>
      <p:ext uri="{BB962C8B-B14F-4D97-AF65-F5344CB8AC3E}">
        <p14:creationId xmlns:p14="http://schemas.microsoft.com/office/powerpoint/2010/main" val="4149965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4" grpId="0"/>
      <p:bldP spid="17" grpId="0"/>
    </p:bldLst>
  </p:timing>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EE654-860A-F452-B4E7-E21B326A1E1B}"/>
              </a:ext>
            </a:extLst>
          </p:cNvPr>
          <p:cNvSpPr>
            <a:spLocks noGrp="1"/>
          </p:cNvSpPr>
          <p:nvPr>
            <p:ph type="title"/>
          </p:nvPr>
        </p:nvSpPr>
        <p:spPr/>
        <p:txBody>
          <a:bodyPr/>
          <a:lstStyle/>
          <a:p>
            <a:r>
              <a:rPr lang="en-GB" dirty="0"/>
              <a:t>My current data</a:t>
            </a:r>
          </a:p>
        </p:txBody>
      </p:sp>
      <p:pic>
        <p:nvPicPr>
          <p:cNvPr id="13" name="Picture 12" descr="A graph of a function&#10;&#10;AI-generated content may be incorrect.">
            <a:extLst>
              <a:ext uri="{FF2B5EF4-FFF2-40B4-BE49-F238E27FC236}">
                <a16:creationId xmlns:a16="http://schemas.microsoft.com/office/drawing/2014/main" id="{F2CBFAF3-DDB6-7479-745A-A64C688EE1CC}"/>
              </a:ext>
            </a:extLst>
          </p:cNvPr>
          <p:cNvPicPr>
            <a:picLocks noChangeAspect="1"/>
          </p:cNvPicPr>
          <p:nvPr/>
        </p:nvPicPr>
        <p:blipFill>
          <a:blip r:embed="rId3"/>
          <a:stretch>
            <a:fillRect/>
          </a:stretch>
        </p:blipFill>
        <p:spPr>
          <a:xfrm>
            <a:off x="662530" y="1930400"/>
            <a:ext cx="3111345" cy="3795936"/>
          </a:xfrm>
          <a:prstGeom prst="rect">
            <a:avLst/>
          </a:prstGeom>
        </p:spPr>
      </p:pic>
      <p:cxnSp>
        <p:nvCxnSpPr>
          <p:cNvPr id="15" name="Straight Connector 14">
            <a:extLst>
              <a:ext uri="{FF2B5EF4-FFF2-40B4-BE49-F238E27FC236}">
                <a16:creationId xmlns:a16="http://schemas.microsoft.com/office/drawing/2014/main" id="{0B5EAF2F-2C54-2063-7A36-4F7F9BB6A8A5}"/>
              </a:ext>
            </a:extLst>
          </p:cNvPr>
          <p:cNvCxnSpPr/>
          <p:nvPr/>
        </p:nvCxnSpPr>
        <p:spPr>
          <a:xfrm flipV="1">
            <a:off x="2305050" y="2489200"/>
            <a:ext cx="635000" cy="108585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17F89D4-BAFE-AA34-EDBD-76A116AD2B39}"/>
              </a:ext>
            </a:extLst>
          </p:cNvPr>
          <p:cNvSpPr txBox="1"/>
          <p:nvPr/>
        </p:nvSpPr>
        <p:spPr>
          <a:xfrm>
            <a:off x="1562558" y="2489200"/>
            <a:ext cx="1196270" cy="369332"/>
          </a:xfrm>
          <a:prstGeom prst="rect">
            <a:avLst/>
          </a:prstGeom>
          <a:noFill/>
        </p:spPr>
        <p:txBody>
          <a:bodyPr wrap="square" rtlCol="0">
            <a:spAutoFit/>
          </a:bodyPr>
          <a:lstStyle/>
          <a:p>
            <a:r>
              <a:rPr lang="en-GB" dirty="0"/>
              <a:t>m = 0.36</a:t>
            </a:r>
          </a:p>
        </p:txBody>
      </p:sp>
      <p:pic>
        <p:nvPicPr>
          <p:cNvPr id="29" name="Picture 28" descr="A screen shot of a graph&#10;&#10;AI-generated content may be incorrect.">
            <a:extLst>
              <a:ext uri="{FF2B5EF4-FFF2-40B4-BE49-F238E27FC236}">
                <a16:creationId xmlns:a16="http://schemas.microsoft.com/office/drawing/2014/main" id="{0305CC23-2BB6-B4D0-A652-8A75D49639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1468" y="1343461"/>
            <a:ext cx="6162562" cy="5231527"/>
          </a:xfrm>
          <a:prstGeom prst="rect">
            <a:avLst/>
          </a:prstGeom>
        </p:spPr>
      </p:pic>
    </p:spTree>
    <p:extLst>
      <p:ext uri="{BB962C8B-B14F-4D97-AF65-F5344CB8AC3E}">
        <p14:creationId xmlns:p14="http://schemas.microsoft.com/office/powerpoint/2010/main" val="80058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92CF9-6FE7-BD15-19D0-F1459E85D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81F4F-E2C1-E78F-4A66-BE2065DB3F7A}"/>
              </a:ext>
            </a:extLst>
          </p:cNvPr>
          <p:cNvSpPr>
            <a:spLocks noGrp="1"/>
          </p:cNvSpPr>
          <p:nvPr>
            <p:ph type="title"/>
          </p:nvPr>
        </p:nvSpPr>
        <p:spPr>
          <a:xfrm>
            <a:off x="677334" y="609600"/>
            <a:ext cx="8596668" cy="768350"/>
          </a:xfrm>
        </p:spPr>
        <p:txBody>
          <a:bodyPr/>
          <a:lstStyle/>
          <a:p>
            <a:r>
              <a:rPr lang="en-GB" dirty="0"/>
              <a:t>Conclusions</a:t>
            </a:r>
          </a:p>
        </p:txBody>
      </p:sp>
      <p:sp>
        <p:nvSpPr>
          <p:cNvPr id="3" name="Content Placeholder 2">
            <a:extLst>
              <a:ext uri="{FF2B5EF4-FFF2-40B4-BE49-F238E27FC236}">
                <a16:creationId xmlns:a16="http://schemas.microsoft.com/office/drawing/2014/main" id="{315E24B3-8D32-CE88-F3BA-50366A92E677}"/>
              </a:ext>
            </a:extLst>
          </p:cNvPr>
          <p:cNvSpPr>
            <a:spLocks noGrp="1"/>
          </p:cNvSpPr>
          <p:nvPr>
            <p:ph idx="1"/>
          </p:nvPr>
        </p:nvSpPr>
        <p:spPr>
          <a:xfrm>
            <a:off x="677334" y="3990312"/>
            <a:ext cx="8596668" cy="1600200"/>
          </a:xfrm>
        </p:spPr>
        <p:txBody>
          <a:bodyPr>
            <a:normAutofit fontScale="25000" lnSpcReduction="20000"/>
          </a:bodyPr>
          <a:lstStyle/>
          <a:p>
            <a:endParaRPr lang="en-GB" dirty="0"/>
          </a:p>
          <a:p>
            <a:endParaRPr lang="en-GB" dirty="0"/>
          </a:p>
          <a:p>
            <a:endParaRPr lang="en-GB" dirty="0"/>
          </a:p>
          <a:p>
            <a:r>
              <a:rPr lang="en-GB" sz="7200" dirty="0"/>
              <a:t>Explore the lattice size dependence</a:t>
            </a:r>
          </a:p>
          <a:p>
            <a:endParaRPr lang="en-GB" sz="7200" dirty="0"/>
          </a:p>
          <a:p>
            <a:r>
              <a:rPr lang="en-GB" sz="7200" dirty="0"/>
              <a:t>Compare boundary condition effects (</a:t>
            </a:r>
            <a:r>
              <a:rPr lang="en-GB" sz="7200" dirty="0" err="1"/>
              <a:t>i.e</a:t>
            </a:r>
            <a:r>
              <a:rPr lang="en-GB" sz="7200" dirty="0"/>
              <a:t> helical vs periodic)</a:t>
            </a:r>
          </a:p>
          <a:p>
            <a:endParaRPr lang="en-GB" sz="7200" dirty="0"/>
          </a:p>
          <a:p>
            <a:r>
              <a:rPr lang="en-GB" sz="7200" dirty="0"/>
              <a:t>Calculate free energy, compare to Becker-Doring theory</a:t>
            </a:r>
          </a:p>
          <a:p>
            <a:endParaRPr lang="en-GB" dirty="0"/>
          </a:p>
          <a:p>
            <a:endParaRPr lang="en-GB" dirty="0"/>
          </a:p>
        </p:txBody>
      </p:sp>
      <p:sp>
        <p:nvSpPr>
          <p:cNvPr id="5" name="Content Placeholder 2">
            <a:extLst>
              <a:ext uri="{FF2B5EF4-FFF2-40B4-BE49-F238E27FC236}">
                <a16:creationId xmlns:a16="http://schemas.microsoft.com/office/drawing/2014/main" id="{3A5AA389-177D-6A3E-B3E0-DDFEA601147B}"/>
              </a:ext>
            </a:extLst>
          </p:cNvPr>
          <p:cNvSpPr txBox="1">
            <a:spLocks/>
          </p:cNvSpPr>
          <p:nvPr/>
        </p:nvSpPr>
        <p:spPr>
          <a:xfrm>
            <a:off x="677334" y="167813"/>
            <a:ext cx="8596668" cy="338071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a:p>
            <a:endParaRPr lang="en-GB" dirty="0"/>
          </a:p>
          <a:p>
            <a:endParaRPr lang="en-GB" dirty="0"/>
          </a:p>
          <a:p>
            <a:r>
              <a:rPr lang="en-GB" dirty="0"/>
              <a:t>Nucleation can be modelled using the Ising model</a:t>
            </a:r>
          </a:p>
          <a:p>
            <a:endParaRPr lang="en-GB" dirty="0"/>
          </a:p>
          <a:p>
            <a:r>
              <a:rPr lang="en-GB" dirty="0"/>
              <a:t>Replicated key literature results</a:t>
            </a:r>
          </a:p>
          <a:p>
            <a:endParaRPr lang="en-GB" dirty="0"/>
          </a:p>
          <a:p>
            <a:endParaRPr lang="en-GB" dirty="0"/>
          </a:p>
        </p:txBody>
      </p:sp>
      <p:sp>
        <p:nvSpPr>
          <p:cNvPr id="8" name="Title 1">
            <a:extLst>
              <a:ext uri="{FF2B5EF4-FFF2-40B4-BE49-F238E27FC236}">
                <a16:creationId xmlns:a16="http://schemas.microsoft.com/office/drawing/2014/main" id="{0EB100EB-46BB-19EB-D8F7-9E8F463620F7}"/>
              </a:ext>
            </a:extLst>
          </p:cNvPr>
          <p:cNvSpPr txBox="1">
            <a:spLocks/>
          </p:cNvSpPr>
          <p:nvPr/>
        </p:nvSpPr>
        <p:spPr>
          <a:xfrm>
            <a:off x="677334" y="3548525"/>
            <a:ext cx="8596668" cy="76835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Potential Extensions</a:t>
            </a:r>
          </a:p>
        </p:txBody>
      </p:sp>
    </p:spTree>
    <p:extLst>
      <p:ext uri="{BB962C8B-B14F-4D97-AF65-F5344CB8AC3E}">
        <p14:creationId xmlns:p14="http://schemas.microsoft.com/office/powerpoint/2010/main" val="1316411022"/>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09111-D375-6EE0-4FDB-AC3A60312C9F}"/>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B7E0FB4F-A092-5900-986B-8CC0EB9C1623}"/>
              </a:ext>
            </a:extLst>
          </p:cNvPr>
          <p:cNvSpPr>
            <a:spLocks noGrp="1"/>
          </p:cNvSpPr>
          <p:nvPr>
            <p:ph idx="1"/>
          </p:nvPr>
        </p:nvSpPr>
        <p:spPr>
          <a:xfrm>
            <a:off x="677334" y="1342571"/>
            <a:ext cx="8596668" cy="4441372"/>
          </a:xfrm>
        </p:spPr>
        <p:txBody>
          <a:bodyPr>
            <a:normAutofit fontScale="77500" lnSpcReduction="20000"/>
          </a:bodyPr>
          <a:lstStyle/>
          <a:p>
            <a:r>
              <a:rPr lang="en-GB" dirty="0"/>
              <a:t>Santra, M., Chakrabarty, S., &amp; Bagchi, B. (2008). </a:t>
            </a:r>
            <a:r>
              <a:rPr lang="en-GB" i="1" dirty="0"/>
              <a:t>Gas–Liquid Nucleation in Two Dimensional System.</a:t>
            </a:r>
            <a:r>
              <a:rPr lang="en-GB" dirty="0"/>
              <a:t> arXiv:0809.2466 [</a:t>
            </a:r>
            <a:r>
              <a:rPr lang="en-GB" dirty="0" err="1"/>
              <a:t>cond</a:t>
            </a:r>
            <a:r>
              <a:rPr lang="en-GB" dirty="0"/>
              <a:t>-</a:t>
            </a:r>
            <a:r>
              <a:rPr lang="en-GB" dirty="0" err="1"/>
              <a:t>mat.stat</a:t>
            </a:r>
            <a:r>
              <a:rPr lang="en-GB" dirty="0"/>
              <a:t>-mech] </a:t>
            </a:r>
          </a:p>
          <a:p>
            <a:r>
              <a:rPr lang="en-GB" dirty="0" err="1"/>
              <a:t>Flatken</a:t>
            </a:r>
            <a:r>
              <a:rPr lang="en-GB" dirty="0"/>
              <a:t>, M. A. (2022). </a:t>
            </a:r>
            <a:r>
              <a:rPr lang="en-GB" i="1" dirty="0"/>
              <a:t>Models of CNT: Dependence of cluster free energy, ∆G, on the cluster radius according to classical nucleation theory (CNT)</a:t>
            </a:r>
            <a:r>
              <a:rPr lang="en-GB" dirty="0"/>
              <a:t> [Figure 3]. In </a:t>
            </a:r>
            <a:r>
              <a:rPr lang="en-GB" i="1" dirty="0"/>
              <a:t>The early stages of halide perovskites thin film formation</a:t>
            </a:r>
            <a:r>
              <a:rPr lang="en-GB" dirty="0"/>
              <a:t> (Thesis). Reprinted with permission from Polte (</a:t>
            </a:r>
            <a:r>
              <a:rPr lang="en-GB" dirty="0" err="1"/>
              <a:t>CrystEngComm</a:t>
            </a:r>
            <a:r>
              <a:rPr lang="en-GB" dirty="0"/>
              <a:t>, 17, 6809, 2015). Retrieved from </a:t>
            </a:r>
            <a:r>
              <a:rPr lang="en-GB" dirty="0">
                <a:hlinkClick r:id="rId2"/>
              </a:rPr>
              <a:t>https://www.researchgate.net/publication/361610666/figure/fig3/AS:1172304964911104@1656510692179/Models-of-CNT-a-Dependence-of-cluster-free-energy-G-on-the-cluster-radius-according.png</a:t>
            </a:r>
            <a:endParaRPr lang="en-GB" dirty="0"/>
          </a:p>
          <a:p>
            <a:r>
              <a:rPr lang="en-GB" dirty="0"/>
              <a:t>"Physics Stack Exchange. (2014). </a:t>
            </a:r>
            <a:r>
              <a:rPr lang="en-GB" i="1" dirty="0"/>
              <a:t>Why do ice crystals form from the top to the bottom of a bottle filled with supercooled water?</a:t>
            </a:r>
            <a:r>
              <a:rPr lang="en-GB" dirty="0"/>
              <a:t> [Online GIF]. Available at: https://physics.stackexchange.com/questions/457410 (Accessed: February 2026).</a:t>
            </a:r>
          </a:p>
          <a:p>
            <a:r>
              <a:rPr lang="en-GB" dirty="0"/>
              <a:t>Wikipedia contributors. (2026). </a:t>
            </a:r>
            <a:r>
              <a:rPr lang="en-GB" i="1" dirty="0"/>
              <a:t>Ising model</a:t>
            </a:r>
            <a:r>
              <a:rPr lang="en-GB" dirty="0"/>
              <a:t>. Wikipedia, The Free </a:t>
            </a:r>
            <a:r>
              <a:rPr lang="en-GB" dirty="0" err="1"/>
              <a:t>Encyclopedia</a:t>
            </a:r>
            <a:r>
              <a:rPr lang="en-GB" dirty="0"/>
              <a:t>. Available at: </a:t>
            </a:r>
            <a:r>
              <a:rPr lang="en-GB" dirty="0">
                <a:hlinkClick r:id="rId3"/>
              </a:rPr>
              <a:t>https://en.wikipedia.org/wiki/Ising_model</a:t>
            </a:r>
            <a:r>
              <a:rPr lang="en-GB" dirty="0"/>
              <a:t> (Accessed: February 2026).</a:t>
            </a:r>
          </a:p>
          <a:p>
            <a:r>
              <a:rPr lang="en-GB" dirty="0" err="1"/>
              <a:t>Acharyya</a:t>
            </a:r>
            <a:r>
              <a:rPr lang="en-GB" dirty="0"/>
              <a:t>, M., &amp; Stauffer, D. (1998). </a:t>
            </a:r>
            <a:r>
              <a:rPr lang="en-GB" i="1" dirty="0"/>
              <a:t>Nucleation and hysteresis in Ising model: Classical theory versus computer simulation</a:t>
            </a:r>
            <a:r>
              <a:rPr lang="en-GB" dirty="0"/>
              <a:t> (</a:t>
            </a:r>
            <a:r>
              <a:rPr lang="en-GB" dirty="0" err="1"/>
              <a:t>arXiv:cond-mat</a:t>
            </a:r>
            <a:r>
              <a:rPr lang="en-GB" dirty="0"/>
              <a:t>/9801213). </a:t>
            </a:r>
            <a:r>
              <a:rPr lang="en-GB" dirty="0" err="1"/>
              <a:t>arXiv</a:t>
            </a:r>
            <a:r>
              <a:rPr lang="en-GB" dirty="0"/>
              <a:t>. </a:t>
            </a:r>
            <a:r>
              <a:rPr lang="en-GB" dirty="0">
                <a:hlinkClick r:id="rId4"/>
              </a:rPr>
              <a:t>https://arxiv.org/abs/cond-mat/9801213</a:t>
            </a:r>
            <a:endParaRPr lang="en-GB" dirty="0"/>
          </a:p>
          <a:p>
            <a:r>
              <a:rPr lang="en-GB" dirty="0"/>
              <a:t>Brendel, K., Barkema, G. T., &amp; van </a:t>
            </a:r>
            <a:r>
              <a:rPr lang="en-GB" dirty="0" err="1"/>
              <a:t>Beijeren</a:t>
            </a:r>
            <a:r>
              <a:rPr lang="en-GB" dirty="0"/>
              <a:t>, H. (2005). </a:t>
            </a:r>
            <a:r>
              <a:rPr lang="en-GB" i="1" dirty="0"/>
              <a:t>Nucleation times in the two-dimensional Ising model</a:t>
            </a:r>
            <a:r>
              <a:rPr lang="en-GB" dirty="0"/>
              <a:t>. </a:t>
            </a:r>
            <a:r>
              <a:rPr lang="en-GB" i="1" dirty="0"/>
              <a:t>Physical Review E</a:t>
            </a:r>
            <a:r>
              <a:rPr lang="en-GB" dirty="0"/>
              <a:t>, </a:t>
            </a:r>
            <a:r>
              <a:rPr lang="en-GB" b="1" dirty="0"/>
              <a:t>71</a:t>
            </a:r>
            <a:r>
              <a:rPr lang="en-GB" dirty="0"/>
              <a:t>(3), 031601. https://doi.org/10.1103/PhysRevE.71.031601</a:t>
            </a:r>
          </a:p>
          <a:p>
            <a:r>
              <a:rPr lang="en-GB" dirty="0" err="1"/>
              <a:t>Rikvold</a:t>
            </a:r>
            <a:r>
              <a:rPr lang="en-GB" dirty="0"/>
              <a:t>, P. A., Tomita, H., Miyashita, S., &amp; Sides, S. W. (1994). </a:t>
            </a:r>
            <a:r>
              <a:rPr lang="en-GB" i="1" dirty="0"/>
              <a:t>Metastable lifetimes in a kinetic Ising model: Dependence on field and system size</a:t>
            </a:r>
            <a:r>
              <a:rPr lang="en-GB" dirty="0"/>
              <a:t>. Physical Review E, 49(6), 5080–5090. </a:t>
            </a:r>
            <a:r>
              <a:rPr lang="en-GB" dirty="0">
                <a:hlinkClick r:id="rId5"/>
              </a:rPr>
              <a:t>https://doi.org/10.1103/PhysRevE.49.5080</a:t>
            </a:r>
            <a:endParaRPr lang="en-GB" dirty="0"/>
          </a:p>
          <a:p>
            <a:endParaRPr lang="en-GB" dirty="0"/>
          </a:p>
          <a:p>
            <a:endParaRPr lang="en-GB" dirty="0"/>
          </a:p>
          <a:p>
            <a:endParaRPr lang="en-GB" dirty="0"/>
          </a:p>
        </p:txBody>
      </p:sp>
      <p:sp>
        <p:nvSpPr>
          <p:cNvPr id="4" name="TextBox 3">
            <a:extLst>
              <a:ext uri="{FF2B5EF4-FFF2-40B4-BE49-F238E27FC236}">
                <a16:creationId xmlns:a16="http://schemas.microsoft.com/office/drawing/2014/main" id="{3D125846-2F18-AB85-D420-0B2BD777F9A5}"/>
              </a:ext>
            </a:extLst>
          </p:cNvPr>
          <p:cNvSpPr txBox="1"/>
          <p:nvPr/>
        </p:nvSpPr>
        <p:spPr>
          <a:xfrm>
            <a:off x="986971" y="5987143"/>
            <a:ext cx="4985657" cy="307777"/>
          </a:xfrm>
          <a:prstGeom prst="rect">
            <a:avLst/>
          </a:prstGeom>
          <a:noFill/>
        </p:spPr>
        <p:txBody>
          <a:bodyPr wrap="square" rtlCol="0">
            <a:spAutoFit/>
          </a:bodyPr>
          <a:lstStyle/>
          <a:p>
            <a:r>
              <a:rPr lang="en-GB" sz="1400" dirty="0"/>
              <a:t>AI was not used to create this presentation </a:t>
            </a:r>
          </a:p>
        </p:txBody>
      </p:sp>
    </p:spTree>
    <p:extLst>
      <p:ext uri="{BB962C8B-B14F-4D97-AF65-F5344CB8AC3E}">
        <p14:creationId xmlns:p14="http://schemas.microsoft.com/office/powerpoint/2010/main" val="207784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6AB56-7B69-6189-C07F-C8358A769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721E25-7182-B9BA-A82E-BB2606EA6C43}"/>
              </a:ext>
            </a:extLst>
          </p:cNvPr>
          <p:cNvSpPr>
            <a:spLocks noGrp="1"/>
          </p:cNvSpPr>
          <p:nvPr>
            <p:ph type="title"/>
          </p:nvPr>
        </p:nvSpPr>
        <p:spPr/>
        <p:txBody>
          <a:bodyPr/>
          <a:lstStyle/>
          <a:p>
            <a:r>
              <a:rPr lang="en-GB" dirty="0"/>
              <a:t>Any questions?</a:t>
            </a:r>
          </a:p>
        </p:txBody>
      </p:sp>
      <p:sp>
        <p:nvSpPr>
          <p:cNvPr id="3" name="Content Placeholder 2">
            <a:extLst>
              <a:ext uri="{FF2B5EF4-FFF2-40B4-BE49-F238E27FC236}">
                <a16:creationId xmlns:a16="http://schemas.microsoft.com/office/drawing/2014/main" id="{AC3102B0-77E5-3F21-25E8-A8E2FFFAECFE}"/>
              </a:ext>
            </a:extLst>
          </p:cNvPr>
          <p:cNvSpPr>
            <a:spLocks noGrp="1"/>
          </p:cNvSpPr>
          <p:nvPr>
            <p:ph idx="1"/>
          </p:nvPr>
        </p:nvSpPr>
        <p:spPr/>
        <p:txBody>
          <a:bodyPr/>
          <a:lstStyle/>
          <a:p>
            <a:endParaRPr lang="en-GB" dirty="0"/>
          </a:p>
          <a:p>
            <a:endParaRPr lang="en-GB" dirty="0"/>
          </a:p>
        </p:txBody>
      </p:sp>
    </p:spTree>
    <p:extLst>
      <p:ext uri="{BB962C8B-B14F-4D97-AF65-F5344CB8AC3E}">
        <p14:creationId xmlns:p14="http://schemas.microsoft.com/office/powerpoint/2010/main" val="125834134"/>
      </p:ext>
    </p:extLst>
  </p:cSld>
  <p:clrMapOvr>
    <a:masterClrMapping/>
  </p:clrMapOvr>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C1218A2C5EEA45AAECDD29DAA5B5E3" ma:contentTypeVersion="8" ma:contentTypeDescription="Create a new document." ma:contentTypeScope="" ma:versionID="1151cdb85dbe6c756cf3c4916e20cf7e">
  <xsd:schema xmlns:xsd="http://www.w3.org/2001/XMLSchema" xmlns:xs="http://www.w3.org/2001/XMLSchema" xmlns:p="http://schemas.microsoft.com/office/2006/metadata/properties" xmlns:ns3="82d6df7c-b5c2-4478-b8cb-f70372073ca9" xmlns:ns4="c2b18cb0-7a01-417b-84db-8516b6515258" targetNamespace="http://schemas.microsoft.com/office/2006/metadata/properties" ma:root="true" ma:fieldsID="8f467c07708a8cadb3abb5c130974274" ns3:_="" ns4:_="">
    <xsd:import namespace="82d6df7c-b5c2-4478-b8cb-f70372073ca9"/>
    <xsd:import namespace="c2b18cb0-7a01-417b-84db-8516b6515258"/>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d6df7c-b5c2-4478-b8cb-f70372073c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2b18cb0-7a01-417b-84db-8516b651525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2d6df7c-b5c2-4478-b8cb-f70372073ca9" xsi:nil="true"/>
  </documentManagement>
</p:properties>
</file>

<file path=customXml/itemProps1.xml><?xml version="1.0" encoding="utf-8"?>
<ds:datastoreItem xmlns:ds="http://schemas.openxmlformats.org/officeDocument/2006/customXml" ds:itemID="{70B4914B-7D51-4586-9417-1164FAAB40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d6df7c-b5c2-4478-b8cb-f70372073ca9"/>
    <ds:schemaRef ds:uri="c2b18cb0-7a01-417b-84db-8516b65152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79A4735-D538-4C7F-A355-5169A1286A81}">
  <ds:schemaRefs>
    <ds:schemaRef ds:uri="http://schemas.microsoft.com/sharepoint/v3/contenttype/forms"/>
  </ds:schemaRefs>
</ds:datastoreItem>
</file>

<file path=customXml/itemProps3.xml><?xml version="1.0" encoding="utf-8"?>
<ds:datastoreItem xmlns:ds="http://schemas.openxmlformats.org/officeDocument/2006/customXml" ds:itemID="{316CBF19-6E97-4079-B497-16003456ABB3}">
  <ds:schemaRefs>
    <ds:schemaRef ds:uri="http://purl.org/dc/terms/"/>
    <ds:schemaRef ds:uri="http://schemas.microsoft.com/office/2006/documentManagement/types"/>
    <ds:schemaRef ds:uri="http://purl.org/dc/elements/1.1/"/>
    <ds:schemaRef ds:uri="82d6df7c-b5c2-4478-b8cb-f70372073ca9"/>
    <ds:schemaRef ds:uri="c2b18cb0-7a01-417b-84db-8516b6515258"/>
    <ds:schemaRef ds:uri="http://purl.org/dc/dcmitype/"/>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Facet</Template>
  <TotalTime>2525</TotalTime>
  <Words>904</Words>
  <Application>Microsoft Office PowerPoint</Application>
  <PresentationFormat>Widescreen</PresentationFormat>
  <Paragraphs>106</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Cambria Math</vt:lpstr>
      <vt:lpstr>Trebuchet MS</vt:lpstr>
      <vt:lpstr>Wingdings 3</vt:lpstr>
      <vt:lpstr>Facet</vt:lpstr>
      <vt:lpstr>Simulating Nucleation in the Ising Model </vt:lpstr>
      <vt:lpstr>Introduction and motivation</vt:lpstr>
      <vt:lpstr>What is nucleation?</vt:lpstr>
      <vt:lpstr>Ising Model</vt:lpstr>
      <vt:lpstr>How do we use this to model nucleation rates? </vt:lpstr>
      <vt:lpstr>What should we expect to see? </vt:lpstr>
      <vt:lpstr>What should we expect to see? </vt:lpstr>
      <vt:lpstr>My current data</vt:lpstr>
      <vt:lpstr>Conclusions</vt:lpstr>
      <vt:lpstr>References</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COOK, CHARLIE J. (Student)</dc:creator>
  <cp:lastModifiedBy>COOK, CHARLIE J. (Student)</cp:lastModifiedBy>
  <cp:revision>8</cp:revision>
  <dcterms:created xsi:type="dcterms:W3CDTF">2026-02-07T15:17:01Z</dcterms:created>
  <dcterms:modified xsi:type="dcterms:W3CDTF">2026-02-09T09:22:07Z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0x010100D4C1218A2C5EEA45AAECDD29DAA5B5E3</vt:lpwstr>
  </property>
</Properties>
</file>